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B19C3-E73D-7CE1-C7F7-66C8EBEE3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477A6D-C49B-0450-1973-E16FC7122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B86C7-03FA-7758-3A7E-168549D5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1A230F-C804-AEC3-4C53-09ADD69D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F23AD-5A63-93D3-43F0-88EDCE51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542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F1AA1-BAD2-71E5-1A51-EAB2D43D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E4480-4995-92D5-A78B-DE04D392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11E852-219B-EA87-1E86-F741A549F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27B50-B5BD-0136-9416-5757E52C8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2CE92-6731-AC20-B92B-D73B57A6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51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44F39-3924-A8D7-125A-7394734C7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A90FD0-5EED-8A7D-6E09-A8C45935D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19EE5-9C18-2596-840E-45B9A274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0E1953-939D-26C4-0BF1-83E8B7EC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F060D2-0C5E-B3DA-0DFC-B6AD45E5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80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3E163-1457-6484-C7D5-3C78F6C9B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952CF2-8860-6D48-E95F-496DF8A8C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1AF88F-E7E3-6B3A-0898-365A9B64C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D7B72E-06EA-40C7-1661-7D3E4E5D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2E0385-D28E-A887-98EC-4EE4EC522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1D07B7-5BD5-740D-F7AF-3B7179A5D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20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2EAC44-1CBD-B088-913D-0FC463AF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96D239-2788-61BF-D367-EB659D6D6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D9D2A4-4494-FC4A-F4C8-23EDA11F7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66BD46-E610-00AD-F88E-41DBD285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6F694D-AE42-F9F3-5975-18C306495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B8AF5E-3143-A376-B248-B36A9402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80B1C5-29A6-A10E-0631-47EC9AEB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104F67-3BAF-B394-6E38-DFB0D081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79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B6FFE-16A0-CDB9-400B-29BBC5FF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BCC9FC-FA1E-DE3B-CE53-1148FB9A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824165-BF8D-75CE-7C24-C36891A8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08588D-CBEC-E88C-AF79-CA2EA148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18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ED2AC2-55BC-B44B-A2FF-8FE1A46E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0EDCC8-5FAE-E13D-3E72-71172603B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B54AE-2CB1-452B-FD62-25F7FF3FA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747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96E2E-115C-D130-B54C-2C48E92A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8A3836-ED84-6815-4EF8-35F60BF94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9E67C6-D01D-8B15-2D86-EB9E92EB0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D77C7-109A-2901-FBE6-C9B4C448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4C88B8-63A7-6423-F529-86CE2D94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9D196-DA59-7551-73C9-C9292C51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89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539DE-77A9-FC5B-661A-26EB46DC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BEEC09-7E2D-4313-8B1C-E4837B2F2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6F2EDC-8A2D-587B-8691-35BF6EBDB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474DFF-7A4F-5CE6-69E3-F71FB46B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5022C0-21E8-56FD-97B1-4EA4DE8A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C34531-3CEC-B95F-30D0-1C909E41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8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DC947-AAFD-6B00-895F-F25968BB1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CF9C12-FC71-4CAD-2D35-4C7371A97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D18360-311E-CBC4-2006-7AAFA83E5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475CB-4173-5F96-DE7A-594C2CD1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8ACA3-7E37-02D2-1EA0-390AAFDB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57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FBD786-AF4A-2D45-2A78-2227EBCBD0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0C4FDD-B72B-921C-BEB2-23FE2BC6C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E4C58-D4AC-B805-BDC7-4736569B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DD5FBF-68F7-5C8C-8C9D-0A79A7AA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805011-5E40-16D1-8B5F-2584ED08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B00D19-3FFB-973F-AB43-21D906C3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D438A3-12A4-1676-C37A-820367D7F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4AF2A-4E0C-6DD9-3844-01B264343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24887-B527-4C7E-BF14-32B191F95F8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1167CF-0EF4-852E-90A0-60289FE83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BDA85C-FF0D-B0A5-AD34-85E1727C0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EF971-A0B4-4565-9041-7213BC92B3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03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8892FE-A3B5-3457-8554-3B4F855DF2EB}"/>
              </a:ext>
            </a:extLst>
          </p:cNvPr>
          <p:cNvSpPr txBox="1"/>
          <p:nvPr/>
        </p:nvSpPr>
        <p:spPr>
          <a:xfrm>
            <a:off x="127819" y="285136"/>
            <a:ext cx="267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통합 상황판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487D02-FF63-AC5D-C428-AAF6581C1B4D}"/>
              </a:ext>
            </a:extLst>
          </p:cNvPr>
          <p:cNvSpPr/>
          <p:nvPr/>
        </p:nvSpPr>
        <p:spPr>
          <a:xfrm>
            <a:off x="127819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가용자금 합계 카드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443C555-8EC2-FAC2-7422-B2F9553627B2}"/>
              </a:ext>
            </a:extLst>
          </p:cNvPr>
          <p:cNvSpPr/>
          <p:nvPr/>
        </p:nvSpPr>
        <p:spPr>
          <a:xfrm>
            <a:off x="2979174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DB9FE07-3F0C-7D3D-B9DD-BF0EDBA517BB}"/>
              </a:ext>
            </a:extLst>
          </p:cNvPr>
          <p:cNvSpPr/>
          <p:nvPr/>
        </p:nvSpPr>
        <p:spPr>
          <a:xfrm>
            <a:off x="5830529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221985F-E09A-0E3C-75B4-09AA890680B0}"/>
              </a:ext>
            </a:extLst>
          </p:cNvPr>
          <p:cNvSpPr/>
          <p:nvPr/>
        </p:nvSpPr>
        <p:spPr>
          <a:xfrm>
            <a:off x="127819" y="1734769"/>
            <a:ext cx="8377084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자금 흐름 </a:t>
            </a:r>
            <a:r>
              <a:rPr lang="en-US" altLang="ko-KR" dirty="0"/>
              <a:t>/ </a:t>
            </a:r>
            <a:r>
              <a:rPr lang="ko-KR" altLang="en-US" dirty="0"/>
              <a:t>자산구성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2A35024-D7B3-6232-3C27-84ED4BE59D08}"/>
              </a:ext>
            </a:extLst>
          </p:cNvPr>
          <p:cNvSpPr/>
          <p:nvPr/>
        </p:nvSpPr>
        <p:spPr>
          <a:xfrm>
            <a:off x="127819" y="4143672"/>
            <a:ext cx="4139381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현금흐름 추이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9563AD8-8E6D-4828-B2D8-C4BF077FBC1C}"/>
              </a:ext>
            </a:extLst>
          </p:cNvPr>
          <p:cNvSpPr/>
          <p:nvPr/>
        </p:nvSpPr>
        <p:spPr>
          <a:xfrm>
            <a:off x="4365523" y="4143671"/>
            <a:ext cx="4139380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지분</a:t>
            </a:r>
            <a:r>
              <a:rPr lang="en-US" altLang="ko-KR" dirty="0"/>
              <a:t>/</a:t>
            </a:r>
            <a:r>
              <a:rPr lang="ko-KR" altLang="en-US" dirty="0"/>
              <a:t>장기투자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1A88724-16E6-A75F-ED43-AA6CD792776E}"/>
              </a:ext>
            </a:extLst>
          </p:cNvPr>
          <p:cNvSpPr/>
          <p:nvPr/>
        </p:nvSpPr>
        <p:spPr>
          <a:xfrm>
            <a:off x="8681884" y="806245"/>
            <a:ext cx="3382297" cy="15534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이슈 확인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B05AFC9-F7BF-70E9-A226-DE0DBA8AD477}"/>
              </a:ext>
            </a:extLst>
          </p:cNvPr>
          <p:cNvSpPr/>
          <p:nvPr/>
        </p:nvSpPr>
        <p:spPr>
          <a:xfrm>
            <a:off x="8681884" y="2438400"/>
            <a:ext cx="3382297" cy="117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운전자금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12FE6E-2296-0FB5-320B-F8145229A8C1}"/>
              </a:ext>
            </a:extLst>
          </p:cNvPr>
          <p:cNvSpPr/>
          <p:nvPr/>
        </p:nvSpPr>
        <p:spPr>
          <a:xfrm>
            <a:off x="8681884" y="3718737"/>
            <a:ext cx="3382297" cy="12465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운용자금 상세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963382B-E2CD-7037-97AF-6AA81AFD30AE}"/>
              </a:ext>
            </a:extLst>
          </p:cNvPr>
          <p:cNvSpPr/>
          <p:nvPr/>
        </p:nvSpPr>
        <p:spPr>
          <a:xfrm>
            <a:off x="8681884" y="5124750"/>
            <a:ext cx="3382297" cy="11700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차입금 상세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36B072-4FA4-357E-F44F-434CD7AC1F97}"/>
              </a:ext>
            </a:extLst>
          </p:cNvPr>
          <p:cNvSpPr txBox="1"/>
          <p:nvPr/>
        </p:nvSpPr>
        <p:spPr>
          <a:xfrm>
            <a:off x="9094839" y="379201"/>
            <a:ext cx="2182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yyyy</a:t>
            </a:r>
            <a:r>
              <a:rPr lang="en-US" altLang="ko-KR" sz="1600" b="1" dirty="0"/>
              <a:t>-mm-dd </a:t>
            </a:r>
            <a:r>
              <a:rPr lang="ko-KR" altLang="en-US" sz="1600" b="1" dirty="0"/>
              <a:t>기준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D868B2-5F80-21C3-C01F-EEDC91639D7F}"/>
              </a:ext>
            </a:extLst>
          </p:cNvPr>
          <p:cNvSpPr/>
          <p:nvPr/>
        </p:nvSpPr>
        <p:spPr>
          <a:xfrm>
            <a:off x="11061291" y="362890"/>
            <a:ext cx="1002890" cy="356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새로고침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47929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12364-C262-A405-74A2-B42BA4B57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600239-8919-7251-6912-A313837482DF}"/>
              </a:ext>
            </a:extLst>
          </p:cNvPr>
          <p:cNvSpPr txBox="1"/>
          <p:nvPr/>
        </p:nvSpPr>
        <p:spPr>
          <a:xfrm>
            <a:off x="127819" y="285136"/>
            <a:ext cx="267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TREASURY Dashboard</a:t>
            </a:r>
            <a:endParaRPr lang="ko-KR" altLang="en-US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35A204F2-FD05-9963-DBCF-694529058ECC}"/>
              </a:ext>
            </a:extLst>
          </p:cNvPr>
          <p:cNvSpPr/>
          <p:nvPr/>
        </p:nvSpPr>
        <p:spPr>
          <a:xfrm>
            <a:off x="127819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가용자금 합계 카드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466B645-6DA8-9D92-B05E-B528A88E9519}"/>
              </a:ext>
            </a:extLst>
          </p:cNvPr>
          <p:cNvSpPr/>
          <p:nvPr/>
        </p:nvSpPr>
        <p:spPr>
          <a:xfrm>
            <a:off x="2979174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93FCB0C-071A-6208-64DB-ECFE07AF277E}"/>
              </a:ext>
            </a:extLst>
          </p:cNvPr>
          <p:cNvSpPr/>
          <p:nvPr/>
        </p:nvSpPr>
        <p:spPr>
          <a:xfrm>
            <a:off x="5830529" y="806245"/>
            <a:ext cx="2674374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747E026-1F1F-0368-94CA-722E1CC60E0C}"/>
              </a:ext>
            </a:extLst>
          </p:cNvPr>
          <p:cNvSpPr/>
          <p:nvPr/>
        </p:nvSpPr>
        <p:spPr>
          <a:xfrm>
            <a:off x="127819" y="1734769"/>
            <a:ext cx="8377084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자금 흐름 </a:t>
            </a:r>
            <a:r>
              <a:rPr lang="en-US" altLang="ko-KR" dirty="0"/>
              <a:t>/ </a:t>
            </a:r>
            <a:r>
              <a:rPr lang="ko-KR" altLang="en-US" dirty="0"/>
              <a:t>자산구성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FD8E82C-ACC7-B217-6DF6-4147CB833DAB}"/>
              </a:ext>
            </a:extLst>
          </p:cNvPr>
          <p:cNvSpPr/>
          <p:nvPr/>
        </p:nvSpPr>
        <p:spPr>
          <a:xfrm>
            <a:off x="127819" y="4143672"/>
            <a:ext cx="4139381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현금흐름 추이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819AE5D-0EC0-CD45-6361-CF055DD7FED8}"/>
              </a:ext>
            </a:extLst>
          </p:cNvPr>
          <p:cNvSpPr/>
          <p:nvPr/>
        </p:nvSpPr>
        <p:spPr>
          <a:xfrm>
            <a:off x="4365523" y="4143671"/>
            <a:ext cx="4139380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지분</a:t>
            </a:r>
            <a:r>
              <a:rPr lang="en-US" altLang="ko-KR" dirty="0"/>
              <a:t>/</a:t>
            </a:r>
            <a:r>
              <a:rPr lang="ko-KR" altLang="en-US" dirty="0"/>
              <a:t>장기투자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533D24-70DC-782F-DEE5-2356EC20D17B}"/>
              </a:ext>
            </a:extLst>
          </p:cNvPr>
          <p:cNvSpPr/>
          <p:nvPr/>
        </p:nvSpPr>
        <p:spPr>
          <a:xfrm>
            <a:off x="8681884" y="806245"/>
            <a:ext cx="3382297" cy="15534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이슈 확인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45B03C0-E055-8775-D889-3623C03E1949}"/>
              </a:ext>
            </a:extLst>
          </p:cNvPr>
          <p:cNvSpPr/>
          <p:nvPr/>
        </p:nvSpPr>
        <p:spPr>
          <a:xfrm>
            <a:off x="8681884" y="2438400"/>
            <a:ext cx="3382297" cy="1170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운전자금 상세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59D8F4C-0B8A-C901-F752-914EB94E624F}"/>
              </a:ext>
            </a:extLst>
          </p:cNvPr>
          <p:cNvSpPr/>
          <p:nvPr/>
        </p:nvSpPr>
        <p:spPr>
          <a:xfrm>
            <a:off x="8681884" y="3718737"/>
            <a:ext cx="3382297" cy="12465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운용자금 상세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5EBE9FE-9102-84BE-9658-7A5451EE1891}"/>
              </a:ext>
            </a:extLst>
          </p:cNvPr>
          <p:cNvSpPr/>
          <p:nvPr/>
        </p:nvSpPr>
        <p:spPr>
          <a:xfrm>
            <a:off x="8681884" y="5124750"/>
            <a:ext cx="3382297" cy="11700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차입금 상세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6EDCD-266F-7D48-8536-015C81F4ECA5}"/>
              </a:ext>
            </a:extLst>
          </p:cNvPr>
          <p:cNvSpPr txBox="1"/>
          <p:nvPr/>
        </p:nvSpPr>
        <p:spPr>
          <a:xfrm>
            <a:off x="9094839" y="379201"/>
            <a:ext cx="2182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/>
              <a:t>yyyy</a:t>
            </a:r>
            <a:r>
              <a:rPr lang="en-US" altLang="ko-KR" sz="1600" b="1" dirty="0"/>
              <a:t>-mm-dd </a:t>
            </a:r>
            <a:r>
              <a:rPr lang="ko-KR" altLang="en-US" sz="1600" b="1" dirty="0"/>
              <a:t>기준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A434191-4F89-5577-D4FD-5791CB51E547}"/>
              </a:ext>
            </a:extLst>
          </p:cNvPr>
          <p:cNvSpPr/>
          <p:nvPr/>
        </p:nvSpPr>
        <p:spPr>
          <a:xfrm>
            <a:off x="11061291" y="362890"/>
            <a:ext cx="1002890" cy="356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새로고침</a:t>
            </a:r>
            <a:endParaRPr lang="ko-KR" altLang="en-US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AAFCAA-1662-B04D-7F78-8C898B3EEF70}"/>
              </a:ext>
            </a:extLst>
          </p:cNvPr>
          <p:cNvSpPr/>
          <p:nvPr/>
        </p:nvSpPr>
        <p:spPr>
          <a:xfrm>
            <a:off x="9094840" y="362890"/>
            <a:ext cx="2969342" cy="3330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577559F-4860-DC57-BD8E-79EBF681F662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8504903" y="529419"/>
            <a:ext cx="58993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9E1FF1B-9375-15D7-573E-E8234705EEF0}"/>
              </a:ext>
            </a:extLst>
          </p:cNvPr>
          <p:cNvSpPr/>
          <p:nvPr/>
        </p:nvSpPr>
        <p:spPr>
          <a:xfrm>
            <a:off x="8603226" y="790428"/>
            <a:ext cx="3549445" cy="5636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626892-2E46-9EC2-5E57-99BB09F93FD8}"/>
              </a:ext>
            </a:extLst>
          </p:cNvPr>
          <p:cNvSpPr/>
          <p:nvPr/>
        </p:nvSpPr>
        <p:spPr>
          <a:xfrm>
            <a:off x="127819" y="1734769"/>
            <a:ext cx="5407742" cy="22571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6EC766-73B3-B290-6107-854FAAD4CBB3}"/>
              </a:ext>
            </a:extLst>
          </p:cNvPr>
          <p:cNvSpPr/>
          <p:nvPr/>
        </p:nvSpPr>
        <p:spPr>
          <a:xfrm>
            <a:off x="5594555" y="1734768"/>
            <a:ext cx="2890684" cy="2257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7006669-5311-4BF2-91F4-F8F8D2137D09}"/>
              </a:ext>
            </a:extLst>
          </p:cNvPr>
          <p:cNvSpPr/>
          <p:nvPr/>
        </p:nvSpPr>
        <p:spPr>
          <a:xfrm>
            <a:off x="8868697" y="98323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705B168-11F9-8913-B2FA-73F76F470311}"/>
              </a:ext>
            </a:extLst>
          </p:cNvPr>
          <p:cNvSpPr/>
          <p:nvPr/>
        </p:nvSpPr>
        <p:spPr>
          <a:xfrm>
            <a:off x="0" y="1582993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6F2206C2-4A0E-E981-6F29-665A1575A1B3}"/>
              </a:ext>
            </a:extLst>
          </p:cNvPr>
          <p:cNvSpPr/>
          <p:nvPr/>
        </p:nvSpPr>
        <p:spPr>
          <a:xfrm>
            <a:off x="8396748" y="688880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688BF7B1-6082-2F58-8DFB-35587A5E7B22}"/>
              </a:ext>
            </a:extLst>
          </p:cNvPr>
          <p:cNvSpPr/>
          <p:nvPr/>
        </p:nvSpPr>
        <p:spPr>
          <a:xfrm>
            <a:off x="2689122" y="233744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79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B156-2FDA-1A0A-6B81-E2A205FA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7AF2BC3A-B31D-5FB4-5DB7-DC20549B90CC}"/>
              </a:ext>
            </a:extLst>
          </p:cNvPr>
          <p:cNvSpPr/>
          <p:nvPr/>
        </p:nvSpPr>
        <p:spPr>
          <a:xfrm>
            <a:off x="226142" y="816077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18293CC-13E5-2593-FB43-E348C0A0B9D9}"/>
              </a:ext>
            </a:extLst>
          </p:cNvPr>
          <p:cNvSpPr/>
          <p:nvPr/>
        </p:nvSpPr>
        <p:spPr>
          <a:xfrm>
            <a:off x="226142" y="2359741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8F9BA90-CACE-72F8-5CAC-C9A46656AF00}"/>
              </a:ext>
            </a:extLst>
          </p:cNvPr>
          <p:cNvSpPr/>
          <p:nvPr/>
        </p:nvSpPr>
        <p:spPr>
          <a:xfrm>
            <a:off x="226142" y="3896716"/>
            <a:ext cx="452284" cy="44691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6DF37B-C322-712C-817F-B5046DD18744}"/>
              </a:ext>
            </a:extLst>
          </p:cNvPr>
          <p:cNvSpPr txBox="1"/>
          <p:nvPr/>
        </p:nvSpPr>
        <p:spPr>
          <a:xfrm>
            <a:off x="884903" y="698090"/>
            <a:ext cx="10766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날짜 및 </a:t>
            </a:r>
            <a:r>
              <a:rPr lang="ko-KR" altLang="en-US" dirty="0" err="1"/>
              <a:t>새로고침</a:t>
            </a:r>
            <a:r>
              <a:rPr lang="ko-KR" altLang="en-US" dirty="0"/>
              <a:t> 카드 왼쪽으로 이동</a:t>
            </a:r>
            <a:endParaRPr lang="en-US" altLang="ko-KR" dirty="0"/>
          </a:p>
          <a:p>
            <a:r>
              <a:rPr lang="ko-KR" altLang="en-US" dirty="0"/>
              <a:t>오른쪽 </a:t>
            </a:r>
            <a:r>
              <a:rPr lang="en-US" altLang="ko-KR" dirty="0"/>
              <a:t>4</a:t>
            </a:r>
            <a:r>
              <a:rPr lang="ko-KR" altLang="en-US" dirty="0"/>
              <a:t>개 카드 표시 방법을 변경예정</a:t>
            </a:r>
            <a:r>
              <a:rPr lang="en-US" altLang="ko-KR" dirty="0"/>
              <a:t>. </a:t>
            </a:r>
            <a:r>
              <a:rPr lang="ko-KR" altLang="en-US" dirty="0"/>
              <a:t>따라서 불가용 자산 카드의 오른쪽 가장자리가 페이지의 오른쪽 </a:t>
            </a:r>
            <a:r>
              <a:rPr lang="ko-KR" altLang="en-US" dirty="0" err="1"/>
              <a:t>끝선</a:t>
            </a:r>
            <a:r>
              <a:rPr lang="en-US" altLang="ko-KR" dirty="0"/>
              <a:t>, </a:t>
            </a:r>
            <a:r>
              <a:rPr lang="ko-KR" altLang="en-US" dirty="0"/>
              <a:t>통합상황판 → </a:t>
            </a:r>
            <a:r>
              <a:rPr lang="en-US" altLang="ko-KR" dirty="0"/>
              <a:t>TREASURY Dashboard </a:t>
            </a:r>
            <a:r>
              <a:rPr lang="ko-KR" altLang="en-US" dirty="0"/>
              <a:t>로 네이밍 변경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ACC89-03C7-07C6-F2BF-B986DAE7C5C0}"/>
              </a:ext>
            </a:extLst>
          </p:cNvPr>
          <p:cNvSpPr txBox="1"/>
          <p:nvPr/>
        </p:nvSpPr>
        <p:spPr>
          <a:xfrm>
            <a:off x="884902" y="2344990"/>
            <a:ext cx="10766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자금흐름</a:t>
            </a:r>
            <a:r>
              <a:rPr lang="en-US" altLang="ko-KR" dirty="0"/>
              <a:t>/</a:t>
            </a:r>
            <a:r>
              <a:rPr lang="ko-KR" altLang="en-US" dirty="0"/>
              <a:t>자산 구성 카드가 한 카드에 합쳐져 있는데</a:t>
            </a:r>
            <a:r>
              <a:rPr lang="en-US" altLang="ko-KR" dirty="0"/>
              <a:t> </a:t>
            </a:r>
            <a:r>
              <a:rPr lang="ko-KR" altLang="en-US" dirty="0"/>
              <a:t>분리하되</a:t>
            </a:r>
            <a:r>
              <a:rPr lang="en-US" altLang="ko-KR" dirty="0"/>
              <a:t>, </a:t>
            </a:r>
            <a:r>
              <a:rPr lang="ko-KR" altLang="en-US" dirty="0"/>
              <a:t>현재의 배치 폭은 유지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자금흐름 카드에 운전자금</a:t>
            </a:r>
            <a:r>
              <a:rPr lang="en-US" altLang="ko-KR" dirty="0"/>
              <a:t>, </a:t>
            </a:r>
            <a:r>
              <a:rPr lang="ko-KR" altLang="en-US" dirty="0"/>
              <a:t>가용 운용</a:t>
            </a:r>
            <a:r>
              <a:rPr lang="en-US" altLang="ko-KR" dirty="0"/>
              <a:t>, </a:t>
            </a:r>
            <a:r>
              <a:rPr lang="ko-KR" altLang="en-US" dirty="0" err="1"/>
              <a:t>외화환산</a:t>
            </a:r>
            <a:r>
              <a:rPr lang="en-US" altLang="ko-KR" dirty="0"/>
              <a:t>, </a:t>
            </a:r>
            <a:r>
              <a:rPr lang="ko-KR" altLang="en-US" dirty="0"/>
              <a:t>차입금</a:t>
            </a:r>
            <a:r>
              <a:rPr lang="en-US" altLang="ko-KR" dirty="0"/>
              <a:t>, </a:t>
            </a:r>
            <a:r>
              <a:rPr lang="ko-KR" altLang="en-US" dirty="0" err="1"/>
              <a:t>순현금</a:t>
            </a:r>
            <a:r>
              <a:rPr lang="en-US" altLang="ko-KR" dirty="0"/>
              <a:t>, </a:t>
            </a:r>
            <a:r>
              <a:rPr lang="ko-KR" altLang="en-US" dirty="0"/>
              <a:t>불가용 정보가 그래프로 나타나 있는데</a:t>
            </a:r>
            <a:r>
              <a:rPr lang="en-US" altLang="ko-KR" dirty="0"/>
              <a:t>, </a:t>
            </a:r>
            <a:r>
              <a:rPr lang="ko-KR" altLang="en-US" dirty="0"/>
              <a:t>각각의 이름 </a:t>
            </a:r>
            <a:r>
              <a:rPr lang="en-US" altLang="ko-KR" dirty="0"/>
              <a:t>or </a:t>
            </a:r>
            <a:r>
              <a:rPr lang="ko-KR" altLang="en-US" dirty="0"/>
              <a:t>그래프 </a:t>
            </a:r>
            <a:r>
              <a:rPr lang="ko-KR" altLang="en-US" dirty="0" err="1"/>
              <a:t>클릭시</a:t>
            </a:r>
            <a:r>
              <a:rPr lang="ko-KR" altLang="en-US" dirty="0"/>
              <a:t> 해당 상세 내용이 팝업 형태로</a:t>
            </a:r>
            <a:r>
              <a:rPr lang="en-US" altLang="ko-KR" dirty="0"/>
              <a:t>(</a:t>
            </a:r>
            <a:r>
              <a:rPr lang="ko-KR" altLang="en-US" dirty="0"/>
              <a:t>새로운 창은 아님</a:t>
            </a:r>
            <a:r>
              <a:rPr lang="en-US" altLang="ko-KR" dirty="0"/>
              <a:t>) </a:t>
            </a:r>
            <a:r>
              <a:rPr lang="ko-KR" altLang="en-US" dirty="0"/>
              <a:t>나오도록 변경개발</a:t>
            </a:r>
            <a:r>
              <a:rPr lang="en-US" altLang="ko-KR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9D3A9D-011F-2F2B-C652-C4B941A77793}"/>
              </a:ext>
            </a:extLst>
          </p:cNvPr>
          <p:cNvSpPr txBox="1"/>
          <p:nvPr/>
        </p:nvSpPr>
        <p:spPr>
          <a:xfrm>
            <a:off x="792480" y="3825596"/>
            <a:ext cx="110455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결국 원래 오른쪽에 있었던 운전자금 상세</a:t>
            </a:r>
            <a:r>
              <a:rPr lang="en-US" altLang="ko-KR" dirty="0"/>
              <a:t>, </a:t>
            </a:r>
            <a:r>
              <a:rPr lang="ko-KR" altLang="en-US" dirty="0"/>
              <a:t>운용자금 상세</a:t>
            </a:r>
            <a:r>
              <a:rPr lang="en-US" altLang="ko-KR" dirty="0"/>
              <a:t>, </a:t>
            </a:r>
            <a:r>
              <a:rPr lang="ko-KR" altLang="en-US" dirty="0"/>
              <a:t>차입금 상세 카드가 팝업형태로 나오게 되는 것이고 기존에 없었던 가용 운용</a:t>
            </a:r>
            <a:r>
              <a:rPr lang="en-US" altLang="ko-KR" dirty="0"/>
              <a:t>, </a:t>
            </a:r>
            <a:r>
              <a:rPr lang="ko-KR" altLang="en-US" dirty="0"/>
              <a:t>외화</a:t>
            </a:r>
            <a:r>
              <a:rPr lang="en-US" altLang="ko-KR" dirty="0"/>
              <a:t>, </a:t>
            </a:r>
            <a:r>
              <a:rPr lang="ko-KR" altLang="en-US" dirty="0" err="1"/>
              <a:t>순현금</a:t>
            </a:r>
            <a:r>
              <a:rPr lang="en-US" altLang="ko-KR" dirty="0"/>
              <a:t>,</a:t>
            </a:r>
            <a:r>
              <a:rPr lang="ko-KR" altLang="en-US" dirty="0"/>
              <a:t> 불가용의 상세내용은 별도로 개발 필요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이슈확인 카드는 </a:t>
            </a:r>
            <a:r>
              <a:rPr lang="en-US" altLang="ko-KR" dirty="0"/>
              <a:t>TREASURY Dashboard </a:t>
            </a:r>
            <a:r>
              <a:rPr lang="ko-KR" altLang="en-US" dirty="0"/>
              <a:t>와 날짜</a:t>
            </a:r>
            <a:r>
              <a:rPr lang="en-US" altLang="ko-KR" dirty="0"/>
              <a:t>,</a:t>
            </a:r>
            <a:r>
              <a:rPr lang="ko-KR" altLang="en-US" dirty="0" err="1"/>
              <a:t>새로고침</a:t>
            </a:r>
            <a:r>
              <a:rPr lang="ko-KR" altLang="en-US" dirty="0"/>
              <a:t> 사이 배치하되</a:t>
            </a:r>
            <a:r>
              <a:rPr lang="en-US" altLang="ko-KR" dirty="0"/>
              <a:t>, </a:t>
            </a:r>
            <a:r>
              <a:rPr lang="ko-KR" altLang="en-US" dirty="0"/>
              <a:t>각 이슈에 대해 전광판 형태로 우에서 좌로 흘러가며 이슈가 보이도록 셋팅</a:t>
            </a:r>
            <a:r>
              <a:rPr lang="en-US" altLang="ko-KR" dirty="0"/>
              <a:t>. UI</a:t>
            </a:r>
            <a:r>
              <a:rPr lang="ko-KR" altLang="en-US" dirty="0"/>
              <a:t>적으로 어떻게 효과적으로 구현할지는 몇가지 안을 제시</a:t>
            </a:r>
          </a:p>
          <a:p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34A852-0805-2A03-0544-1409925152B8}"/>
              </a:ext>
            </a:extLst>
          </p:cNvPr>
          <p:cNvSpPr txBox="1"/>
          <p:nvPr/>
        </p:nvSpPr>
        <p:spPr>
          <a:xfrm>
            <a:off x="452284" y="5271848"/>
            <a:ext cx="11045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Dashboard </a:t>
            </a:r>
            <a:r>
              <a:rPr lang="ko-KR" altLang="en-US" dirty="0"/>
              <a:t>화면상 핵심 정보만 우선 보여주고</a:t>
            </a:r>
            <a:r>
              <a:rPr lang="en-US" altLang="ko-KR" dirty="0"/>
              <a:t>, </a:t>
            </a:r>
            <a:r>
              <a:rPr lang="ko-KR" altLang="en-US" dirty="0"/>
              <a:t>상세내용은 각각의 정보 컬럼 </a:t>
            </a:r>
            <a:r>
              <a:rPr lang="ko-KR" altLang="en-US" dirty="0" err="1"/>
              <a:t>클릭시</a:t>
            </a:r>
            <a:r>
              <a:rPr lang="ko-KR" altLang="en-US" dirty="0"/>
              <a:t> 볼 수 있도록 변경하는 취지</a:t>
            </a:r>
            <a:r>
              <a:rPr lang="en-US" altLang="ko-KR" dirty="0"/>
              <a:t>. </a:t>
            </a:r>
            <a:r>
              <a:rPr lang="ko-KR" altLang="en-US" dirty="0"/>
              <a:t>각각의 카드가 현재 기준으로는 넓은데</a:t>
            </a:r>
            <a:r>
              <a:rPr lang="en-US" altLang="ko-KR" dirty="0"/>
              <a:t>, </a:t>
            </a:r>
            <a:r>
              <a:rPr lang="ko-KR" altLang="en-US" dirty="0"/>
              <a:t>향후 자금정책 카드</a:t>
            </a:r>
            <a:r>
              <a:rPr lang="en-US" altLang="ko-KR" dirty="0"/>
              <a:t> </a:t>
            </a:r>
            <a:r>
              <a:rPr lang="ko-KR" altLang="en-US" dirty="0"/>
              <a:t>등 개발에 따라 카드를 추가하여 조정해갈 예정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1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F139B-FE96-85A8-3D17-47D00268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5487FC0-B3CA-8A11-E2D0-0CAB4E346EAA}"/>
              </a:ext>
            </a:extLst>
          </p:cNvPr>
          <p:cNvSpPr txBox="1"/>
          <p:nvPr/>
        </p:nvSpPr>
        <p:spPr>
          <a:xfrm>
            <a:off x="373622" y="406340"/>
            <a:ext cx="349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TREASURY Dashboard</a:t>
            </a:r>
            <a:endParaRPr lang="ko-KR" altLang="en-US" sz="2400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33CA995-99E0-D868-A1EC-147568DBD6AA}"/>
              </a:ext>
            </a:extLst>
          </p:cNvPr>
          <p:cNvSpPr/>
          <p:nvPr/>
        </p:nvSpPr>
        <p:spPr>
          <a:xfrm>
            <a:off x="491612" y="943893"/>
            <a:ext cx="3618272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가용자금 합계 카드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0345860-2CA1-2BB9-FB6F-53454082DBD4}"/>
              </a:ext>
            </a:extLst>
          </p:cNvPr>
          <p:cNvSpPr/>
          <p:nvPr/>
        </p:nvSpPr>
        <p:spPr>
          <a:xfrm>
            <a:off x="4227872" y="943893"/>
            <a:ext cx="3618272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7906B5D-3BFE-AA95-16E1-B85481975756}"/>
              </a:ext>
            </a:extLst>
          </p:cNvPr>
          <p:cNvSpPr/>
          <p:nvPr/>
        </p:nvSpPr>
        <p:spPr>
          <a:xfrm>
            <a:off x="7964132" y="952955"/>
            <a:ext cx="3854246" cy="776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순현금</a:t>
            </a:r>
            <a:r>
              <a:rPr lang="ko-KR" altLang="en-US" dirty="0"/>
              <a:t> 포지션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4CB611B-FC9B-63B5-51BB-A7737999E60A}"/>
              </a:ext>
            </a:extLst>
          </p:cNvPr>
          <p:cNvSpPr/>
          <p:nvPr/>
        </p:nvSpPr>
        <p:spPr>
          <a:xfrm>
            <a:off x="8023130" y="1876947"/>
            <a:ext cx="3795248" cy="22480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자산구성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B26576-4974-95CC-7AF2-A6BCA70306DB}"/>
              </a:ext>
            </a:extLst>
          </p:cNvPr>
          <p:cNvSpPr/>
          <p:nvPr/>
        </p:nvSpPr>
        <p:spPr>
          <a:xfrm>
            <a:off x="521110" y="4281318"/>
            <a:ext cx="5574890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현금흐름 추이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1E440A-2C81-FBB0-D47D-0CD8B42878AF}"/>
              </a:ext>
            </a:extLst>
          </p:cNvPr>
          <p:cNvSpPr/>
          <p:nvPr/>
        </p:nvSpPr>
        <p:spPr>
          <a:xfrm>
            <a:off x="6243489" y="4281320"/>
            <a:ext cx="5574890" cy="2257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지분</a:t>
            </a:r>
            <a:r>
              <a:rPr lang="en-US" altLang="ko-KR" dirty="0"/>
              <a:t>/</a:t>
            </a:r>
            <a:r>
              <a:rPr lang="ko-KR" altLang="en-US" dirty="0"/>
              <a:t>장기투자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155B0A-F902-B42A-AA7D-AEF4199CA6BA}"/>
              </a:ext>
            </a:extLst>
          </p:cNvPr>
          <p:cNvSpPr txBox="1"/>
          <p:nvPr/>
        </p:nvSpPr>
        <p:spPr>
          <a:xfrm>
            <a:off x="9699527" y="591006"/>
            <a:ext cx="1484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/>
              <a:t>yyyy</a:t>
            </a:r>
            <a:r>
              <a:rPr lang="en-US" altLang="ko-KR" sz="1200" b="1" dirty="0"/>
              <a:t>-mm-dd </a:t>
            </a:r>
            <a:r>
              <a:rPr lang="ko-KR" altLang="en-US" sz="1200" b="1" dirty="0"/>
              <a:t>기준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F114969-B318-7628-CAAF-74A5C19B851F}"/>
              </a:ext>
            </a:extLst>
          </p:cNvPr>
          <p:cNvSpPr/>
          <p:nvPr/>
        </p:nvSpPr>
        <p:spPr>
          <a:xfrm>
            <a:off x="11130120" y="583474"/>
            <a:ext cx="688258" cy="2769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새로고침</a:t>
            </a:r>
            <a:endParaRPr lang="ko-KR" altLang="en-US" sz="9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A69793-419A-7645-A463-E9D0DFA9A994}"/>
              </a:ext>
            </a:extLst>
          </p:cNvPr>
          <p:cNvSpPr/>
          <p:nvPr/>
        </p:nvSpPr>
        <p:spPr>
          <a:xfrm>
            <a:off x="4227872" y="543917"/>
            <a:ext cx="5388076" cy="356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이슈확인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5F4530A-EC31-1D89-7ECE-576B10BBE7AB}"/>
              </a:ext>
            </a:extLst>
          </p:cNvPr>
          <p:cNvSpPr/>
          <p:nvPr/>
        </p:nvSpPr>
        <p:spPr>
          <a:xfrm>
            <a:off x="491612" y="1876947"/>
            <a:ext cx="7354532" cy="2248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자금흐름</a:t>
            </a:r>
          </a:p>
        </p:txBody>
      </p:sp>
    </p:spTree>
    <p:extLst>
      <p:ext uri="{BB962C8B-B14F-4D97-AF65-F5344CB8AC3E}">
        <p14:creationId xmlns:p14="http://schemas.microsoft.com/office/powerpoint/2010/main" val="129819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268</Words>
  <Application>Microsoft Office PowerPoint</Application>
  <PresentationFormat>와이드스크린</PresentationFormat>
  <Paragraphs>51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Yeansoo Jeong</dc:creator>
  <cp:lastModifiedBy>Matthew Yeansoo Jeong</cp:lastModifiedBy>
  <cp:revision>1</cp:revision>
  <dcterms:created xsi:type="dcterms:W3CDTF">2026-06-04T00:28:34Z</dcterms:created>
  <dcterms:modified xsi:type="dcterms:W3CDTF">2026-06-04T01:09:05Z</dcterms:modified>
</cp:coreProperties>
</file>