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71" r:id="rId5"/>
    <p:sldId id="260" r:id="rId6"/>
    <p:sldId id="261" r:id="rId7"/>
    <p:sldId id="274" r:id="rId8"/>
    <p:sldId id="2543" r:id="rId9"/>
    <p:sldId id="2540" r:id="rId10"/>
    <p:sldId id="2546" r:id="rId11"/>
    <p:sldId id="266" r:id="rId12"/>
    <p:sldId id="267" r:id="rId13"/>
    <p:sldId id="275" r:id="rId14"/>
    <p:sldId id="262" r:id="rId15"/>
    <p:sldId id="263" r:id="rId16"/>
    <p:sldId id="2549" r:id="rId17"/>
    <p:sldId id="2547" r:id="rId18"/>
    <p:sldId id="264" r:id="rId19"/>
    <p:sldId id="273" r:id="rId20"/>
    <p:sldId id="269" r:id="rId21"/>
    <p:sldId id="270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9AD58D7B-90BB-4BEE-855A-82FDA761B887}">
          <p14:sldIdLst>
            <p14:sldId id="256"/>
            <p14:sldId id="257"/>
            <p14:sldId id="258"/>
            <p14:sldId id="271"/>
            <p14:sldId id="260"/>
            <p14:sldId id="261"/>
            <p14:sldId id="274"/>
            <p14:sldId id="2543"/>
            <p14:sldId id="2540"/>
            <p14:sldId id="2546"/>
            <p14:sldId id="266"/>
            <p14:sldId id="267"/>
            <p14:sldId id="275"/>
            <p14:sldId id="262"/>
            <p14:sldId id="263"/>
          </p14:sldIdLst>
        </p14:section>
        <p14:section name="Pending" id="{8A2800AA-F31D-41D3-B1D9-F839A2A36F3C}">
          <p14:sldIdLst>
            <p14:sldId id="2549"/>
            <p14:sldId id="2547"/>
            <p14:sldId id="264"/>
            <p14:sldId id="273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172A"/>
    <a:srgbClr val="2E3849"/>
    <a:srgbClr val="D9DC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99" autoAdjust="0"/>
    <p:restoredTop sz="82723" autoAdjust="0"/>
  </p:normalViewPr>
  <p:slideViewPr>
    <p:cSldViewPr snapToGrid="0" snapToObjects="1">
      <p:cViewPr>
        <p:scale>
          <a:sx n="75" d="100"/>
          <a:sy n="75" d="100"/>
        </p:scale>
        <p:origin x="706" y="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2993612829224955E-2"/>
          <c:y val="0.12365460266555905"/>
          <c:w val="0.89957824609912829"/>
          <c:h val="0.6778669409985260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Sheet8!$A$10</c:f>
              <c:strCache>
                <c:ptCount val="1"/>
                <c:pt idx="0">
                  <c:v>운영자금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Sheet8!$B$9:$M$9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Sheet8!$B$10:$M$10</c:f>
              <c:numCache>
                <c:formatCode>General</c:formatCode>
                <c:ptCount val="12"/>
                <c:pt idx="0">
                  <c:v>859</c:v>
                </c:pt>
                <c:pt idx="1">
                  <c:v>903</c:v>
                </c:pt>
                <c:pt idx="2">
                  <c:v>923</c:v>
                </c:pt>
                <c:pt idx="3">
                  <c:v>922</c:v>
                </c:pt>
                <c:pt idx="4">
                  <c:v>931</c:v>
                </c:pt>
                <c:pt idx="5">
                  <c:v>908</c:v>
                </c:pt>
                <c:pt idx="6">
                  <c:v>911</c:v>
                </c:pt>
                <c:pt idx="7">
                  <c:v>923</c:v>
                </c:pt>
                <c:pt idx="8">
                  <c:v>902</c:v>
                </c:pt>
                <c:pt idx="9">
                  <c:v>895</c:v>
                </c:pt>
                <c:pt idx="10">
                  <c:v>917</c:v>
                </c:pt>
                <c:pt idx="11">
                  <c:v>911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D4-4D35-AE1C-6212BEEB888E}"/>
            </c:ext>
          </c:extLst>
        </c:ser>
        <c:ser>
          <c:idx val="1"/>
          <c:order val="1"/>
          <c:tx>
            <c:strRef>
              <c:f>Sheet8!$A$11</c:f>
              <c:strCache>
                <c:ptCount val="1"/>
                <c:pt idx="0">
                  <c:v>외화자금</c:v>
                </c:pt>
              </c:strCache>
            </c:strRef>
          </c:tx>
          <c:spPr>
            <a:solidFill>
              <a:schemeClr val="accent5">
                <a:lumMod val="2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7394579786713631E-2"/>
                  <c:y val="-4.6008741660916418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4D4-4D35-AE1C-6212BEEB888E}"/>
                </c:ext>
              </c:extLst>
            </c:dLbl>
            <c:dLbl>
              <c:idx val="1"/>
              <c:layout>
                <c:manualLayout>
                  <c:x val="2.3481068388611682E-2"/>
                  <c:y val="-8.4348385311933696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4D4-4D35-AE1C-6212BEEB888E}"/>
                </c:ext>
              </c:extLst>
            </c:dLbl>
            <c:dLbl>
              <c:idx val="2"/>
              <c:layout>
                <c:manualLayout>
                  <c:x val="1.9567556990509737E-2"/>
                  <c:y val="1.380262249827458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4D4-4D35-AE1C-6212BEEB888E}"/>
                </c:ext>
              </c:extLst>
            </c:dLbl>
            <c:dLbl>
              <c:idx val="3"/>
              <c:layout>
                <c:manualLayout>
                  <c:x val="2.3481068388611647E-2"/>
                  <c:y val="4.6008741660915576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4D4-4D35-AE1C-6212BEEB888E}"/>
                </c:ext>
              </c:extLst>
            </c:dLbl>
            <c:dLbl>
              <c:idx val="4"/>
              <c:layout>
                <c:manualLayout>
                  <c:x val="2.3481068388611609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4D4-4D35-AE1C-6212BEEB888E}"/>
                </c:ext>
              </c:extLst>
            </c:dLbl>
            <c:dLbl>
              <c:idx val="5"/>
              <c:layout>
                <c:manualLayout>
                  <c:x val="2.7394579786713631E-2"/>
                  <c:y val="1.380262249827467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4D4-4D35-AE1C-6212BEEB888E}"/>
                </c:ext>
              </c:extLst>
            </c:dLbl>
            <c:dLbl>
              <c:idx val="6"/>
              <c:layout>
                <c:manualLayout>
                  <c:x val="2.3481068388611609E-2"/>
                  <c:y val="-1.380262249827467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4D4-4D35-AE1C-6212BEEB888E}"/>
                </c:ext>
              </c:extLst>
            </c:dLbl>
            <c:dLbl>
              <c:idx val="7"/>
              <c:layout>
                <c:manualLayout>
                  <c:x val="2.5437824087662583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4D4-4D35-AE1C-6212BEEB888E}"/>
                </c:ext>
              </c:extLst>
            </c:dLbl>
            <c:dLbl>
              <c:idx val="8"/>
              <c:layout>
                <c:manualLayout>
                  <c:x val="1.1740534194305841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4D4-4D35-AE1C-6212BEEB888E}"/>
                </c:ext>
              </c:extLst>
            </c:dLbl>
            <c:dLbl>
              <c:idx val="9"/>
              <c:layout>
                <c:manualLayout>
                  <c:x val="2.5437824087662656E-2"/>
                  <c:y val="1.380262249827467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94D4-4D35-AE1C-6212BEEB888E}"/>
                </c:ext>
              </c:extLst>
            </c:dLbl>
            <c:dLbl>
              <c:idx val="10"/>
              <c:layout>
                <c:manualLayout>
                  <c:x val="1.5654045592407788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4D4-4D35-AE1C-6212BEEB888E}"/>
                </c:ext>
              </c:extLst>
            </c:dLbl>
            <c:dLbl>
              <c:idx val="11"/>
              <c:layout>
                <c:manualLayout>
                  <c:x val="1.3697289893356815E-2"/>
                  <c:y val="9.2017483321831153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94D4-4D35-AE1C-6212BEEB888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Sheet8!$B$9:$M$9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Sheet8!$B$11:$M$11</c:f>
              <c:numCache>
                <c:formatCode>General</c:formatCode>
                <c:ptCount val="12"/>
                <c:pt idx="0">
                  <c:v>297</c:v>
                </c:pt>
                <c:pt idx="1">
                  <c:v>347</c:v>
                </c:pt>
                <c:pt idx="2">
                  <c:v>281</c:v>
                </c:pt>
                <c:pt idx="3">
                  <c:v>313</c:v>
                </c:pt>
                <c:pt idx="4">
                  <c:v>332</c:v>
                </c:pt>
                <c:pt idx="5">
                  <c:v>328</c:v>
                </c:pt>
                <c:pt idx="6">
                  <c:v>208</c:v>
                </c:pt>
                <c:pt idx="7">
                  <c:v>208</c:v>
                </c:pt>
                <c:pt idx="8">
                  <c:v>135</c:v>
                </c:pt>
                <c:pt idx="9">
                  <c:v>161</c:v>
                </c:pt>
                <c:pt idx="10">
                  <c:v>184</c:v>
                </c:pt>
                <c:pt idx="11">
                  <c:v>212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94D4-4D35-AE1C-6212BEEB888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41"/>
        <c:overlap val="40"/>
        <c:axId val="1342467295"/>
        <c:axId val="1342466815"/>
      </c:barChart>
      <c:lineChart>
        <c:grouping val="standard"/>
        <c:varyColors val="0"/>
        <c:ser>
          <c:idx val="2"/>
          <c:order val="2"/>
          <c:tx>
            <c:strRef>
              <c:f>Sheet8!$A$12</c:f>
              <c:strCache>
                <c:ptCount val="1"/>
                <c:pt idx="0">
                  <c:v>비율</c:v>
                </c:pt>
              </c:strCache>
            </c:strRef>
          </c:tx>
          <c:spPr>
            <a:ln w="28575" cap="rnd">
              <a:solidFill>
                <a:schemeClr val="accent6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accent6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Sheet8!$B$9:$M$9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Sheet8!$B$12:$M$12</c:f>
              <c:numCache>
                <c:formatCode>0.00%</c:formatCode>
                <c:ptCount val="12"/>
                <c:pt idx="0">
                  <c:v>0.34575087310826541</c:v>
                </c:pt>
                <c:pt idx="1">
                  <c:v>0.38427464008859358</c:v>
                </c:pt>
                <c:pt idx="2">
                  <c:v>0.30444203683640303</c:v>
                </c:pt>
                <c:pt idx="3">
                  <c:v>0.33947939262472887</c:v>
                </c:pt>
                <c:pt idx="4">
                  <c:v>0.35660580021482274</c:v>
                </c:pt>
                <c:pt idx="5">
                  <c:v>0.36123348017621143</c:v>
                </c:pt>
                <c:pt idx="6">
                  <c:v>0.22832052689352361</c:v>
                </c:pt>
                <c:pt idx="7">
                  <c:v>0.22535211267605634</c:v>
                </c:pt>
                <c:pt idx="8">
                  <c:v>0.14966740576496673</c:v>
                </c:pt>
                <c:pt idx="9">
                  <c:v>0.17988826815642459</c:v>
                </c:pt>
                <c:pt idx="10">
                  <c:v>0.20065430752453653</c:v>
                </c:pt>
                <c:pt idx="11">
                  <c:v>0.2327113062568606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4-94D4-4D35-AE1C-6212BEEB88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18216655"/>
        <c:axId val="1718216175"/>
      </c:lineChart>
      <c:catAx>
        <c:axId val="1342467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342466815"/>
        <c:crosses val="autoZero"/>
        <c:auto val="1"/>
        <c:lblAlgn val="ctr"/>
        <c:lblOffset val="100"/>
        <c:noMultiLvlLbl val="0"/>
      </c:catAx>
      <c:valAx>
        <c:axId val="13424668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342467295"/>
        <c:crosses val="autoZero"/>
        <c:crossBetween val="between"/>
      </c:valAx>
      <c:valAx>
        <c:axId val="1718216175"/>
        <c:scaling>
          <c:orientation val="minMax"/>
        </c:scaling>
        <c:delete val="0"/>
        <c:axPos val="r"/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18216655"/>
        <c:crosses val="max"/>
        <c:crossBetween val="between"/>
      </c:valAx>
      <c:catAx>
        <c:axId val="17182166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7182161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2"/>
          </a:solidFill>
        </a:defRPr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2993612829224955E-2"/>
          <c:y val="0.12365460266555905"/>
          <c:w val="0.89957824609912829"/>
          <c:h val="0.6778669409985260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Sheet8!$A$10</c:f>
              <c:strCache>
                <c:ptCount val="1"/>
                <c:pt idx="0">
                  <c:v>운영자금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Sheet8!$B$9:$M$9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Sheet8!$B$10:$M$10</c:f>
              <c:numCache>
                <c:formatCode>General</c:formatCode>
                <c:ptCount val="12"/>
                <c:pt idx="0">
                  <c:v>859</c:v>
                </c:pt>
                <c:pt idx="1">
                  <c:v>903</c:v>
                </c:pt>
                <c:pt idx="2">
                  <c:v>923</c:v>
                </c:pt>
                <c:pt idx="3">
                  <c:v>922</c:v>
                </c:pt>
                <c:pt idx="4">
                  <c:v>931</c:v>
                </c:pt>
                <c:pt idx="5">
                  <c:v>908</c:v>
                </c:pt>
                <c:pt idx="6">
                  <c:v>911</c:v>
                </c:pt>
                <c:pt idx="7">
                  <c:v>923</c:v>
                </c:pt>
                <c:pt idx="8">
                  <c:v>902</c:v>
                </c:pt>
                <c:pt idx="9">
                  <c:v>895</c:v>
                </c:pt>
                <c:pt idx="10">
                  <c:v>917</c:v>
                </c:pt>
                <c:pt idx="11">
                  <c:v>911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C2-49A5-8E56-2A3F077745E1}"/>
            </c:ext>
          </c:extLst>
        </c:ser>
        <c:ser>
          <c:idx val="1"/>
          <c:order val="1"/>
          <c:tx>
            <c:strRef>
              <c:f>Sheet8!$A$11</c:f>
              <c:strCache>
                <c:ptCount val="1"/>
                <c:pt idx="0">
                  <c:v>외화자금</c:v>
                </c:pt>
              </c:strCache>
            </c:strRef>
          </c:tx>
          <c:spPr>
            <a:solidFill>
              <a:schemeClr val="accent5">
                <a:lumMod val="9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7394579786713631E-2"/>
                  <c:y val="-4.6008741660916418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AC2-49A5-8E56-2A3F077745E1}"/>
                </c:ext>
              </c:extLst>
            </c:dLbl>
            <c:dLbl>
              <c:idx val="1"/>
              <c:layout>
                <c:manualLayout>
                  <c:x val="2.3481068388611682E-2"/>
                  <c:y val="-8.4348385311933696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AC2-49A5-8E56-2A3F077745E1}"/>
                </c:ext>
              </c:extLst>
            </c:dLbl>
            <c:dLbl>
              <c:idx val="2"/>
              <c:layout>
                <c:manualLayout>
                  <c:x val="1.9567556990509737E-2"/>
                  <c:y val="1.380262249827458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AC2-49A5-8E56-2A3F077745E1}"/>
                </c:ext>
              </c:extLst>
            </c:dLbl>
            <c:dLbl>
              <c:idx val="3"/>
              <c:layout>
                <c:manualLayout>
                  <c:x val="2.3481068388611647E-2"/>
                  <c:y val="4.6008741660915576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AC2-49A5-8E56-2A3F077745E1}"/>
                </c:ext>
              </c:extLst>
            </c:dLbl>
            <c:dLbl>
              <c:idx val="4"/>
              <c:layout>
                <c:manualLayout>
                  <c:x val="2.3481068388611609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AC2-49A5-8E56-2A3F077745E1}"/>
                </c:ext>
              </c:extLst>
            </c:dLbl>
            <c:dLbl>
              <c:idx val="5"/>
              <c:layout>
                <c:manualLayout>
                  <c:x val="2.7394579786713631E-2"/>
                  <c:y val="1.380262249827467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4AC2-49A5-8E56-2A3F077745E1}"/>
                </c:ext>
              </c:extLst>
            </c:dLbl>
            <c:dLbl>
              <c:idx val="6"/>
              <c:layout>
                <c:manualLayout>
                  <c:x val="2.3481068388611609E-2"/>
                  <c:y val="-1.380262249827467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AC2-49A5-8E56-2A3F077745E1}"/>
                </c:ext>
              </c:extLst>
            </c:dLbl>
            <c:dLbl>
              <c:idx val="7"/>
              <c:layout>
                <c:manualLayout>
                  <c:x val="2.5437824087662583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AC2-49A5-8E56-2A3F077745E1}"/>
                </c:ext>
              </c:extLst>
            </c:dLbl>
            <c:dLbl>
              <c:idx val="8"/>
              <c:layout>
                <c:manualLayout>
                  <c:x val="1.1740534194305841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AC2-49A5-8E56-2A3F077745E1}"/>
                </c:ext>
              </c:extLst>
            </c:dLbl>
            <c:dLbl>
              <c:idx val="9"/>
              <c:layout>
                <c:manualLayout>
                  <c:x val="2.5437824087662656E-2"/>
                  <c:y val="1.380262249827467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4AC2-49A5-8E56-2A3F077745E1}"/>
                </c:ext>
              </c:extLst>
            </c:dLbl>
            <c:dLbl>
              <c:idx val="10"/>
              <c:layout>
                <c:manualLayout>
                  <c:x val="1.5654045592407788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AC2-49A5-8E56-2A3F077745E1}"/>
                </c:ext>
              </c:extLst>
            </c:dLbl>
            <c:dLbl>
              <c:idx val="11"/>
              <c:layout>
                <c:manualLayout>
                  <c:x val="1.3697289893356815E-2"/>
                  <c:y val="9.2017483321831153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4AC2-49A5-8E56-2A3F077745E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Sheet8!$B$9:$M$9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Sheet8!$B$11:$M$11</c:f>
              <c:numCache>
                <c:formatCode>General</c:formatCode>
                <c:ptCount val="12"/>
                <c:pt idx="0">
                  <c:v>297</c:v>
                </c:pt>
                <c:pt idx="1">
                  <c:v>347</c:v>
                </c:pt>
                <c:pt idx="2">
                  <c:v>281</c:v>
                </c:pt>
                <c:pt idx="3">
                  <c:v>313</c:v>
                </c:pt>
                <c:pt idx="4">
                  <c:v>332</c:v>
                </c:pt>
                <c:pt idx="5">
                  <c:v>328</c:v>
                </c:pt>
                <c:pt idx="6">
                  <c:v>208</c:v>
                </c:pt>
                <c:pt idx="7">
                  <c:v>208</c:v>
                </c:pt>
                <c:pt idx="8">
                  <c:v>135</c:v>
                </c:pt>
                <c:pt idx="9">
                  <c:v>161</c:v>
                </c:pt>
                <c:pt idx="10">
                  <c:v>184</c:v>
                </c:pt>
                <c:pt idx="11">
                  <c:v>212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4AC2-49A5-8E56-2A3F077745E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41"/>
        <c:overlap val="40"/>
        <c:axId val="1342467295"/>
        <c:axId val="1342466815"/>
      </c:barChart>
      <c:catAx>
        <c:axId val="1342467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342466815"/>
        <c:crosses val="autoZero"/>
        <c:auto val="1"/>
        <c:lblAlgn val="ctr"/>
        <c:lblOffset val="100"/>
        <c:noMultiLvlLbl val="0"/>
      </c:catAx>
      <c:valAx>
        <c:axId val="13424668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3424672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2.1661495562279032E-2"/>
          <c:y val="7.0818084435231063E-2"/>
          <c:w val="0.21381975460363772"/>
          <c:h val="4.35905211061157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2"/>
          </a:solidFill>
        </a:defRPr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cked"/>
        <c:varyColors val="0"/>
        <c:ser>
          <c:idx val="0"/>
          <c:order val="0"/>
          <c:tx>
            <c:strRef>
              <c:f>' 과거달러보유액'!$A$3:$B$3</c:f>
              <c:strCache>
                <c:ptCount val="2"/>
                <c:pt idx="0">
                  <c:v>환율</c:v>
                </c:pt>
                <c:pt idx="1">
                  <c:v>USD</c:v>
                </c:pt>
              </c:strCache>
            </c:strRef>
          </c:tx>
          <c:spPr>
            <a:ln w="28575" cap="rnd">
              <a:solidFill>
                <a:schemeClr val="accent6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 과거달러보유액'!$C$1:$T$1</c:f>
              <c:strCache>
                <c:ptCount val="18"/>
                <c:pt idx="0">
                  <c:v>24.07.31 </c:v>
                </c:pt>
                <c:pt idx="1">
                  <c:v>24.08.31</c:v>
                </c:pt>
                <c:pt idx="2">
                  <c:v>24.09.30</c:v>
                </c:pt>
                <c:pt idx="3">
                  <c:v>24.10.31</c:v>
                </c:pt>
                <c:pt idx="4">
                  <c:v>24.11.30</c:v>
                </c:pt>
                <c:pt idx="5">
                  <c:v>24.12.31</c:v>
                </c:pt>
                <c:pt idx="6">
                  <c:v>25.01.31</c:v>
                </c:pt>
                <c:pt idx="7">
                  <c:v>25.02.28</c:v>
                </c:pt>
                <c:pt idx="8">
                  <c:v>25.03.31</c:v>
                </c:pt>
                <c:pt idx="9">
                  <c:v>25.04.30</c:v>
                </c:pt>
                <c:pt idx="10">
                  <c:v>25.5.31</c:v>
                </c:pt>
                <c:pt idx="11">
                  <c:v>25.06.30</c:v>
                </c:pt>
                <c:pt idx="12">
                  <c:v>25.07.31</c:v>
                </c:pt>
                <c:pt idx="13">
                  <c:v>25.08.31</c:v>
                </c:pt>
                <c:pt idx="14">
                  <c:v>25.09.30</c:v>
                </c:pt>
                <c:pt idx="15">
                  <c:v>25.10.31</c:v>
                </c:pt>
                <c:pt idx="16">
                  <c:v>25.11.30</c:v>
                </c:pt>
                <c:pt idx="17">
                  <c:v>25.12.31</c:v>
                </c:pt>
              </c:strCache>
            </c:strRef>
          </c:cat>
          <c:val>
            <c:numRef>
              <c:f>' 과거달러보유액'!$C$3:$T$3</c:f>
              <c:numCache>
                <c:formatCode>#,##0.00</c:formatCode>
                <c:ptCount val="18"/>
                <c:pt idx="0">
                  <c:v>1383.38</c:v>
                </c:pt>
                <c:pt idx="1">
                  <c:v>1354.154</c:v>
                </c:pt>
                <c:pt idx="2">
                  <c:v>1334.82</c:v>
                </c:pt>
                <c:pt idx="3">
                  <c:v>1361</c:v>
                </c:pt>
                <c:pt idx="4">
                  <c:v>1393.38</c:v>
                </c:pt>
                <c:pt idx="5">
                  <c:v>1434.42</c:v>
                </c:pt>
                <c:pt idx="6">
                  <c:v>1455.79</c:v>
                </c:pt>
                <c:pt idx="7">
                  <c:v>1445.56</c:v>
                </c:pt>
                <c:pt idx="8">
                  <c:v>1456.95</c:v>
                </c:pt>
                <c:pt idx="9">
                  <c:v>1444.31</c:v>
                </c:pt>
                <c:pt idx="10">
                  <c:v>1394.49</c:v>
                </c:pt>
                <c:pt idx="11">
                  <c:v>1366.95</c:v>
                </c:pt>
                <c:pt idx="12">
                  <c:v>1375.22</c:v>
                </c:pt>
                <c:pt idx="13">
                  <c:v>1389.66</c:v>
                </c:pt>
                <c:pt idx="14">
                  <c:v>1391.83</c:v>
                </c:pt>
                <c:pt idx="15">
                  <c:v>1423.36</c:v>
                </c:pt>
                <c:pt idx="16">
                  <c:v>1457.77</c:v>
                </c:pt>
                <c:pt idx="17">
                  <c:v>1467.4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660-4956-A9BD-7F0736EA90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253616"/>
        <c:axId val="87257936"/>
      </c:lineChart>
      <c:lineChart>
        <c:grouping val="standard"/>
        <c:varyColors val="0"/>
        <c:ser>
          <c:idx val="1"/>
          <c:order val="1"/>
          <c:tx>
            <c:strRef>
              <c:f>' 과거달러보유액'!$A$4:$B$4</c:f>
              <c:strCache>
                <c:ptCount val="2"/>
                <c:pt idx="0">
                  <c:v>기준 금리</c:v>
                </c:pt>
              </c:strCache>
            </c:strRef>
          </c:tx>
          <c:spPr>
            <a:ln w="28575" cap="rnd">
              <a:solidFill>
                <a:schemeClr val="accent5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 과거달러보유액'!$C$1:$T$1</c:f>
              <c:strCache>
                <c:ptCount val="18"/>
                <c:pt idx="0">
                  <c:v>24.07.31 </c:v>
                </c:pt>
                <c:pt idx="1">
                  <c:v>24.08.31</c:v>
                </c:pt>
                <c:pt idx="2">
                  <c:v>24.09.30</c:v>
                </c:pt>
                <c:pt idx="3">
                  <c:v>24.10.31</c:v>
                </c:pt>
                <c:pt idx="4">
                  <c:v>24.11.30</c:v>
                </c:pt>
                <c:pt idx="5">
                  <c:v>24.12.31</c:v>
                </c:pt>
                <c:pt idx="6">
                  <c:v>25.01.31</c:v>
                </c:pt>
                <c:pt idx="7">
                  <c:v>25.02.28</c:v>
                </c:pt>
                <c:pt idx="8">
                  <c:v>25.03.31</c:v>
                </c:pt>
                <c:pt idx="9">
                  <c:v>25.04.30</c:v>
                </c:pt>
                <c:pt idx="10">
                  <c:v>25.5.31</c:v>
                </c:pt>
                <c:pt idx="11">
                  <c:v>25.06.30</c:v>
                </c:pt>
                <c:pt idx="12">
                  <c:v>25.07.31</c:v>
                </c:pt>
                <c:pt idx="13">
                  <c:v>25.08.31</c:v>
                </c:pt>
                <c:pt idx="14">
                  <c:v>25.09.30</c:v>
                </c:pt>
                <c:pt idx="15">
                  <c:v>25.10.31</c:v>
                </c:pt>
                <c:pt idx="16">
                  <c:v>25.11.30</c:v>
                </c:pt>
                <c:pt idx="17">
                  <c:v>25.12.31</c:v>
                </c:pt>
              </c:strCache>
            </c:strRef>
          </c:cat>
          <c:val>
            <c:numRef>
              <c:f>' 과거달러보유액'!$C$4:$T$4</c:f>
              <c:numCache>
                <c:formatCode>#,##0.00</c:formatCode>
                <c:ptCount val="18"/>
                <c:pt idx="0">
                  <c:v>3.25</c:v>
                </c:pt>
                <c:pt idx="1">
                  <c:v>3.25</c:v>
                </c:pt>
                <c:pt idx="2">
                  <c:v>3.25</c:v>
                </c:pt>
                <c:pt idx="3">
                  <c:v>3.25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2.75</c:v>
                </c:pt>
                <c:pt idx="8">
                  <c:v>2.75</c:v>
                </c:pt>
                <c:pt idx="9">
                  <c:v>2.75</c:v>
                </c:pt>
                <c:pt idx="10">
                  <c:v>2.5</c:v>
                </c:pt>
                <c:pt idx="11">
                  <c:v>2.5</c:v>
                </c:pt>
                <c:pt idx="12">
                  <c:v>2.5</c:v>
                </c:pt>
                <c:pt idx="13">
                  <c:v>2.5</c:v>
                </c:pt>
                <c:pt idx="14">
                  <c:v>2.5</c:v>
                </c:pt>
                <c:pt idx="15">
                  <c:v>2.5</c:v>
                </c:pt>
                <c:pt idx="16">
                  <c:v>2.5</c:v>
                </c:pt>
                <c:pt idx="17">
                  <c:v>2.5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660-4956-A9BD-7F0736EA90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79842991"/>
        <c:axId val="2079854031"/>
      </c:lineChart>
      <c:catAx>
        <c:axId val="872536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7257936"/>
        <c:crosses val="autoZero"/>
        <c:auto val="1"/>
        <c:lblAlgn val="ctr"/>
        <c:lblOffset val="100"/>
        <c:noMultiLvlLbl val="0"/>
      </c:catAx>
      <c:valAx>
        <c:axId val="872579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7253616"/>
        <c:crosses val="autoZero"/>
        <c:crossBetween val="between"/>
      </c:valAx>
      <c:valAx>
        <c:axId val="2079854031"/>
        <c:scaling>
          <c:orientation val="minMax"/>
        </c:scaling>
        <c:delete val="0"/>
        <c:axPos val="r"/>
        <c:numFmt formatCode="#,##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079842991"/>
        <c:crosses val="max"/>
        <c:crossBetween val="between"/>
      </c:valAx>
      <c:catAx>
        <c:axId val="207984299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7985403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6.3833004926604361E-2"/>
          <c:y val="0"/>
          <c:w val="0.25343246282895632"/>
          <c:h val="5.537755838364236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3173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이제 회의를 시작하겠습니다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본 회의는 오늘 회의는 상반기 자금운용 방향성을 결정하는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정책회의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(Official Policy Meeting)'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성격으로 진행됩니다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금일 회의의 주요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아젠다입니다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첫번째 안건은 그룹 자금운용 규정의 승인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두번째는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셀바스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차입금 관리 및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리파이낸싱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메디아나의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외화 적정보유비율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설정 및 국채 리스크 관리 방안입니다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dirty="0"/>
              <a:t>당초 논의하기로 했던 </a:t>
            </a:r>
            <a:r>
              <a:rPr lang="ko-KR" altLang="en-US" dirty="0" err="1"/>
              <a:t>메디아나</a:t>
            </a:r>
            <a:r>
              <a:rPr lang="ko-KR" altLang="en-US" dirty="0"/>
              <a:t> 지분 관련된 결정은 에디의 의견에 따라 추후 </a:t>
            </a:r>
            <a:r>
              <a:rPr lang="en-US" altLang="ko-KR" dirty="0"/>
              <a:t>Richard</a:t>
            </a:r>
            <a:r>
              <a:rPr lang="ko-KR" altLang="en-US" dirty="0"/>
              <a:t>를 포함한 </a:t>
            </a:r>
            <a:r>
              <a:rPr lang="ko-KR" altLang="en-US" dirty="0" err="1"/>
              <a:t>유관자들을</a:t>
            </a:r>
            <a:r>
              <a:rPr lang="ko-KR" altLang="en-US" dirty="0"/>
              <a:t> 모아 별도의 회의로 </a:t>
            </a:r>
            <a:r>
              <a:rPr lang="ko-KR" altLang="en-US" dirty="0" err="1"/>
              <a:t>진행하고자합니다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그룹 공통 자금운용 규정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(Common Policy)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『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자금운용관리규정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』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조에 따라 운용의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 원칙은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안정성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(Safety),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유동성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(Liquidity),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수익성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(Profitability)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순서로 우선순위를 둡니다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특히 원금 보전이 최우선이며 투기적 거래는 엄격히 금지됩니다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허용 상품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(White List)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금융권 예금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국공채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(3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이하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AA-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이상 회사채 등으로 한정하며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구조가 복잡하거나 레버리지를 일으키는 파생결합증권 등은 금지 상품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(Black List)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규정하여 리스크를 원천 차단하겠습니다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다음은 거버넌스 및 보고 체계입니다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위원회는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『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자금운용관리규정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』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 및 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조에 따라 **정책회의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(Strategic)**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**운영회의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(Tactical)**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Dual-Track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운영됩니다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기본적으로 금일과 같은 정책회의는 연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회 개최하여 방향성을 수립하고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중심의 운영회의는 매 분기 진행하겠습니다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변동성 대응을 위하여 운영 중 특이사항 발생시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특히 규정 별지에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운영회의 사안 중 상위회의체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상정대상 주요안건을 열거하여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해당사항은 정책회의를 통해 의사결정을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해나가는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구조로 유연성을 마련해 두었습니다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보고 및 점검체계에서는 위원회 구성원 중 공통위원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현재로는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Brent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Kate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자금운용실태에 대한 검사권을 가지고 현재의 전결체계 및 운용현황에 대한 점검을 이행할 수 있도록 규정화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해두었습니다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월간 운용현황 보고와 분기 리스크 리포트를 의무화하여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시나리오 분석 및 규정 준수 여부를 상시 모니터링하겠습니다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유동성 및 만기 관리 가이드라인입니다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유동성 위기를 방지하기 위해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최소 유동성 비율은 월 지출액의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설정하여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개월치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운영자금을 상시 확보하겠습니다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자금 쏠림 현상을 막기 위해 특정 만기 구간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(3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개월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6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개월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1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 등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자금이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40%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이상 집중되지 않도록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만기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래더링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(Laddering)'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의무화합니다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운영자금은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개월 이내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투자자금은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 이내로 만기를 매칭하겠습니다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거래기관 및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FX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원칙입니다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거래 금융기관은 신용등급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A+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이상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 곳으로 제한하며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리스크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헤지를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위해 단일 기관 예치 한도를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30%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이내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제한하겠습니다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Treasury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전략에서의 금융기관 리스크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헷지는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회사의 자금이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은행에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몰려있었을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해당 은행의 문제 발생시 자금 전체에 끼칠 리스크를 분산 배치하여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헷지하는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방식입니다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에이아이는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하나은행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메디아나는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기업은행에 자금이 대부분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몰려있는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경향이 있는데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부분은 현재 운용중인 예금상품의 만기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등을 복합적으로 고려하여 향후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개월에서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 간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Treasury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취지에 맞게 분산하되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회사별 주거래 이점을 살려 최적의 금리조건을 창출하여 운영의 미를 가져가고자 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이외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FX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운용은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＇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투기적 포지션 금지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(No Speculation)＇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대원칙으로 하며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환변동성을 최소화하는 방향으로 운영되고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환과 관련된 사항은 실질적으로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메디아나가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직면하고 있는 이슈이기 때문에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이후 슬라이드에서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메디아나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환 관련 정책결정시 구체적으로 논의해보도록 하겠습니다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53B40-CEA3-870D-1F3B-76D092E1B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DE3E32-5004-8C63-FC5D-0847DD34A9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A72D61-7170-C34D-94A9-21240D8EE2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>
                <a:effectLst/>
              </a:rPr>
              <a:t>다음은 </a:t>
            </a:r>
            <a:r>
              <a:rPr lang="ko-KR" altLang="en-US" dirty="0" err="1">
                <a:effectLst/>
              </a:rPr>
              <a:t>메디아나</a:t>
            </a:r>
            <a:r>
              <a:rPr lang="ko-KR" altLang="en-US" dirty="0">
                <a:effectLst/>
              </a:rPr>
              <a:t> 안건입니다</a:t>
            </a:r>
            <a:r>
              <a:rPr lang="en-US" altLang="ko-KR" dirty="0">
                <a:effectLst/>
              </a:rPr>
              <a:t>. </a:t>
            </a:r>
          </a:p>
          <a:p>
            <a:endParaRPr lang="en-US" altLang="ko-KR" dirty="0">
              <a:effectLst/>
            </a:endParaRPr>
          </a:p>
          <a:p>
            <a:r>
              <a:rPr lang="ko-KR" altLang="en-US" dirty="0" err="1">
                <a:effectLst/>
              </a:rPr>
              <a:t>메디아나는</a:t>
            </a:r>
            <a:r>
              <a:rPr lang="ko-KR" altLang="en-US" dirty="0">
                <a:effectLst/>
              </a:rPr>
              <a:t> 현재 총 보유자금 </a:t>
            </a:r>
            <a:r>
              <a:rPr lang="en-US" altLang="ko-KR" dirty="0">
                <a:effectLst/>
              </a:rPr>
              <a:t>880</a:t>
            </a:r>
            <a:r>
              <a:rPr lang="ko-KR" altLang="en-US" dirty="0">
                <a:effectLst/>
              </a:rPr>
              <a:t>억 중 </a:t>
            </a:r>
            <a:r>
              <a:rPr lang="en-US" altLang="ko-KR" dirty="0">
                <a:effectLst/>
              </a:rPr>
              <a:t>25%</a:t>
            </a:r>
            <a:r>
              <a:rPr lang="ko-KR" altLang="en-US" dirty="0">
                <a:effectLst/>
              </a:rPr>
              <a:t>인 </a:t>
            </a:r>
            <a:r>
              <a:rPr lang="en-US" altLang="ko-KR" b="0" dirty="0">
                <a:effectLst/>
              </a:rPr>
              <a:t>220</a:t>
            </a:r>
            <a:r>
              <a:rPr lang="ko-KR" altLang="en-US" b="0" dirty="0">
                <a:effectLst/>
              </a:rPr>
              <a:t>억 원</a:t>
            </a:r>
            <a:r>
              <a:rPr lang="ko-KR" altLang="en-US" dirty="0">
                <a:effectLst/>
              </a:rPr>
              <a:t>을 외화로 보유하고 있습니다</a:t>
            </a:r>
            <a:r>
              <a:rPr lang="en-US" altLang="ko-KR" dirty="0">
                <a:effectLst/>
              </a:rPr>
              <a:t>. </a:t>
            </a:r>
          </a:p>
          <a:p>
            <a:r>
              <a:rPr lang="ko-KR" altLang="en-US" dirty="0">
                <a:effectLst/>
              </a:rPr>
              <a:t>환변동성 노출을 줄이기 위해 적정 보유 비중</a:t>
            </a:r>
            <a:r>
              <a:rPr lang="en-US" altLang="ko-KR" dirty="0">
                <a:effectLst/>
              </a:rPr>
              <a:t>(Target Band)</a:t>
            </a:r>
            <a:r>
              <a:rPr lang="ko-KR" altLang="en-US" dirty="0">
                <a:effectLst/>
              </a:rPr>
              <a:t>을 설정하고자 합니다</a:t>
            </a:r>
            <a:r>
              <a:rPr lang="en-US" altLang="ko-KR" dirty="0">
                <a:effectLst/>
              </a:rPr>
              <a:t>.</a:t>
            </a:r>
          </a:p>
          <a:p>
            <a:endParaRPr lang="en-US" altLang="ko-KR" dirty="0">
              <a:effectLst/>
            </a:endParaRPr>
          </a:p>
          <a:p>
            <a:r>
              <a:rPr lang="ko-KR" altLang="en-US" dirty="0">
                <a:effectLst/>
              </a:rPr>
              <a:t>이에 따라 운용 효율성과 리스크를 고려하여 현재수준인 </a:t>
            </a:r>
            <a:r>
              <a:rPr lang="en-US" altLang="ko-KR" b="1" dirty="0">
                <a:effectLst/>
              </a:rPr>
              <a:t>Option 2: 20~25% (Balanced)</a:t>
            </a:r>
            <a:r>
              <a:rPr lang="ko-KR" altLang="en-US" dirty="0">
                <a:effectLst/>
              </a:rPr>
              <a:t> 구간을 제안하며</a:t>
            </a:r>
            <a:r>
              <a:rPr lang="en-US" altLang="ko-KR" dirty="0">
                <a:effectLst/>
              </a:rPr>
              <a:t>, Max 25% </a:t>
            </a:r>
            <a:r>
              <a:rPr lang="ko-KR" altLang="en-US" dirty="0">
                <a:effectLst/>
              </a:rPr>
              <a:t>이후 누적되는 금액은 기계적으로 환전하는 방식으로 운영하는 것을 제안합니다</a:t>
            </a:r>
            <a:r>
              <a:rPr lang="en-US" altLang="ko-KR" dirty="0">
                <a:effectLst/>
              </a:rPr>
              <a:t>.</a:t>
            </a:r>
          </a:p>
          <a:p>
            <a:br>
              <a:rPr lang="ko-KR" alt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BD073-1F0D-94F6-5228-FF85426392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45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8AD86-876A-693C-18F9-6493A0026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17A52F-70BE-E4FA-DE39-7604FD190D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83EB0E-955C-8225-4CF4-18A670935D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현재 외화비중 제안과 관련하여 </a:t>
            </a:r>
            <a:r>
              <a:rPr lang="en-US" altLang="ko-KR" dirty="0"/>
              <a:t>2025</a:t>
            </a:r>
            <a:r>
              <a:rPr lang="ko-KR" altLang="en-US" dirty="0"/>
              <a:t>년 월별 </a:t>
            </a:r>
            <a:r>
              <a:rPr lang="ko-KR" altLang="en-US" dirty="0" err="1"/>
              <a:t>메디아나</a:t>
            </a:r>
            <a:r>
              <a:rPr lang="ko-KR" altLang="en-US" dirty="0"/>
              <a:t> 자금보유 비중을 말씀 드립니다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최대 </a:t>
            </a:r>
            <a:r>
              <a:rPr lang="en-US" altLang="ko-KR" dirty="0"/>
              <a:t>38%</a:t>
            </a:r>
            <a:r>
              <a:rPr lang="ko-KR" altLang="en-US" dirty="0"/>
              <a:t>에서 최하 </a:t>
            </a:r>
            <a:r>
              <a:rPr lang="en-US" altLang="ko-KR" dirty="0"/>
              <a:t>15%</a:t>
            </a:r>
            <a:r>
              <a:rPr lang="ko-KR" altLang="en-US" dirty="0"/>
              <a:t>정도까지 비중을 가져갔으며</a:t>
            </a:r>
            <a:r>
              <a:rPr lang="en-US" altLang="ko-KR" dirty="0"/>
              <a:t>, </a:t>
            </a:r>
            <a:r>
              <a:rPr lang="ko-KR" altLang="en-US" dirty="0"/>
              <a:t>환율변동과 함께 외화 보유비중의 </a:t>
            </a:r>
            <a:r>
              <a:rPr lang="en-US" altLang="ko-KR" dirty="0"/>
              <a:t>Fluctuation </a:t>
            </a:r>
            <a:r>
              <a:rPr lang="ko-KR" altLang="en-US" dirty="0"/>
              <a:t>이 심했던 지난해였습니다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다만</a:t>
            </a:r>
            <a:r>
              <a:rPr lang="en-US" altLang="ko-KR" dirty="0"/>
              <a:t>, </a:t>
            </a:r>
            <a:r>
              <a:rPr lang="ko-KR" altLang="en-US" dirty="0"/>
              <a:t>평균 </a:t>
            </a:r>
            <a:r>
              <a:rPr lang="en-US" altLang="ko-KR" dirty="0"/>
              <a:t>27.5%</a:t>
            </a:r>
            <a:r>
              <a:rPr lang="ko-KR" altLang="en-US" dirty="0"/>
              <a:t>의 비중을 나타내고 있으며</a:t>
            </a:r>
            <a:r>
              <a:rPr lang="en-US" altLang="ko-KR" dirty="0"/>
              <a:t>, </a:t>
            </a:r>
            <a:r>
              <a:rPr lang="ko-KR" altLang="en-US" dirty="0"/>
              <a:t>현재 대내외 이슈로 변동성이 짙은 환시장에서의 </a:t>
            </a:r>
            <a:r>
              <a:rPr lang="ko-KR" altLang="en-US" dirty="0" err="1"/>
              <a:t>환노출</a:t>
            </a:r>
            <a:r>
              <a:rPr lang="ko-KR" altLang="en-US" dirty="0"/>
              <a:t> 금액의 비중을 보수적으로 </a:t>
            </a:r>
            <a:r>
              <a:rPr lang="en-US" altLang="ko-KR" dirty="0"/>
              <a:t>25% </a:t>
            </a:r>
            <a:r>
              <a:rPr lang="ko-KR" altLang="en-US" dirty="0"/>
              <a:t>가량 가져가자는 데 제안의 근거가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FC8604-4145-5FEC-5720-BE4E858249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394833-C39C-4FB9-B724-4C6534D257D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7106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D24FB-AEC1-39C5-9D4A-93F4E44FC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33379F5-4194-E9EA-D2D4-BA44C1EFC1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8845EF-50EB-B927-9F3A-5EC41E7EA7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추가로 작년 환율 변동추이와 </a:t>
            </a:r>
            <a:r>
              <a:rPr lang="ko-KR" altLang="en-US" dirty="0" err="1"/>
              <a:t>메디아나의</a:t>
            </a:r>
            <a:r>
              <a:rPr lang="ko-KR" altLang="en-US" dirty="0"/>
              <a:t> 외화자산의 규모 변화 지표를 봤을 때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적정 비율의 확정 없이 운용된 환 정책의 경우 외화 달러 비중이 가장 낮을 때 환율이 매우 높아졌던 역설적인 결과를 초래하게 되었습니다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이에 따라</a:t>
            </a:r>
            <a:r>
              <a:rPr lang="en-US" altLang="ko-KR" dirty="0"/>
              <a:t>, </a:t>
            </a:r>
            <a:r>
              <a:rPr lang="ko-KR" altLang="en-US" dirty="0"/>
              <a:t>보유 비중의 산정을 매우 중요하다고 할 수 있겠습니다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CBF5EE-5B0D-279A-D31E-D0ABCCA0D5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394833-C39C-4FB9-B724-4C6534D257D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12867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3F3FD-A3B3-A7BA-571B-93A27A430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8BDAA2-59D5-DF8D-E565-F3AF5D18F9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E1AB88-2745-8992-785E-C0423F5F4C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>
                <a:effectLst/>
              </a:rPr>
              <a:t>이에 따른</a:t>
            </a:r>
            <a:r>
              <a:rPr lang="en-US" altLang="ko-KR" dirty="0">
                <a:effectLst/>
              </a:rPr>
              <a:t>, </a:t>
            </a:r>
            <a:r>
              <a:rPr lang="ko-KR" altLang="en-US" dirty="0">
                <a:effectLst/>
              </a:rPr>
              <a:t>보유비중 대비 손익계산서에 미칠 위험노출 규모는 보시는 바와 같습니다</a:t>
            </a:r>
            <a:r>
              <a:rPr lang="en-US" altLang="ko-KR" dirty="0">
                <a:effectLst/>
              </a:rPr>
              <a:t>.</a:t>
            </a:r>
          </a:p>
          <a:p>
            <a:endParaRPr lang="en-US" altLang="ko-KR" dirty="0">
              <a:effectLst/>
            </a:endParaRPr>
          </a:p>
          <a:p>
            <a:r>
              <a:rPr lang="en-US" altLang="ko-KR" dirty="0">
                <a:effectLst/>
              </a:rPr>
              <a:t>25%</a:t>
            </a:r>
            <a:r>
              <a:rPr lang="ko-KR" altLang="en-US" dirty="0">
                <a:effectLst/>
              </a:rPr>
              <a:t>정도 포션으로 가져갔을 때</a:t>
            </a:r>
            <a:r>
              <a:rPr lang="en-US" altLang="ko-KR" dirty="0">
                <a:effectLst/>
              </a:rPr>
              <a:t>(</a:t>
            </a:r>
            <a:r>
              <a:rPr lang="ko-KR" altLang="en-US" dirty="0">
                <a:effectLst/>
              </a:rPr>
              <a:t>현재수준</a:t>
            </a:r>
            <a:r>
              <a:rPr lang="en-US" altLang="ko-KR" dirty="0">
                <a:effectLst/>
              </a:rPr>
              <a:t>) </a:t>
            </a:r>
            <a:r>
              <a:rPr lang="ko-KR" altLang="en-US" dirty="0">
                <a:effectLst/>
              </a:rPr>
              <a:t>약 </a:t>
            </a:r>
            <a:r>
              <a:rPr lang="ko-KR" altLang="en-US" dirty="0" err="1">
                <a:effectLst/>
              </a:rPr>
              <a:t>플러스마이너스</a:t>
            </a:r>
            <a:r>
              <a:rPr lang="ko-KR" altLang="en-US" dirty="0">
                <a:effectLst/>
              </a:rPr>
              <a:t> </a:t>
            </a:r>
            <a:r>
              <a:rPr lang="en-US" altLang="ko-KR" dirty="0">
                <a:effectLst/>
              </a:rPr>
              <a:t>10</a:t>
            </a:r>
            <a:r>
              <a:rPr lang="ko-KR" altLang="en-US" dirty="0">
                <a:effectLst/>
              </a:rPr>
              <a:t>억 원 내에서 환 변동 리스크를 가져갈 수 있고</a:t>
            </a:r>
            <a:r>
              <a:rPr lang="en-US" altLang="ko-KR" dirty="0">
                <a:effectLst/>
              </a:rPr>
              <a:t>, </a:t>
            </a:r>
            <a:r>
              <a:rPr lang="ko-KR" altLang="en-US" dirty="0">
                <a:effectLst/>
              </a:rPr>
              <a:t>비중의 변동에 따라 </a:t>
            </a:r>
            <a:r>
              <a:rPr lang="ko-KR" altLang="en-US" dirty="0" err="1">
                <a:effectLst/>
              </a:rPr>
              <a:t>환노출</a:t>
            </a:r>
            <a:r>
              <a:rPr lang="ko-KR" altLang="en-US" dirty="0">
                <a:effectLst/>
              </a:rPr>
              <a:t> 위험은 보시는 바와 같습니다</a:t>
            </a:r>
            <a:r>
              <a:rPr lang="en-US" altLang="ko-KR" dirty="0">
                <a:effectLst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416CD4-03C6-46C7-042F-970429BC2A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394833-C39C-4FB9-B724-4C6534D257D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76305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앞서 보신 자료에 따라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초과분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처리 방안을 의결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요청드립니다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Target </a:t>
            </a:r>
            <a:r>
              <a:rPr lang="en-US" altLang="ko-KR" sz="1200" b="0" i="0" kern="12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+mn-lt"/>
                <a:ea typeface="+mn-ea"/>
                <a:cs typeface="+mn-cs"/>
              </a:rPr>
              <a:t>Band</a:t>
            </a:r>
            <a:r>
              <a:rPr lang="en-US" altLang="ko-KR" sz="12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상단인 </a:t>
            </a:r>
            <a:r>
              <a:rPr lang="en-US" altLang="ko-KR" sz="12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25%</a:t>
            </a:r>
            <a:r>
              <a:rPr lang="ko-KR" altLang="en-US" sz="12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를 초과할 경우</a:t>
            </a:r>
            <a:r>
              <a:rPr lang="en-US" altLang="ko-KR" sz="12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초과분의 </a:t>
            </a:r>
            <a:r>
              <a:rPr lang="en-US" altLang="ko-KR" sz="12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50%</a:t>
            </a:r>
            <a:r>
              <a:rPr lang="ko-KR" altLang="en-US" sz="12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Option A(</a:t>
            </a:r>
            <a:r>
              <a:rPr lang="ko-KR" altLang="en-US" sz="12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월 분할 환전</a:t>
            </a:r>
            <a:r>
              <a:rPr lang="en-US" altLang="ko-KR" sz="12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, Spot)</a:t>
            </a:r>
            <a:r>
              <a:rPr lang="ko-KR" altLang="en-US" sz="12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를 통해 즉시 원화 유동성을 확보하고</a:t>
            </a:r>
            <a:r>
              <a:rPr lang="en-US" altLang="ko-KR" sz="12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나머지는 </a:t>
            </a:r>
            <a:r>
              <a:rPr lang="en-US" altLang="ko-KR" sz="12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Option B(</a:t>
            </a:r>
            <a:r>
              <a:rPr lang="ko-KR" altLang="en-US" sz="12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선물환 롤링</a:t>
            </a:r>
            <a:r>
              <a:rPr lang="en-US" altLang="ko-KR" sz="12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을 통해 환율 하락을 방어하며 포지션을 </a:t>
            </a:r>
            <a:r>
              <a:rPr lang="ko-KR" altLang="en-US" sz="1200" b="0" i="0" kern="1200" dirty="0" err="1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이연하는</a:t>
            </a:r>
            <a:r>
              <a:rPr lang="ko-KR" altLang="en-US" sz="12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 **혼합 전략</a:t>
            </a:r>
            <a:r>
              <a:rPr lang="en-US" altLang="ko-KR" sz="12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(Hybrid)**</a:t>
            </a:r>
            <a:r>
              <a:rPr lang="ko-KR" altLang="en-US" sz="12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을 실행하겠습니다</a:t>
            </a:r>
            <a:r>
              <a:rPr lang="en-US" altLang="ko-KR" sz="12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운용 상품은 달러</a:t>
            </a:r>
            <a:r>
              <a:rPr lang="en-US" altLang="ko-KR" sz="12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유로 </a:t>
            </a:r>
            <a:r>
              <a:rPr lang="en-US" altLang="ko-KR" sz="12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MMDA </a:t>
            </a:r>
            <a:r>
              <a:rPr lang="ko-KR" altLang="en-US" sz="12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및 </a:t>
            </a:r>
            <a:r>
              <a:rPr lang="en-US" altLang="ko-KR" sz="12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ko-KR" altLang="en-US" sz="12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개월 이하 정기예금 위주로 운용하여 유동성을 확보하겠습니다</a:t>
            </a:r>
            <a:r>
              <a:rPr lang="en-US" altLang="ko-KR" sz="12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마지막으로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메디아나의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투자 자산 리스크입니다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보유 중인 국채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원금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억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현재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-14%(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약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억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평가손실이 발생했습니다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초장기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채권이라 금리 민감도가 매우 높아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10bp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상승 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억 원의 추가 손실이 예상됩니다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국채의 경우 안전자산으로 분류되곤 하지만 이는 단기채의 경우에 해당 하며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장기국채의 경우 다른 성격의 자산으로 구분됩니다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장기국채의 경우 금리 뿐만 아니라 대내외 이슈에 따라 시장가치의 등락이 매우 큰 성격이며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만기가 장기이기 때문에 원금보전은 실질적으로 의미 없는 상품으로 볼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우리 모두 이번 국채 투자를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Treasury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취지에 따른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Plain Vanilla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전략이 얼마나 중요한지에 대한 교훈으로 삼아야 한다는 말씀을 드리며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투자한 국채의 변동성에 대해 향후 어떻게 대응할 것인지 판단하기 위해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UP&amp;DOWN SIDE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이벤트를 정리해봤습니다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업사이드 이벤트로는 실질적 금리 인하를 기대할 수 있는 요소들이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상반기 내 또는 후에 금리인하 가능성이 있는 이벤트들이 있고요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월에는 한국 국채가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세계국채지수에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편입되는 이벤트가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b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다운사이드 이벤트로는 현재 정부에서 소비쿠폰 등 현금 유동성을 시장에 풀고 있고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이에 따른 물가상승 효과로 금리인하에 대한 단행이 어려운 상황과 재원 마련을 위한 추가적인 국채발행 가능성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미국 관세이슈로 인한 스태그플레이션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일본 엔 캐리 청산 움직임에 따른 세계시장 변동성 등이 국채 시장 변동의 예측가능성을 어렵게 하고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복잡 미묘한 상황에서 위에 있는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UP&amp;DOWN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사이트 이벤트를 예의주시하며 국채 운용에 있어 몇가지 안을 가져가는 의사결정을 하고자 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1)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보유기간만기 자체적 확정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예를들어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국채 가입시점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년이 도래하는 기간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마침 미국과 한국의 금리인하 등이 진행되는 이벤트가 있을 수 있으니 해당 시점까지 무조건 갖고 가다가 시장에 매각하는 형태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2)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트리거 기반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리스크관리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손실 구간을 기준으로 하여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-18%, -20%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도달시의 액션플랜을 정하여 해당 구간에서 기계적으로 처분하여 일부 손실규모 확정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일부 보유 유지로 향후 상승에 따른 수익확보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3)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 손실시점에서 추가 매입 단행하여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평단가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낮추고 향후 변동성에 따라 대응 플랜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재논의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6EBD4-05CE-DC06-7DBD-C503458A0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32864C-2F31-E06E-9CEE-70738FC5DA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6DAA47-D19D-6097-5AC9-2A6117570F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이제 회의를 시작하겠습니다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본 회의는 오늘 회의는 상반기 자금운용 방향성을 결정하는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정책회의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(Official Policy Meeting)'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성격으로 진행됩니다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F00A2-D27D-F7B6-5D5D-0D8FE918C2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8004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이제 개별 안건으로 들어가겠습니다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셀바스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차입금 현황입니다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현재시점 보유자금은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억 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차입금은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148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억 원이며 전액 변동금리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(Avg 3.45%)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 차입금의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68%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 약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억 원의 만기가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2026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월에서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 사이에 집중되어 있으며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현재까지 만기연장과 관련된 이슈는 별도로 존재하지 않았습니다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자금 유동성과 관련하여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2025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년을 포함하여 최근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 간 계속기업 판단 이슈가 외부감사시 지속적으로 부각되고 있으며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2026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 마이너스 사업계획 등 회사의 영업현금흐름의 악화가 지속된다면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유동성 이슈를 해결할 수 있는 실질적 조치가 필수적으로 실행되어야 할 것입니다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지배구조 개선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교환사채 발행 등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3292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차입금만으로 돌아와 현재 차입금 구조상 금융기관에 집중되어 있는 부분을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메디아나의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유휴 자금을 활용하는 방안을 구상했습니다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OptionA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메디아나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예금을 담보로 대출을 받아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지원하는 방식으로 기존 신용대출 대비 이자율을 떨어뜨릴 수 있을 것으로 보고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기존 신용대출을 담보대출로 전환함에 따라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기업 신용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실적 및 금융정책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변동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따른 만기연장 리스크를 탈피할 수 있을 것으로 보입니다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옵션은 다소 복잡한 행정적 절차 등이 수반되어야 할 것으로 보입니다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OptionB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그룹사간 자금을 대여하는 것으로 이사회 등의 절차를 통해 대환을 진행하는 것이 가능합니다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세무 및 배임이슈가 발생할 수 있으며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이에 따른 검토가 수반되어야 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OptionC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적절히 혼합한 방식으로 기존 대출 중 건물 담보대출의 경우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메디아나가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담보권을 제공받아 대환대출을 진행하고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228600" indent="-228600">
              <a:buAutoNum type="arabicParenR"/>
            </a:pP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신용대출의 경우 기존 은행의 대출의 만기를 연장해가는 방식 또는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2)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OptionA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건물담보대출과 혼합하여 진행함으로 관련 이자 전액이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메디아나로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흘러들어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갈 수 있도록 조치하는 것입니다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228600" indent="-228600">
              <a:buAutoNum type="arabicParenR"/>
            </a:pP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 옵션에 따라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차입금 운용과 관련된 정책을 이 자리에서 논의하고 결정하고자 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1050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2942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2896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3270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540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 화면_화이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E20C125-FC20-172D-ABF1-F74AA3924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24234-D073-6E40-B945-6CE92DDC6914}" type="datetimeFigureOut">
              <a:rPr kumimoji="1" lang="ko-KR" altLang="en-US" smtClean="0"/>
              <a:t>2026-01-30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F436621-8C78-343D-984B-6E9BE8102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631217-297D-5C79-E21C-28A9CACE8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62D3-24AA-8A46-A128-6107015A6A37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C5E67D1-1977-B3C5-045F-87779D78BA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31971" y="419725"/>
            <a:ext cx="1237922" cy="218080"/>
          </a:xfrm>
          <a:prstGeom prst="rect">
            <a:avLst/>
          </a:prstGeom>
        </p:spPr>
      </p:pic>
      <p:cxnSp>
        <p:nvCxnSpPr>
          <p:cNvPr id="16" name="직선 연결선[R] 15">
            <a:extLst>
              <a:ext uri="{FF2B5EF4-FFF2-40B4-BE49-F238E27FC236}">
                <a16:creationId xmlns:a16="http://schemas.microsoft.com/office/drawing/2014/main" id="{38D2456A-1B58-0AD7-8DCE-076B1992C045}"/>
              </a:ext>
            </a:extLst>
          </p:cNvPr>
          <p:cNvCxnSpPr/>
          <p:nvPr userDrawn="1"/>
        </p:nvCxnSpPr>
        <p:spPr>
          <a:xfrm>
            <a:off x="-568411" y="889897"/>
            <a:ext cx="13468865" cy="0"/>
          </a:xfrm>
          <a:prstGeom prst="line">
            <a:avLst/>
          </a:prstGeom>
          <a:ln w="762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텍스트 개체 틀 10">
            <a:extLst>
              <a:ext uri="{FF2B5EF4-FFF2-40B4-BE49-F238E27FC236}">
                <a16:creationId xmlns:a16="http://schemas.microsoft.com/office/drawing/2014/main" id="{E1685284-40AF-0FAF-A469-711931FD01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9903" y="152277"/>
            <a:ext cx="9631662" cy="225409"/>
          </a:xfrm>
        </p:spPr>
        <p:txBody>
          <a:bodyPr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kumimoji="1" lang="ko-KR" altLang="en-US" sz="1200" b="0" i="0" kern="1200" dirty="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j-cs"/>
              </a:defRPr>
            </a:lvl1pPr>
          </a:lstStyle>
          <a:p>
            <a:pPr lvl="0"/>
            <a:r>
              <a:rPr kumimoji="1" lang="en-US" altLang="ko-KR"/>
              <a:t>Text</a:t>
            </a:r>
            <a:endParaRPr kumimoji="1" lang="ko-KR" altLang="en-US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EB8EA50D-BF75-D052-8E35-341224F54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903" y="377686"/>
            <a:ext cx="9631662" cy="458236"/>
          </a:xfrm>
        </p:spPr>
        <p:txBody>
          <a:bodyPr>
            <a:normAutofit/>
          </a:bodyPr>
          <a:lstStyle>
            <a:lvl1pPr>
              <a:defRPr sz="2400" b="1" i="0">
                <a:solidFill>
                  <a:schemeClr val="tx1"/>
                </a:solidFill>
                <a:latin typeface="Freesentation 7 Bold" pitchFamily="2" charset="-127"/>
                <a:ea typeface="Freesentation 7 Bold" pitchFamily="2" charset="-127"/>
              </a:defRPr>
            </a:lvl1pPr>
          </a:lstStyle>
          <a:p>
            <a:r>
              <a:rPr kumimoji="1" lang="en-US" altLang="ko-KR"/>
              <a:t>Title</a:t>
            </a:r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708048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image" Target="../media/image18.png"/><Relationship Id="rId21" Type="http://schemas.openxmlformats.org/officeDocument/2006/relationships/image" Target="../media/image36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23" Type="http://schemas.openxmlformats.org/officeDocument/2006/relationships/image" Target="../media/image38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26" Type="http://schemas.openxmlformats.org/officeDocument/2006/relationships/image" Target="../media/image62.png"/><Relationship Id="rId3" Type="http://schemas.openxmlformats.org/officeDocument/2006/relationships/image" Target="../media/image39.png"/><Relationship Id="rId21" Type="http://schemas.openxmlformats.org/officeDocument/2006/relationships/image" Target="../media/image57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5" Type="http://schemas.openxmlformats.org/officeDocument/2006/relationships/image" Target="../media/image61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2.png"/><Relationship Id="rId20" Type="http://schemas.openxmlformats.org/officeDocument/2006/relationships/image" Target="../media/image56.png"/><Relationship Id="rId29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24" Type="http://schemas.openxmlformats.org/officeDocument/2006/relationships/image" Target="../media/image60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23" Type="http://schemas.openxmlformats.org/officeDocument/2006/relationships/image" Target="../media/image59.png"/><Relationship Id="rId28" Type="http://schemas.openxmlformats.org/officeDocument/2006/relationships/image" Target="../media/image64.png"/><Relationship Id="rId10" Type="http://schemas.openxmlformats.org/officeDocument/2006/relationships/image" Target="../media/image46.png"/><Relationship Id="rId19" Type="http://schemas.openxmlformats.org/officeDocument/2006/relationships/image" Target="../media/image55.png"/><Relationship Id="rId31" Type="http://schemas.openxmlformats.org/officeDocument/2006/relationships/image" Target="../media/image67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Relationship Id="rId22" Type="http://schemas.openxmlformats.org/officeDocument/2006/relationships/image" Target="../media/image58.png"/><Relationship Id="rId27" Type="http://schemas.openxmlformats.org/officeDocument/2006/relationships/image" Target="../media/image63.png"/><Relationship Id="rId30" Type="http://schemas.openxmlformats.org/officeDocument/2006/relationships/image" Target="../media/image6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12" Type="http://schemas.openxmlformats.org/officeDocument/2006/relationships/image" Target="../media/image7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Relationship Id="rId14" Type="http://schemas.openxmlformats.org/officeDocument/2006/relationships/image" Target="../media/image7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image" Target="../media/image25.png"/><Relationship Id="rId18" Type="http://schemas.openxmlformats.org/officeDocument/2006/relationships/image" Target="../media/image93.png"/><Relationship Id="rId26" Type="http://schemas.openxmlformats.org/officeDocument/2006/relationships/image" Target="../media/image100.png"/><Relationship Id="rId3" Type="http://schemas.openxmlformats.org/officeDocument/2006/relationships/image" Target="../media/image80.png"/><Relationship Id="rId21" Type="http://schemas.openxmlformats.org/officeDocument/2006/relationships/image" Target="../media/image96.png"/><Relationship Id="rId7" Type="http://schemas.openxmlformats.org/officeDocument/2006/relationships/image" Target="../media/image83.png"/><Relationship Id="rId12" Type="http://schemas.openxmlformats.org/officeDocument/2006/relationships/image" Target="../media/image88.png"/><Relationship Id="rId17" Type="http://schemas.openxmlformats.org/officeDocument/2006/relationships/image" Target="../media/image92.png"/><Relationship Id="rId25" Type="http://schemas.openxmlformats.org/officeDocument/2006/relationships/image" Target="../media/image7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91.png"/><Relationship Id="rId20" Type="http://schemas.openxmlformats.org/officeDocument/2006/relationships/image" Target="../media/image9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11" Type="http://schemas.openxmlformats.org/officeDocument/2006/relationships/image" Target="../media/image87.png"/><Relationship Id="rId24" Type="http://schemas.openxmlformats.org/officeDocument/2006/relationships/image" Target="../media/image99.png"/><Relationship Id="rId5" Type="http://schemas.openxmlformats.org/officeDocument/2006/relationships/image" Target="../media/image81.png"/><Relationship Id="rId15" Type="http://schemas.openxmlformats.org/officeDocument/2006/relationships/image" Target="../media/image90.png"/><Relationship Id="rId23" Type="http://schemas.openxmlformats.org/officeDocument/2006/relationships/image" Target="../media/image98.png"/><Relationship Id="rId10" Type="http://schemas.openxmlformats.org/officeDocument/2006/relationships/image" Target="../media/image86.png"/><Relationship Id="rId19" Type="http://schemas.openxmlformats.org/officeDocument/2006/relationships/image" Target="../media/image94.png"/><Relationship Id="rId4" Type="http://schemas.openxmlformats.org/officeDocument/2006/relationships/image" Target="../media/image69.png"/><Relationship Id="rId9" Type="http://schemas.openxmlformats.org/officeDocument/2006/relationships/image" Target="../media/image85.png"/><Relationship Id="rId14" Type="http://schemas.openxmlformats.org/officeDocument/2006/relationships/image" Target="../media/image89.png"/><Relationship Id="rId22" Type="http://schemas.openxmlformats.org/officeDocument/2006/relationships/image" Target="../media/image97.png"/><Relationship Id="rId27" Type="http://schemas.openxmlformats.org/officeDocument/2006/relationships/image" Target="../media/image10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13" Type="http://schemas.openxmlformats.org/officeDocument/2006/relationships/image" Target="../media/image112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12" Type="http://schemas.openxmlformats.org/officeDocument/2006/relationships/image" Target="../media/image1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5.png"/><Relationship Id="rId11" Type="http://schemas.openxmlformats.org/officeDocument/2006/relationships/image" Target="../media/image110.png"/><Relationship Id="rId5" Type="http://schemas.openxmlformats.org/officeDocument/2006/relationships/image" Target="../media/image104.png"/><Relationship Id="rId15" Type="http://schemas.openxmlformats.org/officeDocument/2006/relationships/image" Target="../media/image43.png"/><Relationship Id="rId10" Type="http://schemas.openxmlformats.org/officeDocument/2006/relationships/image" Target="../media/image109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Relationship Id="rId14" Type="http://schemas.openxmlformats.org/officeDocument/2006/relationships/image" Target="../media/image1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13" Type="http://schemas.openxmlformats.org/officeDocument/2006/relationships/image" Target="../media/image124.png"/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12" Type="http://schemas.openxmlformats.org/officeDocument/2006/relationships/image" Target="../media/image123.png"/><Relationship Id="rId17" Type="http://schemas.openxmlformats.org/officeDocument/2006/relationships/image" Target="../media/image128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7.png"/><Relationship Id="rId11" Type="http://schemas.openxmlformats.org/officeDocument/2006/relationships/image" Target="../media/image122.png"/><Relationship Id="rId5" Type="http://schemas.openxmlformats.org/officeDocument/2006/relationships/image" Target="../media/image116.png"/><Relationship Id="rId15" Type="http://schemas.openxmlformats.org/officeDocument/2006/relationships/image" Target="../media/image126.png"/><Relationship Id="rId10" Type="http://schemas.openxmlformats.org/officeDocument/2006/relationships/image" Target="../media/image121.png"/><Relationship Id="rId4" Type="http://schemas.openxmlformats.org/officeDocument/2006/relationships/image" Target="../media/image115.png"/><Relationship Id="rId9" Type="http://schemas.openxmlformats.org/officeDocument/2006/relationships/image" Target="../media/image120.png"/><Relationship Id="rId14" Type="http://schemas.openxmlformats.org/officeDocument/2006/relationships/image" Target="../media/image12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3" Type="http://schemas.openxmlformats.org/officeDocument/2006/relationships/image" Target="../media/image129.png"/><Relationship Id="rId7" Type="http://schemas.openxmlformats.org/officeDocument/2006/relationships/image" Target="../media/image133.png"/><Relationship Id="rId12" Type="http://schemas.openxmlformats.org/officeDocument/2006/relationships/image" Target="../media/image1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2.png"/><Relationship Id="rId11" Type="http://schemas.openxmlformats.org/officeDocument/2006/relationships/image" Target="../media/image137.png"/><Relationship Id="rId5" Type="http://schemas.openxmlformats.org/officeDocument/2006/relationships/image" Target="../media/image131.png"/><Relationship Id="rId10" Type="http://schemas.openxmlformats.org/officeDocument/2006/relationships/image" Target="../media/image136.png"/><Relationship Id="rId4" Type="http://schemas.openxmlformats.org/officeDocument/2006/relationships/image" Target="../media/image130.png"/><Relationship Id="rId9" Type="http://schemas.openxmlformats.org/officeDocument/2006/relationships/image" Target="../media/image1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13" Type="http://schemas.openxmlformats.org/officeDocument/2006/relationships/image" Target="../media/image43.png"/><Relationship Id="rId18" Type="http://schemas.openxmlformats.org/officeDocument/2006/relationships/image" Target="../media/image153.png"/><Relationship Id="rId3" Type="http://schemas.openxmlformats.org/officeDocument/2006/relationships/image" Target="../media/image139.png"/><Relationship Id="rId7" Type="http://schemas.openxmlformats.org/officeDocument/2006/relationships/image" Target="../media/image143.png"/><Relationship Id="rId12" Type="http://schemas.openxmlformats.org/officeDocument/2006/relationships/image" Target="../media/image148.png"/><Relationship Id="rId17" Type="http://schemas.openxmlformats.org/officeDocument/2006/relationships/image" Target="../media/image152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51.png"/><Relationship Id="rId20" Type="http://schemas.openxmlformats.org/officeDocument/2006/relationships/image" Target="../media/image15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2.png"/><Relationship Id="rId11" Type="http://schemas.openxmlformats.org/officeDocument/2006/relationships/image" Target="../media/image147.png"/><Relationship Id="rId5" Type="http://schemas.openxmlformats.org/officeDocument/2006/relationships/image" Target="../media/image141.png"/><Relationship Id="rId15" Type="http://schemas.openxmlformats.org/officeDocument/2006/relationships/image" Target="../media/image150.png"/><Relationship Id="rId10" Type="http://schemas.openxmlformats.org/officeDocument/2006/relationships/image" Target="../media/image146.png"/><Relationship Id="rId19" Type="http://schemas.openxmlformats.org/officeDocument/2006/relationships/image" Target="../media/image154.png"/><Relationship Id="rId4" Type="http://schemas.openxmlformats.org/officeDocument/2006/relationships/image" Target="../media/image140.png"/><Relationship Id="rId9" Type="http://schemas.openxmlformats.org/officeDocument/2006/relationships/image" Target="../media/image145.png"/><Relationship Id="rId14" Type="http://schemas.openxmlformats.org/officeDocument/2006/relationships/image" Target="../media/image14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png"/><Relationship Id="rId13" Type="http://schemas.openxmlformats.org/officeDocument/2006/relationships/image" Target="../media/image166.png"/><Relationship Id="rId18" Type="http://schemas.openxmlformats.org/officeDocument/2006/relationships/image" Target="../media/image171.png"/><Relationship Id="rId3" Type="http://schemas.openxmlformats.org/officeDocument/2006/relationships/image" Target="../media/image156.png"/><Relationship Id="rId21" Type="http://schemas.openxmlformats.org/officeDocument/2006/relationships/image" Target="../media/image174.png"/><Relationship Id="rId7" Type="http://schemas.openxmlformats.org/officeDocument/2006/relationships/image" Target="../media/image160.png"/><Relationship Id="rId12" Type="http://schemas.openxmlformats.org/officeDocument/2006/relationships/image" Target="../media/image165.png"/><Relationship Id="rId17" Type="http://schemas.openxmlformats.org/officeDocument/2006/relationships/image" Target="../media/image170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69.png"/><Relationship Id="rId20" Type="http://schemas.openxmlformats.org/officeDocument/2006/relationships/image" Target="../media/image1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9.png"/><Relationship Id="rId11" Type="http://schemas.openxmlformats.org/officeDocument/2006/relationships/image" Target="../media/image164.png"/><Relationship Id="rId5" Type="http://schemas.openxmlformats.org/officeDocument/2006/relationships/image" Target="../media/image158.png"/><Relationship Id="rId15" Type="http://schemas.openxmlformats.org/officeDocument/2006/relationships/image" Target="../media/image168.png"/><Relationship Id="rId10" Type="http://schemas.openxmlformats.org/officeDocument/2006/relationships/image" Target="../media/image163.png"/><Relationship Id="rId19" Type="http://schemas.openxmlformats.org/officeDocument/2006/relationships/image" Target="../media/image172.png"/><Relationship Id="rId4" Type="http://schemas.openxmlformats.org/officeDocument/2006/relationships/image" Target="../media/image157.png"/><Relationship Id="rId9" Type="http://schemas.openxmlformats.org/officeDocument/2006/relationships/image" Target="../media/image162.png"/><Relationship Id="rId14" Type="http://schemas.openxmlformats.org/officeDocument/2006/relationships/image" Target="../media/image167.png"/><Relationship Id="rId22" Type="http://schemas.openxmlformats.org/officeDocument/2006/relationships/image" Target="../media/image13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13" Type="http://schemas.openxmlformats.org/officeDocument/2006/relationships/image" Target="../media/image185.png"/><Relationship Id="rId3" Type="http://schemas.openxmlformats.org/officeDocument/2006/relationships/image" Target="../media/image175.png"/><Relationship Id="rId7" Type="http://schemas.openxmlformats.org/officeDocument/2006/relationships/image" Target="../media/image179.png"/><Relationship Id="rId12" Type="http://schemas.openxmlformats.org/officeDocument/2006/relationships/image" Target="../media/image18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8.png"/><Relationship Id="rId11" Type="http://schemas.openxmlformats.org/officeDocument/2006/relationships/image" Target="../media/image183.png"/><Relationship Id="rId5" Type="http://schemas.openxmlformats.org/officeDocument/2006/relationships/image" Target="../media/image177.png"/><Relationship Id="rId10" Type="http://schemas.openxmlformats.org/officeDocument/2006/relationships/image" Target="../media/image182.png"/><Relationship Id="rId4" Type="http://schemas.openxmlformats.org/officeDocument/2006/relationships/image" Target="../media/image176.png"/><Relationship Id="rId9" Type="http://schemas.openxmlformats.org/officeDocument/2006/relationships/image" Target="../media/image181.png"/><Relationship Id="rId14" Type="http://schemas.openxmlformats.org/officeDocument/2006/relationships/image" Target="../media/image18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0.png"/><Relationship Id="rId5" Type="http://schemas.openxmlformats.org/officeDocument/2006/relationships/image" Target="../media/image189.png"/><Relationship Id="rId4" Type="http://schemas.openxmlformats.org/officeDocument/2006/relationships/image" Target="../media/image18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png"/><Relationship Id="rId13" Type="http://schemas.openxmlformats.org/officeDocument/2006/relationships/image" Target="../media/image25.png"/><Relationship Id="rId18" Type="http://schemas.openxmlformats.org/officeDocument/2006/relationships/image" Target="../media/image203.png"/><Relationship Id="rId3" Type="http://schemas.openxmlformats.org/officeDocument/2006/relationships/image" Target="../media/image191.png"/><Relationship Id="rId21" Type="http://schemas.openxmlformats.org/officeDocument/2006/relationships/image" Target="../media/image206.png"/><Relationship Id="rId7" Type="http://schemas.openxmlformats.org/officeDocument/2006/relationships/image" Target="../media/image195.png"/><Relationship Id="rId12" Type="http://schemas.openxmlformats.org/officeDocument/2006/relationships/image" Target="../media/image200.png"/><Relationship Id="rId17" Type="http://schemas.openxmlformats.org/officeDocument/2006/relationships/image" Target="../media/image119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202.png"/><Relationship Id="rId20" Type="http://schemas.openxmlformats.org/officeDocument/2006/relationships/image" Target="../media/image20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4.png"/><Relationship Id="rId11" Type="http://schemas.openxmlformats.org/officeDocument/2006/relationships/image" Target="../media/image199.png"/><Relationship Id="rId24" Type="http://schemas.openxmlformats.org/officeDocument/2006/relationships/image" Target="../media/image209.png"/><Relationship Id="rId5" Type="http://schemas.openxmlformats.org/officeDocument/2006/relationships/image" Target="../media/image193.png"/><Relationship Id="rId15" Type="http://schemas.openxmlformats.org/officeDocument/2006/relationships/image" Target="../media/image201.png"/><Relationship Id="rId23" Type="http://schemas.openxmlformats.org/officeDocument/2006/relationships/image" Target="../media/image208.png"/><Relationship Id="rId10" Type="http://schemas.openxmlformats.org/officeDocument/2006/relationships/image" Target="../media/image198.png"/><Relationship Id="rId19" Type="http://schemas.openxmlformats.org/officeDocument/2006/relationships/image" Target="../media/image204.png"/><Relationship Id="rId4" Type="http://schemas.openxmlformats.org/officeDocument/2006/relationships/image" Target="../media/image192.png"/><Relationship Id="rId9" Type="http://schemas.openxmlformats.org/officeDocument/2006/relationships/image" Target="../media/image197.png"/><Relationship Id="rId14" Type="http://schemas.openxmlformats.org/officeDocument/2006/relationships/image" Target="../media/image89.png"/><Relationship Id="rId22" Type="http://schemas.openxmlformats.org/officeDocument/2006/relationships/image" Target="../media/image20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png"/><Relationship Id="rId13" Type="http://schemas.openxmlformats.org/officeDocument/2006/relationships/image" Target="../media/image220.png"/><Relationship Id="rId18" Type="http://schemas.openxmlformats.org/officeDocument/2006/relationships/image" Target="../media/image225.png"/><Relationship Id="rId3" Type="http://schemas.openxmlformats.org/officeDocument/2006/relationships/image" Target="../media/image210.png"/><Relationship Id="rId21" Type="http://schemas.openxmlformats.org/officeDocument/2006/relationships/image" Target="../media/image228.png"/><Relationship Id="rId7" Type="http://schemas.openxmlformats.org/officeDocument/2006/relationships/image" Target="../media/image214.png"/><Relationship Id="rId12" Type="http://schemas.openxmlformats.org/officeDocument/2006/relationships/image" Target="../media/image219.png"/><Relationship Id="rId17" Type="http://schemas.openxmlformats.org/officeDocument/2006/relationships/image" Target="../media/image224.png"/><Relationship Id="rId25" Type="http://schemas.openxmlformats.org/officeDocument/2006/relationships/image" Target="../media/image232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223.png"/><Relationship Id="rId20" Type="http://schemas.openxmlformats.org/officeDocument/2006/relationships/image" Target="../media/image2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3.png"/><Relationship Id="rId11" Type="http://schemas.openxmlformats.org/officeDocument/2006/relationships/image" Target="../media/image218.png"/><Relationship Id="rId24" Type="http://schemas.openxmlformats.org/officeDocument/2006/relationships/image" Target="../media/image231.png"/><Relationship Id="rId5" Type="http://schemas.openxmlformats.org/officeDocument/2006/relationships/image" Target="../media/image212.png"/><Relationship Id="rId15" Type="http://schemas.openxmlformats.org/officeDocument/2006/relationships/image" Target="../media/image222.png"/><Relationship Id="rId23" Type="http://schemas.openxmlformats.org/officeDocument/2006/relationships/image" Target="../media/image230.png"/><Relationship Id="rId10" Type="http://schemas.openxmlformats.org/officeDocument/2006/relationships/image" Target="../media/image217.png"/><Relationship Id="rId19" Type="http://schemas.openxmlformats.org/officeDocument/2006/relationships/image" Target="../media/image226.png"/><Relationship Id="rId4" Type="http://schemas.openxmlformats.org/officeDocument/2006/relationships/image" Target="../media/image211.png"/><Relationship Id="rId9" Type="http://schemas.openxmlformats.org/officeDocument/2006/relationships/image" Target="../media/image216.png"/><Relationship Id="rId14" Type="http://schemas.openxmlformats.org/officeDocument/2006/relationships/image" Target="../media/image221.png"/><Relationship Id="rId22" Type="http://schemas.openxmlformats.org/officeDocument/2006/relationships/image" Target="../media/image2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559345" y="0"/>
            <a:ext cx="4638751" cy="6858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520940" y="0"/>
            <a:ext cx="38405" cy="6858000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66628" y="704175"/>
            <a:ext cx="17245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SELVAS GROUP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66628" y="932775"/>
            <a:ext cx="17245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5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TREASURY COMMITTEE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9873691" y="705002"/>
            <a:ext cx="180959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6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– 01 -30 </a:t>
            </a:r>
            <a:endParaRPr lang="en-US" sz="1000" b="1" dirty="0"/>
          </a:p>
        </p:txBody>
      </p:sp>
      <p:sp>
        <p:nvSpPr>
          <p:cNvPr id="10" name="Shape 7"/>
          <p:cNvSpPr/>
          <p:nvPr/>
        </p:nvSpPr>
        <p:spPr>
          <a:xfrm>
            <a:off x="761695" y="5495544"/>
            <a:ext cx="1066830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761695" y="5734202"/>
            <a:ext cx="65535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AGENDA OVERVIEW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61695" y="6067044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95198" y="6001207"/>
            <a:ext cx="1714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차입금 관리 &amp; 리파이낸싱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625242" y="6067044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2758745" y="6001207"/>
            <a:ext cx="1564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FX Target Band &amp; 운용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375404" y="6067044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4508906" y="6001207"/>
            <a:ext cx="14758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FVPL 국채 리스크관리</a:t>
            </a:r>
            <a:endParaRPr lang="en-US" sz="10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3"/>
          <a:srcRect t="-89" b="-89"/>
          <a:stretch/>
        </p:blipFill>
        <p:spPr>
          <a:xfrm>
            <a:off x="9714664" y="5931144"/>
            <a:ext cx="1790395" cy="286207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9690811" y="6032548"/>
            <a:ext cx="1619402" cy="10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STRICTLY CONFIDENTIAL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761695" y="1333195"/>
            <a:ext cx="457200" cy="19202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0"/>
          <p:cNvSpPr txBox="1"/>
          <p:nvPr/>
        </p:nvSpPr>
        <p:spPr>
          <a:xfrm>
            <a:off x="1295705" y="1248156"/>
            <a:ext cx="227777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Official Policy Meeting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761695" y="1666951"/>
            <a:ext cx="992581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그룹</a:t>
            </a:r>
            <a:r>
              <a:rPr lang="en-US" sz="5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자금운용위원회</a:t>
            </a:r>
            <a:endParaRPr lang="en-US" sz="5400" dirty="0"/>
          </a:p>
          <a:p>
            <a:pPr marL="0" indent="0" algn="l">
              <a:buNone/>
            </a:pPr>
            <a:r>
              <a:rPr lang="en-US" sz="54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정책회의</a:t>
            </a:r>
            <a:endParaRPr lang="en-US" sz="54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4"/>
          <a:srcRect t="-6" b="-6"/>
          <a:stretch/>
        </p:blipFill>
        <p:spPr>
          <a:xfrm>
            <a:off x="761695" y="3685946"/>
            <a:ext cx="5562295" cy="1324051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000354" y="3924605"/>
            <a:ext cx="52011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OBJECTIVE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1000354" y="4153205"/>
            <a:ext cx="516270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500" b="1" dirty="0" err="1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셀바스</a:t>
            </a:r>
            <a:r>
              <a:rPr lang="en-US" sz="1500" b="1" dirty="0" err="1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그룹</a:t>
            </a:r>
            <a:r>
              <a:rPr lang="en-US" sz="1500" b="1" dirty="0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b="1" dirty="0" err="1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</a:t>
            </a:r>
            <a:r>
              <a:rPr lang="en-US" sz="1500" b="1" dirty="0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b="1" dirty="0" err="1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자금운용</a:t>
            </a:r>
            <a:r>
              <a:rPr lang="en-US" sz="1500" b="1" dirty="0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b="1" dirty="0" err="1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규정</a:t>
            </a:r>
            <a:r>
              <a:rPr lang="en-US" sz="1500" b="1" dirty="0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b="1" dirty="0" err="1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</a:t>
            </a:r>
            <a:r>
              <a:rPr lang="en-US" sz="1500" b="1" dirty="0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</a:t>
            </a:r>
            <a:endParaRPr lang="en-US" sz="1500" b="1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b="1" dirty="0" err="1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</a:t>
            </a:r>
            <a:r>
              <a:rPr lang="en-US" sz="1500" b="1" dirty="0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b="1" dirty="0" err="1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안건</a:t>
            </a:r>
            <a:r>
              <a:rPr lang="en-US" sz="1500" b="1" dirty="0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en-US" sz="1500" b="1" dirty="0" err="1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차입·FX·투자·매각</a:t>
            </a:r>
            <a:r>
              <a:rPr lang="en-US" sz="1500" b="1" dirty="0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 </a:t>
            </a:r>
            <a:r>
              <a:rPr lang="en-US" sz="1500" b="1" dirty="0" err="1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의결</a:t>
            </a:r>
            <a:r>
              <a:rPr lang="en-US" sz="1500" b="1" dirty="0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5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09905" y="381305"/>
            <a:ext cx="468812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회의 목적 및 의결 안건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09905" y="914400"/>
            <a:ext cx="457200" cy="38405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81405" y="838505"/>
            <a:ext cx="14767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5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Agenda Summary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-21" b="-21"/>
          <a:stretch/>
        </p:blipFill>
        <p:spPr>
          <a:xfrm>
            <a:off x="609905" y="1218895"/>
            <a:ext cx="10972800" cy="108630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09244" y="1495044"/>
            <a:ext cx="533095" cy="533095"/>
          </a:xfrm>
          <a:prstGeom prst="ellipse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61949" y="1647749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71854" y="1419149"/>
            <a:ext cx="44869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PRIMARY OBJECTIVE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1571854" y="1609344"/>
            <a:ext cx="49149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그룹 통합 자금운용 정책 수립 및 실행 로드맵 확정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571854" y="1914754"/>
            <a:ext cx="53117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자금 안정성 제고를 위한 규정 정비 및 당면 리스크(차입·FX·투자) 해소방안 의결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307324" y="1571854"/>
            <a:ext cx="9144" cy="381305"/>
          </a:xfrm>
          <a:prstGeom prst="rect">
            <a:avLst/>
          </a:prstGeom>
          <a:solidFill>
            <a:srgbClr val="4B556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 txBox="1"/>
          <p:nvPr/>
        </p:nvSpPr>
        <p:spPr>
          <a:xfrm>
            <a:off x="10610698" y="1514246"/>
            <a:ext cx="7717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r>
              <a:rPr lang="en-US" sz="10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10531145" y="1857146"/>
            <a:ext cx="8513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의결 안건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09905" y="6438519"/>
            <a:ext cx="10972800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 txBox="1"/>
          <p:nvPr/>
        </p:nvSpPr>
        <p:spPr>
          <a:xfrm>
            <a:off x="9417362" y="6610121"/>
            <a:ext cx="211759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Selvas Group Treasury Committee</a:t>
            </a:r>
            <a:endParaRPr lang="en-US" sz="900" dirty="0"/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CCDD6822-61CD-28EC-2EEB-805314960310}"/>
              </a:ext>
            </a:extLst>
          </p:cNvPr>
          <p:cNvGrpSpPr/>
          <p:nvPr/>
        </p:nvGrpSpPr>
        <p:grpSpPr>
          <a:xfrm>
            <a:off x="6171287" y="2392753"/>
            <a:ext cx="5391302" cy="1943100"/>
            <a:chOff x="609905" y="2495398"/>
            <a:chExt cx="5391302" cy="1943100"/>
          </a:xfrm>
        </p:grpSpPr>
        <p:pic>
          <p:nvPicPr>
            <p:cNvPr id="21" name="Image 2" descr="preencoded.png"/>
            <p:cNvPicPr>
              <a:picLocks noChangeAspect="1"/>
            </p:cNvPicPr>
            <p:nvPr/>
          </p:nvPicPr>
          <p:blipFill>
            <a:blip r:embed="rId5"/>
            <a:srcRect l="-1" r="-1"/>
            <a:stretch/>
          </p:blipFill>
          <p:spPr>
            <a:xfrm>
              <a:off x="609905" y="2495398"/>
              <a:ext cx="5391302" cy="1943100"/>
            </a:xfrm>
            <a:prstGeom prst="rect">
              <a:avLst/>
            </a:prstGeom>
          </p:spPr>
        </p:pic>
        <p:pic>
          <p:nvPicPr>
            <p:cNvPr id="22" name="Image 3" descr="preencoded.png"/>
            <p:cNvPicPr>
              <a:picLocks noChangeAspect="1"/>
            </p:cNvPicPr>
            <p:nvPr/>
          </p:nvPicPr>
          <p:blipFill>
            <a:blip r:embed="rId6">
              <a:alphaModFix amt="10000"/>
            </a:blip>
            <a:srcRect/>
            <a:stretch/>
          </p:blipFill>
          <p:spPr>
            <a:xfrm>
              <a:off x="5266944" y="2657246"/>
              <a:ext cx="571500" cy="571500"/>
            </a:xfrm>
            <a:prstGeom prst="rect">
              <a:avLst/>
            </a:prstGeom>
          </p:spPr>
        </p:pic>
        <p:pic>
          <p:nvPicPr>
            <p:cNvPr id="29" name="Image 10" descr="preencoded.png"/>
            <p:cNvPicPr>
              <a:picLocks noChangeAspect="1"/>
            </p:cNvPicPr>
            <p:nvPr/>
          </p:nvPicPr>
          <p:blipFill>
            <a:blip r:embed="rId7"/>
            <a:srcRect l="-17" r="-17"/>
            <a:stretch/>
          </p:blipFill>
          <p:spPr>
            <a:xfrm>
              <a:off x="5202936" y="2762402"/>
              <a:ext cx="599846" cy="209398"/>
            </a:xfrm>
            <a:prstGeom prst="rect">
              <a:avLst/>
            </a:prstGeom>
          </p:spPr>
        </p:pic>
        <p:sp>
          <p:nvSpPr>
            <p:cNvPr id="30" name="Text 17"/>
            <p:cNvSpPr txBox="1"/>
            <p:nvPr/>
          </p:nvSpPr>
          <p:spPr>
            <a:xfrm>
              <a:off x="809244" y="3114446"/>
              <a:ext cx="5181905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 err="1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차입금</a:t>
              </a:r>
              <a:r>
                <a:rPr lang="en-US" sz="13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1300" b="1" dirty="0" err="1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관리</a:t>
              </a:r>
              <a:endParaRPr lang="en-US" sz="1300" dirty="0"/>
            </a:p>
          </p:txBody>
        </p:sp>
        <p:sp>
          <p:nvSpPr>
            <p:cNvPr id="31" name="Text 18"/>
            <p:cNvSpPr txBox="1"/>
            <p:nvPr/>
          </p:nvSpPr>
          <p:spPr>
            <a:xfrm>
              <a:off x="809244" y="3457346"/>
              <a:ext cx="5067605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만기 도래 차입금(148억)에 대한 상환 </a:t>
              </a:r>
              <a:r>
                <a:rPr lang="en-US" sz="1000" dirty="0" err="1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우선순위</a:t>
              </a:r>
              <a:r>
                <a:rPr lang="en-US" sz="10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1000" dirty="0" err="1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결정</a:t>
              </a:r>
              <a:endParaRPr lang="en-US" sz="1000" dirty="0"/>
            </a:p>
          </p:txBody>
        </p:sp>
        <p:sp>
          <p:nvSpPr>
            <p:cNvPr id="32" name="Shape 19"/>
            <p:cNvSpPr/>
            <p:nvPr/>
          </p:nvSpPr>
          <p:spPr>
            <a:xfrm>
              <a:off x="809244" y="4005072"/>
              <a:ext cx="685800" cy="228600"/>
            </a:xfrm>
            <a:prstGeom prst="roundRect">
              <a:avLst>
                <a:gd name="adj" fmla="val 66667"/>
              </a:avLst>
            </a:prstGeom>
            <a:solidFill>
              <a:srgbClr val="374151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Shape 20"/>
            <p:cNvSpPr/>
            <p:nvPr/>
          </p:nvSpPr>
          <p:spPr>
            <a:xfrm>
              <a:off x="1563624" y="4005072"/>
              <a:ext cx="923544" cy="228600"/>
            </a:xfrm>
            <a:prstGeom prst="roundRect">
              <a:avLst>
                <a:gd name="adj" fmla="val 66667"/>
              </a:avLst>
            </a:prstGeom>
            <a:solidFill>
              <a:srgbClr val="374151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Text 21"/>
            <p:cNvSpPr txBox="1"/>
            <p:nvPr/>
          </p:nvSpPr>
          <p:spPr>
            <a:xfrm>
              <a:off x="5288890" y="2781605"/>
              <a:ext cx="51663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93C5FD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셀바스AI</a:t>
              </a:r>
              <a:endParaRPr lang="en-US" sz="900" dirty="0"/>
            </a:p>
          </p:txBody>
        </p:sp>
        <p:sp>
          <p:nvSpPr>
            <p:cNvPr id="35" name="Text 22"/>
            <p:cNvSpPr txBox="1"/>
            <p:nvPr/>
          </p:nvSpPr>
          <p:spPr>
            <a:xfrm>
              <a:off x="886054" y="4033418"/>
              <a:ext cx="60990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리파이낸싱</a:t>
              </a:r>
              <a:endParaRPr lang="en-US" sz="900" dirty="0"/>
            </a:p>
          </p:txBody>
        </p:sp>
        <p:sp>
          <p:nvSpPr>
            <p:cNvPr id="36" name="Text 23"/>
            <p:cNvSpPr txBox="1"/>
            <p:nvPr/>
          </p:nvSpPr>
          <p:spPr>
            <a:xfrm>
              <a:off x="1640434" y="4033418"/>
              <a:ext cx="89885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이자비용 최적화</a:t>
              </a:r>
              <a:endParaRPr lang="en-US" sz="900" dirty="0"/>
            </a:p>
          </p:txBody>
        </p:sp>
        <p:sp>
          <p:nvSpPr>
            <p:cNvPr id="37" name="Text 24"/>
            <p:cNvSpPr txBox="1"/>
            <p:nvPr/>
          </p:nvSpPr>
          <p:spPr>
            <a:xfrm>
              <a:off x="809244" y="2657246"/>
              <a:ext cx="428854" cy="419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200" b="1" dirty="0">
                  <a:solidFill>
                    <a:srgbClr val="3B82F6">
                      <a:alpha val="50000"/>
                    </a:srgbClr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02</a:t>
              </a:r>
              <a:endParaRPr lang="en-US" sz="2200" dirty="0"/>
            </a:p>
          </p:txBody>
        </p:sp>
        <p:pic>
          <p:nvPicPr>
            <p:cNvPr id="38" name="Image 11" descr="preencoded.png"/>
            <p:cNvPicPr>
              <a:picLocks noChangeAspect="1"/>
            </p:cNvPicPr>
            <p:nvPr/>
          </p:nvPicPr>
          <p:blipFill>
            <a:blip r:embed="rId8">
              <a:alphaModFix amt="30000"/>
            </a:blip>
            <a:srcRect l="-2083" r="-2083"/>
            <a:stretch/>
          </p:blipFill>
          <p:spPr>
            <a:xfrm>
              <a:off x="1271930" y="2862072"/>
              <a:ext cx="3819449" cy="9144"/>
            </a:xfrm>
            <a:prstGeom prst="rect">
              <a:avLst/>
            </a:prstGeom>
          </p:spPr>
        </p:pic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32D840FD-E0BA-E166-0094-1D3903D30847}"/>
              </a:ext>
            </a:extLst>
          </p:cNvPr>
          <p:cNvGrpSpPr/>
          <p:nvPr/>
        </p:nvGrpSpPr>
        <p:grpSpPr>
          <a:xfrm>
            <a:off x="609905" y="4384241"/>
            <a:ext cx="5391302" cy="1943100"/>
            <a:chOff x="6191402" y="2495398"/>
            <a:chExt cx="5391302" cy="1943100"/>
          </a:xfrm>
        </p:grpSpPr>
        <p:pic>
          <p:nvPicPr>
            <p:cNvPr id="23" name="Image 4" descr="preencoded.png"/>
            <p:cNvPicPr>
              <a:picLocks noChangeAspect="1"/>
            </p:cNvPicPr>
            <p:nvPr/>
          </p:nvPicPr>
          <p:blipFill>
            <a:blip r:embed="rId5"/>
            <a:srcRect l="-1" r="-1"/>
            <a:stretch/>
          </p:blipFill>
          <p:spPr>
            <a:xfrm>
              <a:off x="6191402" y="2495398"/>
              <a:ext cx="5391302" cy="1943100"/>
            </a:xfrm>
            <a:prstGeom prst="rect">
              <a:avLst/>
            </a:prstGeom>
          </p:spPr>
        </p:pic>
        <p:pic>
          <p:nvPicPr>
            <p:cNvPr id="24" name="Image 5" descr="preencoded.png"/>
            <p:cNvPicPr>
              <a:picLocks noChangeAspect="1"/>
            </p:cNvPicPr>
            <p:nvPr/>
          </p:nvPicPr>
          <p:blipFill>
            <a:blip r:embed="rId9">
              <a:alphaModFix amt="10000"/>
            </a:blip>
            <a:srcRect/>
            <a:stretch/>
          </p:blipFill>
          <p:spPr>
            <a:xfrm>
              <a:off x="10849356" y="2657246"/>
              <a:ext cx="571500" cy="571500"/>
            </a:xfrm>
            <a:prstGeom prst="rect">
              <a:avLst/>
            </a:prstGeom>
          </p:spPr>
        </p:pic>
        <p:pic>
          <p:nvPicPr>
            <p:cNvPr id="39" name="Image 12" descr="preencoded.png"/>
            <p:cNvPicPr>
              <a:picLocks noChangeAspect="1"/>
            </p:cNvPicPr>
            <p:nvPr/>
          </p:nvPicPr>
          <p:blipFill>
            <a:blip r:embed="rId10"/>
            <a:srcRect l="-17" r="-17"/>
            <a:stretch/>
          </p:blipFill>
          <p:spPr>
            <a:xfrm>
              <a:off x="10789920" y="2762402"/>
              <a:ext cx="599846" cy="209398"/>
            </a:xfrm>
            <a:prstGeom prst="rect">
              <a:avLst/>
            </a:prstGeom>
          </p:spPr>
        </p:pic>
        <p:sp>
          <p:nvSpPr>
            <p:cNvPr id="40" name="Text 25"/>
            <p:cNvSpPr txBox="1"/>
            <p:nvPr/>
          </p:nvSpPr>
          <p:spPr>
            <a:xfrm>
              <a:off x="6391656" y="3114446"/>
              <a:ext cx="5106010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FX 운용정책 및 Target Band</a:t>
              </a:r>
              <a:endParaRPr lang="en-US" sz="1300" dirty="0"/>
            </a:p>
          </p:txBody>
        </p:sp>
        <p:sp>
          <p:nvSpPr>
            <p:cNvPr id="41" name="Text 26"/>
            <p:cNvSpPr txBox="1"/>
            <p:nvPr/>
          </p:nvSpPr>
          <p:spPr>
            <a:xfrm>
              <a:off x="6391656" y="3457346"/>
              <a:ext cx="5067605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지속적인 USD 유입에 따른 적정 보유구간(Target Band) 설정 및 초과분 처리 방안(분할환전/롤링) 수립</a:t>
              </a:r>
              <a:endParaRPr lang="en-US" sz="1000" dirty="0"/>
            </a:p>
          </p:txBody>
        </p:sp>
        <p:sp>
          <p:nvSpPr>
            <p:cNvPr id="42" name="Shape 27"/>
            <p:cNvSpPr/>
            <p:nvPr/>
          </p:nvSpPr>
          <p:spPr>
            <a:xfrm>
              <a:off x="6391656" y="4005072"/>
              <a:ext cx="819302" cy="228600"/>
            </a:xfrm>
            <a:prstGeom prst="roundRect">
              <a:avLst>
                <a:gd name="adj" fmla="val 66667"/>
              </a:avLst>
            </a:prstGeom>
            <a:solidFill>
              <a:srgbClr val="374151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Shape 28"/>
            <p:cNvSpPr/>
            <p:nvPr/>
          </p:nvSpPr>
          <p:spPr>
            <a:xfrm>
              <a:off x="7283196" y="4005072"/>
              <a:ext cx="819302" cy="228600"/>
            </a:xfrm>
            <a:prstGeom prst="roundRect">
              <a:avLst>
                <a:gd name="adj" fmla="val 66667"/>
              </a:avLst>
            </a:prstGeom>
            <a:solidFill>
              <a:srgbClr val="374151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" name="Text 29"/>
            <p:cNvSpPr txBox="1"/>
            <p:nvPr/>
          </p:nvSpPr>
          <p:spPr>
            <a:xfrm>
              <a:off x="10875874" y="2781605"/>
              <a:ext cx="505663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A5B4FC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메디아나</a:t>
              </a:r>
              <a:endParaRPr lang="en-US" sz="900" dirty="0"/>
            </a:p>
          </p:txBody>
        </p:sp>
        <p:sp>
          <p:nvSpPr>
            <p:cNvPr id="45" name="Text 30"/>
            <p:cNvSpPr txBox="1"/>
            <p:nvPr/>
          </p:nvSpPr>
          <p:spPr>
            <a:xfrm>
              <a:off x="6467551" y="4033418"/>
              <a:ext cx="780898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환리스크 관리</a:t>
              </a:r>
              <a:endParaRPr lang="en-US" sz="900" dirty="0"/>
            </a:p>
          </p:txBody>
        </p:sp>
        <p:sp>
          <p:nvSpPr>
            <p:cNvPr id="46" name="Text 31"/>
            <p:cNvSpPr txBox="1"/>
            <p:nvPr/>
          </p:nvSpPr>
          <p:spPr>
            <a:xfrm>
              <a:off x="7359091" y="4033418"/>
              <a:ext cx="780898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운용수익 제고</a:t>
              </a:r>
              <a:endParaRPr lang="en-US" sz="900" dirty="0"/>
            </a:p>
          </p:txBody>
        </p:sp>
        <p:sp>
          <p:nvSpPr>
            <p:cNvPr id="47" name="Text 32"/>
            <p:cNvSpPr txBox="1"/>
            <p:nvPr/>
          </p:nvSpPr>
          <p:spPr>
            <a:xfrm>
              <a:off x="6391656" y="2657246"/>
              <a:ext cx="428854" cy="419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200" b="1" dirty="0">
                  <a:solidFill>
                    <a:srgbClr val="3B82F6">
                      <a:alpha val="50000"/>
                    </a:srgbClr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03</a:t>
              </a:r>
              <a:endParaRPr lang="en-US" sz="2200" dirty="0"/>
            </a:p>
          </p:txBody>
        </p:sp>
        <p:pic>
          <p:nvPicPr>
            <p:cNvPr id="48" name="Image 13" descr="preencoded.png"/>
            <p:cNvPicPr>
              <a:picLocks noChangeAspect="1"/>
            </p:cNvPicPr>
            <p:nvPr/>
          </p:nvPicPr>
          <p:blipFill>
            <a:blip r:embed="rId11">
              <a:alphaModFix amt="30000"/>
            </a:blip>
            <a:srcRect l="-2089" r="-2089"/>
            <a:stretch/>
          </p:blipFill>
          <p:spPr>
            <a:xfrm>
              <a:off x="6853428" y="2862072"/>
              <a:ext cx="3829507" cy="9144"/>
            </a:xfrm>
            <a:prstGeom prst="rect">
              <a:avLst/>
            </a:prstGeom>
          </p:spPr>
        </p:pic>
      </p:grp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4B237081-6BAE-5F66-FBE2-923A9562B261}"/>
              </a:ext>
            </a:extLst>
          </p:cNvPr>
          <p:cNvGrpSpPr/>
          <p:nvPr/>
        </p:nvGrpSpPr>
        <p:grpSpPr>
          <a:xfrm>
            <a:off x="6161229" y="4384241"/>
            <a:ext cx="5391302" cy="1943100"/>
            <a:chOff x="609905" y="4624121"/>
            <a:chExt cx="5391302" cy="1943100"/>
          </a:xfrm>
        </p:grpSpPr>
        <p:pic>
          <p:nvPicPr>
            <p:cNvPr id="25" name="Image 6" descr="preencoded.png"/>
            <p:cNvPicPr>
              <a:picLocks noChangeAspect="1"/>
            </p:cNvPicPr>
            <p:nvPr/>
          </p:nvPicPr>
          <p:blipFill>
            <a:blip r:embed="rId12"/>
            <a:srcRect l="-1" r="-1"/>
            <a:stretch/>
          </p:blipFill>
          <p:spPr>
            <a:xfrm>
              <a:off x="609905" y="4624121"/>
              <a:ext cx="5391302" cy="1943100"/>
            </a:xfrm>
            <a:prstGeom prst="rect">
              <a:avLst/>
            </a:prstGeom>
          </p:spPr>
        </p:pic>
        <p:pic>
          <p:nvPicPr>
            <p:cNvPr id="26" name="Image 7" descr="preencoded.png"/>
            <p:cNvPicPr>
              <a:picLocks noChangeAspect="1"/>
            </p:cNvPicPr>
            <p:nvPr/>
          </p:nvPicPr>
          <p:blipFill>
            <a:blip r:embed="rId13">
              <a:alphaModFix amt="10000"/>
            </a:blip>
            <a:srcRect/>
            <a:stretch/>
          </p:blipFill>
          <p:spPr>
            <a:xfrm>
              <a:off x="5266944" y="4785970"/>
              <a:ext cx="571500" cy="571500"/>
            </a:xfrm>
            <a:prstGeom prst="rect">
              <a:avLst/>
            </a:prstGeom>
          </p:spPr>
        </p:pic>
        <p:pic>
          <p:nvPicPr>
            <p:cNvPr id="49" name="Image 14" descr="preencoded.png"/>
            <p:cNvPicPr>
              <a:picLocks noChangeAspect="1"/>
            </p:cNvPicPr>
            <p:nvPr/>
          </p:nvPicPr>
          <p:blipFill>
            <a:blip r:embed="rId14"/>
            <a:srcRect l="-17" r="-17"/>
            <a:stretch/>
          </p:blipFill>
          <p:spPr>
            <a:xfrm>
              <a:off x="5208422" y="4891126"/>
              <a:ext cx="599846" cy="209398"/>
            </a:xfrm>
            <a:prstGeom prst="rect">
              <a:avLst/>
            </a:prstGeom>
          </p:spPr>
        </p:pic>
        <p:sp>
          <p:nvSpPr>
            <p:cNvPr id="50" name="Text 33"/>
            <p:cNvSpPr txBox="1"/>
            <p:nvPr/>
          </p:nvSpPr>
          <p:spPr>
            <a:xfrm>
              <a:off x="809244" y="5243170"/>
              <a:ext cx="5181905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국채 FVPL 리스크관리</a:t>
              </a:r>
              <a:endParaRPr lang="en-US" sz="1300" dirty="0"/>
            </a:p>
          </p:txBody>
        </p:sp>
        <p:sp>
          <p:nvSpPr>
            <p:cNvPr id="51" name="Text 34"/>
            <p:cNvSpPr txBox="1"/>
            <p:nvPr/>
          </p:nvSpPr>
          <p:spPr>
            <a:xfrm>
              <a:off x="809244" y="5586070"/>
              <a:ext cx="5067605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30년물 국채 평가손실(-14%) 대응을 위한 리스크 시나리오 분석 및 Exit 전략(헤지/분할청산) 의결</a:t>
              </a:r>
              <a:endParaRPr lang="en-US" sz="1000" dirty="0"/>
            </a:p>
          </p:txBody>
        </p:sp>
        <p:sp>
          <p:nvSpPr>
            <p:cNvPr id="52" name="Shape 35"/>
            <p:cNvSpPr/>
            <p:nvPr/>
          </p:nvSpPr>
          <p:spPr>
            <a:xfrm>
              <a:off x="809244" y="6133795"/>
              <a:ext cx="714146" cy="228600"/>
            </a:xfrm>
            <a:prstGeom prst="roundRect">
              <a:avLst>
                <a:gd name="adj" fmla="val 66667"/>
              </a:avLst>
            </a:prstGeom>
            <a:solidFill>
              <a:srgbClr val="374151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3" name="Shape 36"/>
            <p:cNvSpPr/>
            <p:nvPr/>
          </p:nvSpPr>
          <p:spPr>
            <a:xfrm>
              <a:off x="1595628" y="6133795"/>
              <a:ext cx="609905" cy="228600"/>
            </a:xfrm>
            <a:prstGeom prst="roundRect">
              <a:avLst>
                <a:gd name="adj" fmla="val 66667"/>
              </a:avLst>
            </a:prstGeom>
            <a:solidFill>
              <a:srgbClr val="374151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4" name="Text 37"/>
            <p:cNvSpPr txBox="1"/>
            <p:nvPr/>
          </p:nvSpPr>
          <p:spPr>
            <a:xfrm>
              <a:off x="5294376" y="4910328"/>
              <a:ext cx="505663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A5B4FC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메디아나</a:t>
              </a:r>
              <a:endParaRPr lang="en-US" sz="900" dirty="0"/>
            </a:p>
          </p:txBody>
        </p:sp>
        <p:sp>
          <p:nvSpPr>
            <p:cNvPr id="55" name="Text 38"/>
            <p:cNvSpPr txBox="1"/>
            <p:nvPr/>
          </p:nvSpPr>
          <p:spPr>
            <a:xfrm>
              <a:off x="886054" y="6163056"/>
              <a:ext cx="66294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변동성 축소</a:t>
              </a:r>
              <a:endParaRPr lang="en-US" sz="900" dirty="0"/>
            </a:p>
          </p:txBody>
        </p:sp>
        <p:sp>
          <p:nvSpPr>
            <p:cNvPr id="56" name="Text 39"/>
            <p:cNvSpPr txBox="1"/>
            <p:nvPr/>
          </p:nvSpPr>
          <p:spPr>
            <a:xfrm>
              <a:off x="1672438" y="6163056"/>
              <a:ext cx="544068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손실 방어</a:t>
              </a:r>
              <a:endParaRPr lang="en-US" sz="900" dirty="0"/>
            </a:p>
          </p:txBody>
        </p:sp>
        <p:sp>
          <p:nvSpPr>
            <p:cNvPr id="57" name="Text 40"/>
            <p:cNvSpPr txBox="1"/>
            <p:nvPr/>
          </p:nvSpPr>
          <p:spPr>
            <a:xfrm>
              <a:off x="809244" y="4785970"/>
              <a:ext cx="428854" cy="419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200" b="1" dirty="0">
                  <a:solidFill>
                    <a:srgbClr val="3B82F6">
                      <a:alpha val="50000"/>
                    </a:srgbClr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04</a:t>
              </a:r>
              <a:endParaRPr lang="en-US" sz="2200" dirty="0"/>
            </a:p>
          </p:txBody>
        </p:sp>
        <p:pic>
          <p:nvPicPr>
            <p:cNvPr id="58" name="Image 15" descr="preencoded.png"/>
            <p:cNvPicPr>
              <a:picLocks noChangeAspect="1"/>
            </p:cNvPicPr>
            <p:nvPr/>
          </p:nvPicPr>
          <p:blipFill>
            <a:blip r:embed="rId11">
              <a:alphaModFix amt="30000"/>
            </a:blip>
            <a:srcRect l="-2089" r="-2089"/>
            <a:stretch/>
          </p:blipFill>
          <p:spPr>
            <a:xfrm>
              <a:off x="1271930" y="4990795"/>
              <a:ext cx="3829507" cy="9144"/>
            </a:xfrm>
            <a:prstGeom prst="rect">
              <a:avLst/>
            </a:prstGeom>
          </p:spPr>
        </p:pic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EDCC9C30-682A-6B56-F228-468106C3E8AF}"/>
              </a:ext>
            </a:extLst>
          </p:cNvPr>
          <p:cNvGrpSpPr/>
          <p:nvPr/>
        </p:nvGrpSpPr>
        <p:grpSpPr>
          <a:xfrm>
            <a:off x="609905" y="2394813"/>
            <a:ext cx="5391302" cy="1943100"/>
            <a:chOff x="6191402" y="4624121"/>
            <a:chExt cx="5391302" cy="1943100"/>
          </a:xfrm>
        </p:grpSpPr>
        <p:pic>
          <p:nvPicPr>
            <p:cNvPr id="69" name="Image 8" descr="preencoded.png"/>
            <p:cNvPicPr>
              <a:picLocks noChangeAspect="1"/>
            </p:cNvPicPr>
            <p:nvPr/>
          </p:nvPicPr>
          <p:blipFill>
            <a:blip r:embed="rId12"/>
            <a:srcRect l="-1" r="-1"/>
            <a:stretch/>
          </p:blipFill>
          <p:spPr>
            <a:xfrm>
              <a:off x="6191402" y="4624121"/>
              <a:ext cx="5391302" cy="1943100"/>
            </a:xfrm>
            <a:prstGeom prst="rect">
              <a:avLst/>
            </a:prstGeom>
          </p:spPr>
        </p:pic>
        <p:pic>
          <p:nvPicPr>
            <p:cNvPr id="70" name="Image 9" descr="preencoded.png"/>
            <p:cNvPicPr>
              <a:picLocks noChangeAspect="1"/>
            </p:cNvPicPr>
            <p:nvPr/>
          </p:nvPicPr>
          <p:blipFill>
            <a:blip r:embed="rId15">
              <a:alphaModFix amt="10000"/>
            </a:blip>
            <a:srcRect l="-347" r="-347"/>
            <a:stretch/>
          </p:blipFill>
          <p:spPr>
            <a:xfrm>
              <a:off x="10772546" y="4785970"/>
              <a:ext cx="647395" cy="571500"/>
            </a:xfrm>
            <a:prstGeom prst="rect">
              <a:avLst/>
            </a:prstGeom>
          </p:spPr>
        </p:pic>
        <p:pic>
          <p:nvPicPr>
            <p:cNvPr id="71" name="Image 16" descr="preencoded.png"/>
            <p:cNvPicPr>
              <a:picLocks noChangeAspect="1"/>
            </p:cNvPicPr>
            <p:nvPr/>
          </p:nvPicPr>
          <p:blipFill>
            <a:blip r:embed="rId16"/>
            <a:srcRect l="-17" r="-17"/>
            <a:stretch/>
          </p:blipFill>
          <p:spPr>
            <a:xfrm>
              <a:off x="10789920" y="4891126"/>
              <a:ext cx="599846" cy="209398"/>
            </a:xfrm>
            <a:prstGeom prst="rect">
              <a:avLst/>
            </a:prstGeom>
          </p:spPr>
        </p:pic>
        <p:sp>
          <p:nvSpPr>
            <p:cNvPr id="72" name="Text 41"/>
            <p:cNvSpPr txBox="1"/>
            <p:nvPr/>
          </p:nvSpPr>
          <p:spPr>
            <a:xfrm>
              <a:off x="6391656" y="5243170"/>
              <a:ext cx="5181905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지분매각(108만주) 실행계획</a:t>
              </a:r>
              <a:endParaRPr lang="en-US" sz="1300" dirty="0"/>
            </a:p>
          </p:txBody>
        </p:sp>
        <p:sp>
          <p:nvSpPr>
            <p:cNvPr id="73" name="Text 42"/>
            <p:cNvSpPr txBox="1"/>
            <p:nvPr/>
          </p:nvSpPr>
          <p:spPr>
            <a:xfrm>
              <a:off x="6391656" y="5586070"/>
              <a:ext cx="5067605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보유 지분 전량 매각을 위한 실행 방식(블록딜/장내매도) 선정 및 가격/물량 가드레일 확정</a:t>
              </a:r>
              <a:endParaRPr lang="en-US" sz="1000" dirty="0"/>
            </a:p>
          </p:txBody>
        </p:sp>
        <p:sp>
          <p:nvSpPr>
            <p:cNvPr id="74" name="Shape 43"/>
            <p:cNvSpPr/>
            <p:nvPr/>
          </p:nvSpPr>
          <p:spPr>
            <a:xfrm>
              <a:off x="6391656" y="6133795"/>
              <a:ext cx="714146" cy="228600"/>
            </a:xfrm>
            <a:prstGeom prst="roundRect">
              <a:avLst>
                <a:gd name="adj" fmla="val 66667"/>
              </a:avLst>
            </a:prstGeom>
            <a:solidFill>
              <a:srgbClr val="374151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5" name="Shape 44"/>
            <p:cNvSpPr/>
            <p:nvPr/>
          </p:nvSpPr>
          <p:spPr>
            <a:xfrm>
              <a:off x="7178040" y="6133795"/>
              <a:ext cx="923544" cy="228600"/>
            </a:xfrm>
            <a:prstGeom prst="roundRect">
              <a:avLst>
                <a:gd name="adj" fmla="val 66667"/>
              </a:avLst>
            </a:prstGeom>
            <a:solidFill>
              <a:srgbClr val="374151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6" name="Text 45"/>
            <p:cNvSpPr txBox="1"/>
            <p:nvPr/>
          </p:nvSpPr>
          <p:spPr>
            <a:xfrm>
              <a:off x="10875874" y="4910328"/>
              <a:ext cx="505663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헬스케어</a:t>
              </a:r>
              <a:endParaRPr lang="en-US" sz="900" dirty="0"/>
            </a:p>
          </p:txBody>
        </p:sp>
        <p:sp>
          <p:nvSpPr>
            <p:cNvPr id="77" name="Text 46"/>
            <p:cNvSpPr txBox="1"/>
            <p:nvPr/>
          </p:nvSpPr>
          <p:spPr>
            <a:xfrm>
              <a:off x="6467551" y="6163056"/>
              <a:ext cx="66294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유동성 확보</a:t>
              </a:r>
              <a:endParaRPr lang="en-US" sz="900" dirty="0"/>
            </a:p>
          </p:txBody>
        </p:sp>
        <p:sp>
          <p:nvSpPr>
            <p:cNvPr id="78" name="Text 47"/>
            <p:cNvSpPr txBox="1"/>
            <p:nvPr/>
          </p:nvSpPr>
          <p:spPr>
            <a:xfrm>
              <a:off x="7253935" y="6163056"/>
              <a:ext cx="89885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시장충격 최소화</a:t>
              </a:r>
              <a:endParaRPr lang="en-US" sz="900" dirty="0"/>
            </a:p>
          </p:txBody>
        </p:sp>
        <p:sp>
          <p:nvSpPr>
            <p:cNvPr id="79" name="Text 48"/>
            <p:cNvSpPr txBox="1"/>
            <p:nvPr/>
          </p:nvSpPr>
          <p:spPr>
            <a:xfrm>
              <a:off x="6391656" y="4785970"/>
              <a:ext cx="428854" cy="419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200" b="1" dirty="0">
                  <a:solidFill>
                    <a:srgbClr val="3B82F6">
                      <a:alpha val="50000"/>
                    </a:srgbClr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01</a:t>
              </a:r>
              <a:endParaRPr lang="en-US" sz="2200" dirty="0"/>
            </a:p>
          </p:txBody>
        </p:sp>
        <p:pic>
          <p:nvPicPr>
            <p:cNvPr id="80" name="Image 17" descr="preencoded.png"/>
            <p:cNvPicPr>
              <a:picLocks noChangeAspect="1"/>
            </p:cNvPicPr>
            <p:nvPr/>
          </p:nvPicPr>
          <p:blipFill>
            <a:blip r:embed="rId11">
              <a:alphaModFix amt="30000"/>
            </a:blip>
            <a:srcRect l="-2089" r="-2089"/>
            <a:stretch/>
          </p:blipFill>
          <p:spPr>
            <a:xfrm>
              <a:off x="6853428" y="4990795"/>
              <a:ext cx="3829507" cy="9144"/>
            </a:xfrm>
            <a:prstGeom prst="rect">
              <a:avLst/>
            </a:prstGeom>
          </p:spPr>
        </p:pic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DFBA0E5D-CBA3-4D5C-657F-0981BBF2B9C1}"/>
              </a:ext>
            </a:extLst>
          </p:cNvPr>
          <p:cNvGrpSpPr/>
          <p:nvPr/>
        </p:nvGrpSpPr>
        <p:grpSpPr>
          <a:xfrm>
            <a:off x="657454" y="2497970"/>
            <a:ext cx="5276700" cy="1766301"/>
            <a:chOff x="657454" y="2497970"/>
            <a:chExt cx="5276700" cy="1766301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FD8BB27B-156D-E0EF-8A9A-DFAB63A5DD67}"/>
                </a:ext>
              </a:extLst>
            </p:cNvPr>
            <p:cNvSpPr/>
            <p:nvPr/>
          </p:nvSpPr>
          <p:spPr>
            <a:xfrm>
              <a:off x="657454" y="2497970"/>
              <a:ext cx="5276700" cy="1766301"/>
            </a:xfrm>
            <a:prstGeom prst="rect">
              <a:avLst/>
            </a:prstGeom>
            <a:grpFill/>
            <a:ln cap="rnd">
              <a:solidFill>
                <a:srgbClr val="FF0000">
                  <a:alpha val="28000"/>
                </a:srgb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249E565B-3188-C424-8C7C-7304A71A30A3}"/>
                </a:ext>
              </a:extLst>
            </p:cNvPr>
            <p:cNvCxnSpPr/>
            <p:nvPr/>
          </p:nvCxnSpPr>
          <p:spPr>
            <a:xfrm>
              <a:off x="657454" y="2554601"/>
              <a:ext cx="4781812" cy="1709670"/>
            </a:xfrm>
            <a:prstGeom prst="line">
              <a:avLst/>
            </a:prstGeom>
            <a:grpFill/>
            <a:ln w="28575">
              <a:solidFill>
                <a:srgbClr val="FF0000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68A370F4-D91B-7463-E42B-F59E6C0D886C}"/>
                </a:ext>
              </a:extLst>
            </p:cNvPr>
            <p:cNvCxnSpPr>
              <a:cxnSpLocks/>
            </p:cNvCxnSpPr>
            <p:nvPr/>
          </p:nvCxnSpPr>
          <p:spPr>
            <a:xfrm>
              <a:off x="1119727" y="2509468"/>
              <a:ext cx="4719632" cy="1731440"/>
            </a:xfrm>
            <a:prstGeom prst="line">
              <a:avLst/>
            </a:prstGeom>
            <a:grpFill/>
            <a:ln w="28575">
              <a:solidFill>
                <a:srgbClr val="FF0000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사각형: 둥근 모서리 63">
              <a:extLst>
                <a:ext uri="{FF2B5EF4-FFF2-40B4-BE49-F238E27FC236}">
                  <a16:creationId xmlns:a16="http://schemas.microsoft.com/office/drawing/2014/main" id="{920DBD58-48C6-AE58-791C-7B2287B6BC73}"/>
                </a:ext>
              </a:extLst>
            </p:cNvPr>
            <p:cNvSpPr/>
            <p:nvPr/>
          </p:nvSpPr>
          <p:spPr>
            <a:xfrm rot="20957612">
              <a:off x="2057039" y="3080264"/>
              <a:ext cx="2196699" cy="518463"/>
            </a:xfrm>
            <a:prstGeom prst="roundRect">
              <a:avLst/>
            </a:prstGeom>
            <a:grpFill/>
            <a:ln cap="rnd">
              <a:solidFill>
                <a:srgbClr val="FFFF00"/>
              </a:solidFill>
              <a:prstDash val="dash"/>
              <a:round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0 w 2196699"/>
                        <a:gd name="csY0" fmla="*/ 86412 h 518463"/>
                        <a:gd name="csX1" fmla="*/ 86412 w 2196699"/>
                        <a:gd name="csY1" fmla="*/ 0 h 518463"/>
                        <a:gd name="csX2" fmla="*/ 2110287 w 2196699"/>
                        <a:gd name="csY2" fmla="*/ 0 h 518463"/>
                        <a:gd name="csX3" fmla="*/ 2196699 w 2196699"/>
                        <a:gd name="csY3" fmla="*/ 86412 h 518463"/>
                        <a:gd name="csX4" fmla="*/ 2196699 w 2196699"/>
                        <a:gd name="csY4" fmla="*/ 432051 h 518463"/>
                        <a:gd name="csX5" fmla="*/ 2110287 w 2196699"/>
                        <a:gd name="csY5" fmla="*/ 518463 h 518463"/>
                        <a:gd name="csX6" fmla="*/ 86412 w 2196699"/>
                        <a:gd name="csY6" fmla="*/ 518463 h 518463"/>
                        <a:gd name="csX7" fmla="*/ 0 w 2196699"/>
                        <a:gd name="csY7" fmla="*/ 432051 h 518463"/>
                        <a:gd name="csX8" fmla="*/ 0 w 2196699"/>
                        <a:gd name="csY8" fmla="*/ 86412 h 518463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</a:cxnLst>
                      <a:rect l="l" t="t" r="r" b="b"/>
                      <a:pathLst>
                        <a:path w="2196699" h="518463" fill="none" extrusionOk="0">
                          <a:moveTo>
                            <a:pt x="0" y="86412"/>
                          </a:moveTo>
                          <a:cubicBezTo>
                            <a:pt x="-6628" y="37616"/>
                            <a:pt x="42055" y="2754"/>
                            <a:pt x="86412" y="0"/>
                          </a:cubicBezTo>
                          <a:cubicBezTo>
                            <a:pt x="923874" y="130954"/>
                            <a:pt x="1115086" y="43574"/>
                            <a:pt x="2110287" y="0"/>
                          </a:cubicBezTo>
                          <a:cubicBezTo>
                            <a:pt x="2161643" y="5594"/>
                            <a:pt x="2198408" y="40781"/>
                            <a:pt x="2196699" y="86412"/>
                          </a:cubicBezTo>
                          <a:cubicBezTo>
                            <a:pt x="2195526" y="251581"/>
                            <a:pt x="2225457" y="302245"/>
                            <a:pt x="2196699" y="432051"/>
                          </a:cubicBezTo>
                          <a:cubicBezTo>
                            <a:pt x="2188981" y="481042"/>
                            <a:pt x="2155630" y="516820"/>
                            <a:pt x="2110287" y="518463"/>
                          </a:cubicBezTo>
                          <a:cubicBezTo>
                            <a:pt x="1413116" y="673660"/>
                            <a:pt x="385812" y="681483"/>
                            <a:pt x="86412" y="518463"/>
                          </a:cubicBezTo>
                          <a:cubicBezTo>
                            <a:pt x="38875" y="515935"/>
                            <a:pt x="-1725" y="480782"/>
                            <a:pt x="0" y="432051"/>
                          </a:cubicBezTo>
                          <a:cubicBezTo>
                            <a:pt x="-8584" y="287789"/>
                            <a:pt x="-3619" y="224124"/>
                            <a:pt x="0" y="86412"/>
                          </a:cubicBezTo>
                          <a:close/>
                        </a:path>
                        <a:path w="2196699" h="518463" stroke="0" extrusionOk="0">
                          <a:moveTo>
                            <a:pt x="0" y="86412"/>
                          </a:moveTo>
                          <a:cubicBezTo>
                            <a:pt x="-5637" y="35211"/>
                            <a:pt x="35773" y="1094"/>
                            <a:pt x="86412" y="0"/>
                          </a:cubicBezTo>
                          <a:cubicBezTo>
                            <a:pt x="501313" y="132882"/>
                            <a:pt x="1806790" y="-84951"/>
                            <a:pt x="2110287" y="0"/>
                          </a:cubicBezTo>
                          <a:cubicBezTo>
                            <a:pt x="2153000" y="4894"/>
                            <a:pt x="2195494" y="45349"/>
                            <a:pt x="2196699" y="86412"/>
                          </a:cubicBezTo>
                          <a:cubicBezTo>
                            <a:pt x="2176762" y="147442"/>
                            <a:pt x="2172055" y="344850"/>
                            <a:pt x="2196699" y="432051"/>
                          </a:cubicBezTo>
                          <a:cubicBezTo>
                            <a:pt x="2205350" y="480801"/>
                            <a:pt x="2161857" y="510549"/>
                            <a:pt x="2110287" y="518463"/>
                          </a:cubicBezTo>
                          <a:cubicBezTo>
                            <a:pt x="1551601" y="606102"/>
                            <a:pt x="805942" y="445784"/>
                            <a:pt x="86412" y="518463"/>
                          </a:cubicBezTo>
                          <a:cubicBezTo>
                            <a:pt x="38232" y="514119"/>
                            <a:pt x="-4435" y="485938"/>
                            <a:pt x="0" y="432051"/>
                          </a:cubicBezTo>
                          <a:cubicBezTo>
                            <a:pt x="18606" y="397327"/>
                            <a:pt x="24227" y="183090"/>
                            <a:pt x="0" y="86412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400" dirty="0"/>
                <a:t>TBD</a:t>
              </a:r>
              <a:endParaRPr lang="ko-KR" altLang="en-US" sz="440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4270"/>
            <a:ext cx="12191695" cy="695227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09905" y="457200"/>
            <a:ext cx="51928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56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자금운용 규정: 기본원칙 및 허용상품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09905" y="952805"/>
            <a:ext cx="457200" cy="38405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81405" y="875995"/>
            <a:ext cx="182697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5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Policy &amp; Guidelines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38505" y="1371600"/>
            <a:ext cx="109353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운용 3대 원칙 (우선순위 절대 엄수) </a:t>
            </a:r>
            <a:endParaRPr lang="en-US" sz="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3440" r="-3440"/>
          <a:stretch/>
        </p:blipFill>
        <p:spPr>
          <a:xfrm>
            <a:off x="609905" y="1390802"/>
            <a:ext cx="152705" cy="11430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t="-25" b="-25"/>
          <a:stretch/>
        </p:blipFill>
        <p:spPr>
          <a:xfrm>
            <a:off x="8026603" y="1638605"/>
            <a:ext cx="3562502" cy="857707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225942" y="1837944"/>
            <a:ext cx="457200" cy="457200"/>
          </a:xfrm>
          <a:prstGeom prst="ellipse">
            <a:avLst/>
          </a:prstGeom>
          <a:solidFill>
            <a:srgbClr val="6B728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40242" y="1952244"/>
            <a:ext cx="228600" cy="2286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835847" y="1837944"/>
            <a:ext cx="243779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수익성 (Profitability)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8835847" y="2104949"/>
            <a:ext cx="24844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안정성/유동성 확보 후 초과수익 추구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810158" y="2629728"/>
            <a:ext cx="53629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상품 가이드라인 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4000" r="-4000"/>
          <a:stretch/>
        </p:blipFill>
        <p:spPr>
          <a:xfrm>
            <a:off x="622120" y="2629728"/>
            <a:ext cx="164921" cy="152705"/>
          </a:xfrm>
          <a:prstGeom prst="rect">
            <a:avLst/>
          </a:prstGeom>
        </p:spPr>
      </p:pic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rcRect t="-10" b="-10"/>
          <a:stretch/>
        </p:blipFill>
        <p:spPr>
          <a:xfrm>
            <a:off x="609905" y="2935137"/>
            <a:ext cx="5372100" cy="1819656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809244" y="3467896"/>
            <a:ext cx="4972507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1"/>
          <p:cNvSpPr txBox="1"/>
          <p:nvPr/>
        </p:nvSpPr>
        <p:spPr>
          <a:xfrm>
            <a:off x="1037844" y="3134476"/>
            <a:ext cx="17693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허용 상품 (White List) </a:t>
            </a:r>
            <a:endParaRPr lang="en-US" sz="12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9244" y="3172881"/>
            <a:ext cx="152705" cy="152705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rcRect t="-2" b="-2"/>
          <a:stretch/>
        </p:blipFill>
        <p:spPr>
          <a:xfrm>
            <a:off x="609905" y="4906584"/>
            <a:ext cx="5372100" cy="1552651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809244" y="5440257"/>
            <a:ext cx="4972507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3"/>
          <p:cNvSpPr txBox="1"/>
          <p:nvPr/>
        </p:nvSpPr>
        <p:spPr>
          <a:xfrm>
            <a:off x="1037844" y="5106837"/>
            <a:ext cx="1768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금지 상품 (Black List) </a:t>
            </a:r>
            <a:endParaRPr lang="en-US" sz="12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09244" y="5144328"/>
            <a:ext cx="152705" cy="152705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6410858" y="2629728"/>
            <a:ext cx="53629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운영 가이드 6대 원칙 </a:t>
            </a:r>
            <a:endParaRPr lang="en-US" sz="11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11"/>
          <a:srcRect l="-4000" r="-4000"/>
          <a:stretch/>
        </p:blipFill>
        <p:spPr>
          <a:xfrm>
            <a:off x="6172201" y="2623015"/>
            <a:ext cx="200253" cy="185419"/>
          </a:xfrm>
          <a:prstGeom prst="rect">
            <a:avLst/>
          </a:prstGeom>
        </p:spPr>
      </p:pic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2"/>
          <a:srcRect l="-1" r="-1"/>
          <a:stretch/>
        </p:blipFill>
        <p:spPr>
          <a:xfrm>
            <a:off x="6210605" y="2935137"/>
            <a:ext cx="2609698" cy="1076249"/>
          </a:xfrm>
          <a:prstGeom prst="rect">
            <a:avLst/>
          </a:prstGeom>
        </p:spPr>
      </p:pic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3"/>
          <a:srcRect t="-43" b="-43"/>
          <a:stretch/>
        </p:blipFill>
        <p:spPr>
          <a:xfrm>
            <a:off x="6372454" y="3134476"/>
            <a:ext cx="133502" cy="152705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6620256" y="3096986"/>
            <a:ext cx="220187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만기 적합성</a:t>
            </a:r>
            <a:endParaRPr lang="en-US" sz="1050" dirty="0"/>
          </a:p>
        </p:txBody>
      </p:sp>
      <p:sp>
        <p:nvSpPr>
          <p:cNvPr id="29" name="Text 16"/>
          <p:cNvSpPr txBox="1"/>
          <p:nvPr/>
        </p:nvSpPr>
        <p:spPr>
          <a:xfrm>
            <a:off x="6409944" y="3372721"/>
            <a:ext cx="2325319" cy="208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자금 사용 계획과 운용 상품의 만기를 철저히 매칭</a:t>
            </a:r>
            <a:endParaRPr lang="en-US" sz="900" dirty="0"/>
          </a:p>
        </p:txBody>
      </p:sp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12"/>
          <a:srcRect l="-1" r="-1"/>
          <a:stretch/>
        </p:blipFill>
        <p:spPr>
          <a:xfrm>
            <a:off x="8973007" y="2935137"/>
            <a:ext cx="2609698" cy="1076249"/>
          </a:xfrm>
          <a:prstGeom prst="rect">
            <a:avLst/>
          </a:prstGeom>
        </p:spPr>
      </p:pic>
      <p:pic>
        <p:nvPicPr>
          <p:cNvPr id="31" name="Image 12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9134856" y="3134476"/>
            <a:ext cx="152705" cy="152705"/>
          </a:xfrm>
          <a:prstGeom prst="rect">
            <a:avLst/>
          </a:prstGeom>
        </p:spPr>
      </p:pic>
      <p:sp>
        <p:nvSpPr>
          <p:cNvPr id="32" name="Text 17"/>
          <p:cNvSpPr txBox="1"/>
          <p:nvPr/>
        </p:nvSpPr>
        <p:spPr>
          <a:xfrm>
            <a:off x="9400946" y="3096986"/>
            <a:ext cx="21817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</a:t>
            </a: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단순성</a:t>
            </a: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(Plain Vanilla)</a:t>
            </a:r>
            <a:endParaRPr lang="en-US" sz="1050" dirty="0"/>
          </a:p>
        </p:txBody>
      </p:sp>
      <p:sp>
        <p:nvSpPr>
          <p:cNvPr id="33" name="Text 18"/>
          <p:cNvSpPr txBox="1"/>
          <p:nvPr/>
        </p:nvSpPr>
        <p:spPr>
          <a:xfrm>
            <a:off x="9229954" y="3392272"/>
            <a:ext cx="2266798" cy="20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구조가 단순하고 이해하기 쉬운 상품 위주 운용</a:t>
            </a:r>
            <a:endParaRPr lang="en-US" sz="900" dirty="0"/>
          </a:p>
        </p:txBody>
      </p:sp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15"/>
          <a:srcRect l="-1" r="-1"/>
          <a:stretch/>
        </p:blipFill>
        <p:spPr>
          <a:xfrm>
            <a:off x="6210605" y="4160433"/>
            <a:ext cx="2609698" cy="1076249"/>
          </a:xfrm>
          <a:prstGeom prst="rect">
            <a:avLst/>
          </a:prstGeom>
        </p:spPr>
      </p:pic>
      <p:pic>
        <p:nvPicPr>
          <p:cNvPr id="35" name="Image 14" descr="preencoded.png"/>
          <p:cNvPicPr>
            <a:picLocks noChangeAspect="1"/>
          </p:cNvPicPr>
          <p:nvPr/>
        </p:nvPicPr>
        <p:blipFill>
          <a:blip r:embed="rId16"/>
          <a:srcRect l="-33" r="-33"/>
          <a:stretch/>
        </p:blipFill>
        <p:spPr>
          <a:xfrm>
            <a:off x="6372454" y="4359772"/>
            <a:ext cx="171907" cy="152705"/>
          </a:xfrm>
          <a:prstGeom prst="rect">
            <a:avLst/>
          </a:prstGeom>
        </p:spPr>
      </p:pic>
      <p:sp>
        <p:nvSpPr>
          <p:cNvPr id="36" name="Text 19"/>
          <p:cNvSpPr txBox="1"/>
          <p:nvPr/>
        </p:nvSpPr>
        <p:spPr>
          <a:xfrm>
            <a:off x="6657746" y="4322282"/>
            <a:ext cx="216072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중도해지 가능성</a:t>
            </a:r>
            <a:endParaRPr lang="en-US" sz="1050" dirty="0"/>
          </a:p>
        </p:txBody>
      </p:sp>
      <p:sp>
        <p:nvSpPr>
          <p:cNvPr id="37" name="Text 20"/>
          <p:cNvSpPr txBox="1"/>
          <p:nvPr/>
        </p:nvSpPr>
        <p:spPr>
          <a:xfrm>
            <a:off x="6410858" y="4645850"/>
            <a:ext cx="2371322" cy="229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긴급 자금 수요 시 페널티 최소화하여 현금화 가능</a:t>
            </a:r>
            <a:endParaRPr lang="en-US" sz="900" dirty="0"/>
          </a:p>
        </p:txBody>
      </p:sp>
      <p:pic>
        <p:nvPicPr>
          <p:cNvPr id="38" name="Image 15" descr="preencoded.png"/>
          <p:cNvPicPr>
            <a:picLocks noChangeAspect="1"/>
          </p:cNvPicPr>
          <p:nvPr/>
        </p:nvPicPr>
        <p:blipFill>
          <a:blip r:embed="rId15"/>
          <a:srcRect l="-1" r="-1"/>
          <a:stretch/>
        </p:blipFill>
        <p:spPr>
          <a:xfrm>
            <a:off x="8973007" y="4160433"/>
            <a:ext cx="2609698" cy="1076249"/>
          </a:xfrm>
          <a:prstGeom prst="rect">
            <a:avLst/>
          </a:prstGeom>
        </p:spPr>
      </p:pic>
      <p:pic>
        <p:nvPicPr>
          <p:cNvPr id="39" name="Image 16" descr="preencoded.png"/>
          <p:cNvPicPr>
            <a:picLocks noChangeAspect="1"/>
          </p:cNvPicPr>
          <p:nvPr/>
        </p:nvPicPr>
        <p:blipFill>
          <a:blip r:embed="rId17"/>
          <a:srcRect t="-100" b="-100"/>
          <a:stretch/>
        </p:blipFill>
        <p:spPr>
          <a:xfrm>
            <a:off x="9134856" y="4359772"/>
            <a:ext cx="114300" cy="152705"/>
          </a:xfrm>
          <a:prstGeom prst="rect">
            <a:avLst/>
          </a:prstGeom>
        </p:spPr>
      </p:pic>
      <p:sp>
        <p:nvSpPr>
          <p:cNvPr id="40" name="Text 21"/>
          <p:cNvSpPr txBox="1"/>
          <p:nvPr/>
        </p:nvSpPr>
        <p:spPr>
          <a:xfrm>
            <a:off x="9363456" y="4322282"/>
            <a:ext cx="22219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회계 명확성</a:t>
            </a:r>
            <a:endParaRPr lang="en-US" sz="1050" dirty="0"/>
          </a:p>
        </p:txBody>
      </p:sp>
      <p:sp>
        <p:nvSpPr>
          <p:cNvPr id="41" name="Text 22"/>
          <p:cNvSpPr txBox="1"/>
          <p:nvPr/>
        </p:nvSpPr>
        <p:spPr>
          <a:xfrm>
            <a:off x="9229953" y="4636640"/>
            <a:ext cx="2248510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회계 처리가 명확하고 평가 손익이 투명한 상품</a:t>
            </a:r>
            <a:endParaRPr lang="en-US" sz="900" dirty="0"/>
          </a:p>
        </p:txBody>
      </p:sp>
      <p:pic>
        <p:nvPicPr>
          <p:cNvPr id="42" name="Image 17" descr="preencoded.png"/>
          <p:cNvPicPr>
            <a:picLocks noChangeAspect="1"/>
          </p:cNvPicPr>
          <p:nvPr/>
        </p:nvPicPr>
        <p:blipFill>
          <a:blip r:embed="rId12"/>
          <a:srcRect l="-1" r="-1"/>
          <a:stretch/>
        </p:blipFill>
        <p:spPr>
          <a:xfrm>
            <a:off x="6210605" y="5385729"/>
            <a:ext cx="2609698" cy="1076249"/>
          </a:xfrm>
          <a:prstGeom prst="rect">
            <a:avLst/>
          </a:prstGeom>
        </p:spPr>
      </p:pic>
      <p:pic>
        <p:nvPicPr>
          <p:cNvPr id="43" name="Image 18" descr="preencoded.png"/>
          <p:cNvPicPr>
            <a:picLocks noChangeAspect="1"/>
          </p:cNvPicPr>
          <p:nvPr/>
        </p:nvPicPr>
        <p:blipFill>
          <a:blip r:embed="rId18"/>
          <a:srcRect t="-100" b="-100"/>
          <a:stretch/>
        </p:blipFill>
        <p:spPr>
          <a:xfrm>
            <a:off x="6372454" y="5585983"/>
            <a:ext cx="114300" cy="152705"/>
          </a:xfrm>
          <a:prstGeom prst="rect">
            <a:avLst/>
          </a:prstGeom>
        </p:spPr>
      </p:pic>
      <p:sp>
        <p:nvSpPr>
          <p:cNvPr id="44" name="Text 23"/>
          <p:cNvSpPr txBox="1"/>
          <p:nvPr/>
        </p:nvSpPr>
        <p:spPr>
          <a:xfrm>
            <a:off x="6601054" y="5547578"/>
            <a:ext cx="206837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수익 경쟁력</a:t>
            </a:r>
            <a:endParaRPr lang="en-US" sz="1050" dirty="0"/>
          </a:p>
        </p:txBody>
      </p:sp>
      <p:sp>
        <p:nvSpPr>
          <p:cNvPr id="45" name="Text 24"/>
          <p:cNvSpPr txBox="1"/>
          <p:nvPr/>
        </p:nvSpPr>
        <p:spPr>
          <a:xfrm>
            <a:off x="6601054" y="5823313"/>
            <a:ext cx="238932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리스크 그룹 내 최고 금리 상품 선정</a:t>
            </a:r>
            <a:endParaRPr lang="en-US" sz="900" dirty="0"/>
          </a:p>
        </p:txBody>
      </p:sp>
      <p:pic>
        <p:nvPicPr>
          <p:cNvPr id="46" name="Image 19" descr="preencoded.png"/>
          <p:cNvPicPr>
            <a:picLocks noChangeAspect="1"/>
          </p:cNvPicPr>
          <p:nvPr/>
        </p:nvPicPr>
        <p:blipFill>
          <a:blip r:embed="rId12"/>
          <a:srcRect l="-1" r="-1"/>
          <a:stretch/>
        </p:blipFill>
        <p:spPr>
          <a:xfrm>
            <a:off x="8973007" y="5385729"/>
            <a:ext cx="2609698" cy="1076249"/>
          </a:xfrm>
          <a:prstGeom prst="rect">
            <a:avLst/>
          </a:prstGeom>
        </p:spPr>
      </p:pic>
      <p:pic>
        <p:nvPicPr>
          <p:cNvPr id="47" name="Image 20" descr="preencoded.png"/>
          <p:cNvPicPr>
            <a:picLocks noChangeAspect="1"/>
          </p:cNvPicPr>
          <p:nvPr/>
        </p:nvPicPr>
        <p:blipFill>
          <a:blip r:embed="rId19"/>
          <a:srcRect t="-180" b="-180"/>
          <a:stretch/>
        </p:blipFill>
        <p:spPr>
          <a:xfrm>
            <a:off x="9134856" y="5585983"/>
            <a:ext cx="190195" cy="152705"/>
          </a:xfrm>
          <a:prstGeom prst="rect">
            <a:avLst/>
          </a:prstGeom>
        </p:spPr>
      </p:pic>
      <p:sp>
        <p:nvSpPr>
          <p:cNvPr id="48" name="Text 25"/>
          <p:cNvSpPr txBox="1"/>
          <p:nvPr/>
        </p:nvSpPr>
        <p:spPr>
          <a:xfrm>
            <a:off x="9439351" y="5547578"/>
            <a:ext cx="213969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효율성</a:t>
            </a:r>
            <a:endParaRPr lang="en-US" sz="1050" dirty="0"/>
          </a:p>
        </p:txBody>
      </p:sp>
      <p:sp>
        <p:nvSpPr>
          <p:cNvPr id="49" name="Text 26"/>
          <p:cNvSpPr txBox="1"/>
          <p:nvPr/>
        </p:nvSpPr>
        <p:spPr>
          <a:xfrm>
            <a:off x="9210752" y="5823313"/>
            <a:ext cx="2285999" cy="21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 공수가 적고 모니터링이 용이한 프로세스</a:t>
            </a:r>
            <a:endParaRPr lang="en-US" sz="900" dirty="0"/>
          </a:p>
        </p:txBody>
      </p:sp>
      <p:sp>
        <p:nvSpPr>
          <p:cNvPr id="50" name="Shape 27"/>
          <p:cNvSpPr/>
          <p:nvPr/>
        </p:nvSpPr>
        <p:spPr>
          <a:xfrm>
            <a:off x="609905" y="6611025"/>
            <a:ext cx="10972800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21" descr="preencoded.png"/>
          <p:cNvPicPr>
            <a:picLocks noChangeAspect="1"/>
          </p:cNvPicPr>
          <p:nvPr/>
        </p:nvPicPr>
        <p:blipFill>
          <a:blip r:embed="rId4"/>
          <a:srcRect t="-25" b="-25"/>
          <a:stretch/>
        </p:blipFill>
        <p:spPr>
          <a:xfrm>
            <a:off x="609905" y="1638605"/>
            <a:ext cx="3562502" cy="857707"/>
          </a:xfrm>
          <a:prstGeom prst="rect">
            <a:avLst/>
          </a:prstGeom>
        </p:spPr>
      </p:pic>
      <p:sp>
        <p:nvSpPr>
          <p:cNvPr id="54" name="Shape 30"/>
          <p:cNvSpPr/>
          <p:nvPr/>
        </p:nvSpPr>
        <p:spPr>
          <a:xfrm>
            <a:off x="809244" y="1837944"/>
            <a:ext cx="457200" cy="457200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5" name="Image 22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923544" y="1952244"/>
            <a:ext cx="228600" cy="228600"/>
          </a:xfrm>
          <a:prstGeom prst="rect">
            <a:avLst/>
          </a:prstGeom>
        </p:spPr>
      </p:pic>
      <p:sp>
        <p:nvSpPr>
          <p:cNvPr id="56" name="Text 31"/>
          <p:cNvSpPr txBox="1"/>
          <p:nvPr/>
        </p:nvSpPr>
        <p:spPr>
          <a:xfrm>
            <a:off x="1419149" y="1837944"/>
            <a:ext cx="264535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안정성 (Stability)</a:t>
            </a:r>
            <a:endParaRPr lang="en-US" sz="1300" dirty="0"/>
          </a:p>
        </p:txBody>
      </p:sp>
      <p:sp>
        <p:nvSpPr>
          <p:cNvPr id="57" name="Text 32"/>
          <p:cNvSpPr txBox="1"/>
          <p:nvPr/>
        </p:nvSpPr>
        <p:spPr>
          <a:xfrm>
            <a:off x="1419149" y="2104949"/>
            <a:ext cx="31674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원금 보전 최우선, 신용등급 A+ 이상 기관 거래</a:t>
            </a:r>
            <a:endParaRPr lang="en-US" sz="1000" dirty="0"/>
          </a:p>
        </p:txBody>
      </p:sp>
      <p:pic>
        <p:nvPicPr>
          <p:cNvPr id="58" name="Image 23" descr="preencoded.png"/>
          <p:cNvPicPr>
            <a:picLocks noChangeAspect="1"/>
          </p:cNvPicPr>
          <p:nvPr/>
        </p:nvPicPr>
        <p:blipFill>
          <a:blip r:embed="rId21"/>
          <a:srcRect t="-25" b="-25"/>
          <a:stretch/>
        </p:blipFill>
        <p:spPr>
          <a:xfrm>
            <a:off x="4317797" y="1638605"/>
            <a:ext cx="3562502" cy="857707"/>
          </a:xfrm>
          <a:prstGeom prst="rect">
            <a:avLst/>
          </a:prstGeom>
        </p:spPr>
      </p:pic>
      <p:sp>
        <p:nvSpPr>
          <p:cNvPr id="59" name="Shape 33"/>
          <p:cNvSpPr/>
          <p:nvPr/>
        </p:nvSpPr>
        <p:spPr>
          <a:xfrm>
            <a:off x="4518050" y="1837944"/>
            <a:ext cx="457200" cy="457200"/>
          </a:xfrm>
          <a:prstGeom prst="ellipse">
            <a:avLst/>
          </a:prstGeom>
          <a:solidFill>
            <a:srgbClr val="60A5FA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0" name="Image 24" descr="preencoded.png"/>
          <p:cNvPicPr>
            <a:picLocks noChangeAspect="1"/>
          </p:cNvPicPr>
          <p:nvPr/>
        </p:nvPicPr>
        <p:blipFill>
          <a:blip r:embed="rId22"/>
          <a:srcRect l="-133" r="-133"/>
          <a:stretch/>
        </p:blipFill>
        <p:spPr>
          <a:xfrm>
            <a:off x="4660697" y="1952244"/>
            <a:ext cx="171907" cy="228600"/>
          </a:xfrm>
          <a:prstGeom prst="rect">
            <a:avLst/>
          </a:prstGeom>
        </p:spPr>
      </p:pic>
      <p:sp>
        <p:nvSpPr>
          <p:cNvPr id="61" name="Text 34"/>
          <p:cNvSpPr txBox="1"/>
          <p:nvPr/>
        </p:nvSpPr>
        <p:spPr>
          <a:xfrm>
            <a:off x="5127955" y="1837944"/>
            <a:ext cx="251642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유동성 (Liquidity)</a:t>
            </a:r>
            <a:endParaRPr lang="en-US" sz="1300" dirty="0"/>
          </a:p>
        </p:txBody>
      </p:sp>
      <p:sp>
        <p:nvSpPr>
          <p:cNvPr id="62" name="Text 35"/>
          <p:cNvSpPr txBox="1"/>
          <p:nvPr/>
        </p:nvSpPr>
        <p:spPr>
          <a:xfrm>
            <a:off x="5127955" y="2104949"/>
            <a:ext cx="28794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적기 자금 공급, 만기 분산(Laddering) 운용</a:t>
            </a:r>
            <a:endParaRPr lang="en-US" sz="1000" dirty="0"/>
          </a:p>
        </p:txBody>
      </p:sp>
      <p:sp>
        <p:nvSpPr>
          <p:cNvPr id="63" name="Text 36"/>
          <p:cNvSpPr txBox="1"/>
          <p:nvPr/>
        </p:nvSpPr>
        <p:spPr>
          <a:xfrm>
            <a:off x="1037844" y="3591611"/>
            <a:ext cx="3721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예금:</a:t>
            </a:r>
            <a:endParaRPr lang="en-US" sz="1000" dirty="0"/>
          </a:p>
        </p:txBody>
      </p:sp>
      <p:sp>
        <p:nvSpPr>
          <p:cNvPr id="64" name="Text 37"/>
          <p:cNvSpPr txBox="1"/>
          <p:nvPr/>
        </p:nvSpPr>
        <p:spPr>
          <a:xfrm>
            <a:off x="1325880" y="3591611"/>
            <a:ext cx="189189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정기예금, MMDA (제1금융권)</a:t>
            </a:r>
            <a:endParaRPr lang="en-US" sz="1000" dirty="0"/>
          </a:p>
        </p:txBody>
      </p:sp>
      <p:sp>
        <p:nvSpPr>
          <p:cNvPr id="65" name="Text 38"/>
          <p:cNvSpPr txBox="1"/>
          <p:nvPr/>
        </p:nvSpPr>
        <p:spPr>
          <a:xfrm>
            <a:off x="1037844" y="3849189"/>
            <a:ext cx="51389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국공채:</a:t>
            </a:r>
            <a:endParaRPr lang="en-US" sz="1000" dirty="0"/>
          </a:p>
        </p:txBody>
      </p:sp>
      <p:sp>
        <p:nvSpPr>
          <p:cNvPr id="66" name="Text 39"/>
          <p:cNvSpPr txBox="1"/>
          <p:nvPr/>
        </p:nvSpPr>
        <p:spPr>
          <a:xfrm>
            <a:off x="1457837" y="3858616"/>
            <a:ext cx="18836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만기 3년 이하 국채, 통안채</a:t>
            </a:r>
            <a:endParaRPr lang="en-US" sz="1000" dirty="0"/>
          </a:p>
        </p:txBody>
      </p:sp>
      <p:sp>
        <p:nvSpPr>
          <p:cNvPr id="67" name="Text 40"/>
          <p:cNvSpPr txBox="1"/>
          <p:nvPr/>
        </p:nvSpPr>
        <p:spPr>
          <a:xfrm>
            <a:off x="1037844" y="4096425"/>
            <a:ext cx="51389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회사채:</a:t>
            </a:r>
            <a:endParaRPr lang="en-US" sz="1000" dirty="0"/>
          </a:p>
        </p:txBody>
      </p:sp>
      <p:sp>
        <p:nvSpPr>
          <p:cNvPr id="68" name="Text 41"/>
          <p:cNvSpPr txBox="1"/>
          <p:nvPr/>
        </p:nvSpPr>
        <p:spPr>
          <a:xfrm>
            <a:off x="1476691" y="4096425"/>
            <a:ext cx="23600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신용등급 AA- 이상, 만기 1년 이하</a:t>
            </a:r>
            <a:endParaRPr lang="en-US" sz="1000" dirty="0"/>
          </a:p>
        </p:txBody>
      </p:sp>
      <p:sp>
        <p:nvSpPr>
          <p:cNvPr id="69" name="Text 42"/>
          <p:cNvSpPr txBox="1"/>
          <p:nvPr/>
        </p:nvSpPr>
        <p:spPr>
          <a:xfrm>
            <a:off x="1037844" y="4363430"/>
            <a:ext cx="6547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단기자금:</a:t>
            </a:r>
            <a:endParaRPr lang="en-US" sz="1000" dirty="0"/>
          </a:p>
        </p:txBody>
      </p:sp>
      <p:sp>
        <p:nvSpPr>
          <p:cNvPr id="70" name="Text 43"/>
          <p:cNvSpPr txBox="1"/>
          <p:nvPr/>
        </p:nvSpPr>
        <p:spPr>
          <a:xfrm>
            <a:off x="1599220" y="4363430"/>
            <a:ext cx="19897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MMF (국공채형), CMA (RP형)</a:t>
            </a:r>
            <a:endParaRPr lang="en-US" sz="1000" dirty="0"/>
          </a:p>
        </p:txBody>
      </p:sp>
      <p:sp>
        <p:nvSpPr>
          <p:cNvPr id="71" name="Text 44"/>
          <p:cNvSpPr txBox="1"/>
          <p:nvPr/>
        </p:nvSpPr>
        <p:spPr>
          <a:xfrm>
            <a:off x="1037844" y="5534776"/>
            <a:ext cx="278892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파생결합증권 (ELS, DLS 등 원금비보장형)</a:t>
            </a:r>
            <a:endParaRPr lang="en-US" sz="1000" dirty="0"/>
          </a:p>
        </p:txBody>
      </p:sp>
      <p:sp>
        <p:nvSpPr>
          <p:cNvPr id="72" name="Text 45"/>
          <p:cNvSpPr txBox="1"/>
          <p:nvPr/>
        </p:nvSpPr>
        <p:spPr>
          <a:xfrm>
            <a:off x="1037844" y="5801781"/>
            <a:ext cx="198790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주식형/혼합형 펀드, 사모펀드</a:t>
            </a:r>
            <a:endParaRPr lang="en-US" sz="1000" dirty="0"/>
          </a:p>
        </p:txBody>
      </p:sp>
      <p:sp>
        <p:nvSpPr>
          <p:cNvPr id="73" name="Text 46"/>
          <p:cNvSpPr txBox="1"/>
          <p:nvPr/>
        </p:nvSpPr>
        <p:spPr>
          <a:xfrm>
            <a:off x="1037844" y="6068786"/>
            <a:ext cx="29434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구조가 복잡하거나 레버리지를 일으키는 상품</a:t>
            </a:r>
            <a:endParaRPr lang="en-US" sz="1000" dirty="0"/>
          </a:p>
        </p:txBody>
      </p:sp>
      <p:pic>
        <p:nvPicPr>
          <p:cNvPr id="74" name="Image 25" descr="preencoded.png"/>
          <p:cNvPicPr>
            <a:picLocks noChangeAspect="1"/>
          </p:cNvPicPr>
          <p:nvPr/>
        </p:nvPicPr>
        <p:blipFill>
          <a:blip r:embed="rId23"/>
          <a:srcRect t="-80" b="-80"/>
          <a:stretch/>
        </p:blipFill>
        <p:spPr>
          <a:xfrm>
            <a:off x="4127602" y="1943100"/>
            <a:ext cx="142646" cy="228600"/>
          </a:xfrm>
          <a:prstGeom prst="rect">
            <a:avLst/>
          </a:prstGeom>
        </p:spPr>
      </p:pic>
      <p:pic>
        <p:nvPicPr>
          <p:cNvPr id="75" name="Image 26" descr="preencoded.png"/>
          <p:cNvPicPr>
            <a:picLocks noChangeAspect="1"/>
          </p:cNvPicPr>
          <p:nvPr/>
        </p:nvPicPr>
        <p:blipFill>
          <a:blip r:embed="rId23"/>
          <a:srcRect t="-80" b="-80"/>
          <a:stretch/>
        </p:blipFill>
        <p:spPr>
          <a:xfrm>
            <a:off x="7835494" y="1943100"/>
            <a:ext cx="142646" cy="228600"/>
          </a:xfrm>
          <a:prstGeom prst="rect">
            <a:avLst/>
          </a:prstGeom>
        </p:spPr>
      </p:pic>
      <p:grpSp>
        <p:nvGrpSpPr>
          <p:cNvPr id="51" name="그룹 50">
            <a:extLst>
              <a:ext uri="{FF2B5EF4-FFF2-40B4-BE49-F238E27FC236}">
                <a16:creationId xmlns:a16="http://schemas.microsoft.com/office/drawing/2014/main" id="{8B5AE376-9067-ACDF-21CC-45AA741548E3}"/>
              </a:ext>
            </a:extLst>
          </p:cNvPr>
          <p:cNvGrpSpPr/>
          <p:nvPr/>
        </p:nvGrpSpPr>
        <p:grpSpPr>
          <a:xfrm>
            <a:off x="10568635" y="486832"/>
            <a:ext cx="1057046" cy="228600"/>
            <a:chOff x="10568635" y="486832"/>
            <a:chExt cx="1057046" cy="228600"/>
          </a:xfrm>
        </p:grpSpPr>
        <p:sp>
          <p:nvSpPr>
            <p:cNvPr id="52" name="Shape 29"/>
            <p:cNvSpPr/>
            <p:nvPr/>
          </p:nvSpPr>
          <p:spPr>
            <a:xfrm>
              <a:off x="10568635" y="486832"/>
              <a:ext cx="1057046" cy="228600"/>
            </a:xfrm>
            <a:prstGeom prst="roundRect">
              <a:avLst>
                <a:gd name="adj" fmla="val 66667"/>
              </a:avLst>
            </a:prstGeom>
            <a:solidFill>
              <a:srgbClr val="1F2937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10634623" y="533095"/>
              <a:ext cx="905256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chemeClr val="bg1">
                      <a:lumMod val="65000"/>
                    </a:schemeClr>
                  </a:solidFill>
                </a:rPr>
                <a:t>COMMON POLICY</a:t>
              </a:r>
            </a:p>
          </p:txBody>
        </p:sp>
      </p:grpSp>
      <p:sp>
        <p:nvSpPr>
          <p:cNvPr id="76" name="Text 15">
            <a:extLst>
              <a:ext uri="{FF2B5EF4-FFF2-40B4-BE49-F238E27FC236}">
                <a16:creationId xmlns:a16="http://schemas.microsoft.com/office/drawing/2014/main" id="{3436F45A-E97F-4669-6A37-9F1C62031710}"/>
              </a:ext>
            </a:extLst>
          </p:cNvPr>
          <p:cNvSpPr txBox="1"/>
          <p:nvPr/>
        </p:nvSpPr>
        <p:spPr>
          <a:xfrm>
            <a:off x="9417362" y="6647829"/>
            <a:ext cx="211759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Selvas Group Treasury Committee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457200"/>
            <a:ext cx="51928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56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자금운용 규정: 거버넌스 및 보고체계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09905" y="952805"/>
            <a:ext cx="457200" cy="38405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81405" y="875995"/>
            <a:ext cx="37911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5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Governance Structure &amp; Reporting System</a:t>
            </a:r>
            <a:endParaRPr lang="en-US" sz="1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5" r="-5"/>
          <a:stretch/>
        </p:blipFill>
        <p:spPr>
          <a:xfrm>
            <a:off x="609905" y="4364431"/>
            <a:ext cx="5372100" cy="208574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09244" y="4907585"/>
            <a:ext cx="4972507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1057046" y="4564685"/>
            <a:ext cx="115123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주요 의결 대상 </a:t>
            </a:r>
            <a:endParaRPr lang="en-US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9244" y="4612234"/>
            <a:ext cx="171907" cy="17190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543654" y="4602175"/>
            <a:ext cx="1238098" cy="190195"/>
          </a:xfrm>
          <a:prstGeom prst="roundRect">
            <a:avLst>
              <a:gd name="adj" fmla="val 96154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l="-9" r="-9"/>
          <a:stretch/>
        </p:blipFill>
        <p:spPr>
          <a:xfrm>
            <a:off x="809244" y="5031029"/>
            <a:ext cx="2428646" cy="55229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914400" y="5155387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064E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1000354" y="5231282"/>
            <a:ext cx="133502" cy="15270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33195" y="5136185"/>
            <a:ext cx="94183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운용상품</a:t>
            </a:r>
            <a:endParaRPr lang="en-US" sz="1000" dirty="0"/>
          </a:p>
        </p:txBody>
      </p:sp>
      <p:sp>
        <p:nvSpPr>
          <p:cNvPr id="16" name="Text 10"/>
          <p:cNvSpPr txBox="1"/>
          <p:nvPr/>
        </p:nvSpPr>
        <p:spPr>
          <a:xfrm>
            <a:off x="1333195" y="5326380"/>
            <a:ext cx="97017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최초 도입 상품군</a:t>
            </a:r>
            <a:endParaRPr lang="en-US" sz="9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 l="-9" r="-9"/>
          <a:stretch/>
        </p:blipFill>
        <p:spPr>
          <a:xfrm>
            <a:off x="3353105" y="5031029"/>
            <a:ext cx="2428646" cy="552298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3457346" y="5155387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7F1D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534156" y="5231282"/>
            <a:ext cx="152705" cy="152705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3877056" y="5136185"/>
            <a:ext cx="103601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한도 초과 거래</a:t>
            </a:r>
            <a:endParaRPr lang="en-US" sz="1000" dirty="0"/>
          </a:p>
        </p:txBody>
      </p:sp>
      <p:sp>
        <p:nvSpPr>
          <p:cNvPr id="21" name="Text 13"/>
          <p:cNvSpPr txBox="1"/>
          <p:nvPr/>
        </p:nvSpPr>
        <p:spPr>
          <a:xfrm>
            <a:off x="3877056" y="5326380"/>
            <a:ext cx="11603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기관/상품 한도 예외</a:t>
            </a:r>
            <a:endParaRPr lang="en-US" sz="9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5"/>
          <a:srcRect l="-9" r="-9"/>
          <a:stretch/>
        </p:blipFill>
        <p:spPr>
          <a:xfrm>
            <a:off x="809244" y="5697626"/>
            <a:ext cx="2428646" cy="552298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914400" y="5821985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8"/>
          <a:srcRect l="-33" r="-33"/>
          <a:stretch/>
        </p:blipFill>
        <p:spPr>
          <a:xfrm>
            <a:off x="981151" y="5897880"/>
            <a:ext cx="171907" cy="152705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1333195" y="5802782"/>
            <a:ext cx="10003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대규모 거래</a:t>
            </a:r>
            <a:endParaRPr lang="en-US" sz="1000" dirty="0"/>
          </a:p>
        </p:txBody>
      </p:sp>
      <p:sp>
        <p:nvSpPr>
          <p:cNvPr id="26" name="Text 16"/>
          <p:cNvSpPr txBox="1"/>
          <p:nvPr/>
        </p:nvSpPr>
        <p:spPr>
          <a:xfrm>
            <a:off x="1333195" y="5992978"/>
            <a:ext cx="1100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건당 100억 원 이상</a:t>
            </a:r>
            <a:endParaRPr lang="en-US" sz="90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5"/>
          <a:srcRect l="-9" r="-9"/>
          <a:stretch/>
        </p:blipFill>
        <p:spPr>
          <a:xfrm>
            <a:off x="3353105" y="5697626"/>
            <a:ext cx="2428646" cy="552298"/>
          </a:xfrm>
          <a:prstGeom prst="rect">
            <a:avLst/>
          </a:prstGeom>
        </p:spPr>
      </p:pic>
      <p:sp>
        <p:nvSpPr>
          <p:cNvPr id="28" name="Shape 17"/>
          <p:cNvSpPr/>
          <p:nvPr/>
        </p:nvSpPr>
        <p:spPr>
          <a:xfrm>
            <a:off x="3457346" y="5821985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312E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534156" y="5897880"/>
            <a:ext cx="152705" cy="152705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3877056" y="5802782"/>
            <a:ext cx="11009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헤지</a:t>
            </a:r>
            <a:endParaRPr lang="en-US" sz="1000" dirty="0"/>
          </a:p>
        </p:txBody>
      </p:sp>
      <p:sp>
        <p:nvSpPr>
          <p:cNvPr id="31" name="Text 19"/>
          <p:cNvSpPr txBox="1"/>
          <p:nvPr/>
        </p:nvSpPr>
        <p:spPr>
          <a:xfrm>
            <a:off x="3877056" y="5992978"/>
            <a:ext cx="120700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파생상품 등 헤지전략</a:t>
            </a:r>
            <a:endParaRPr lang="en-US" sz="900" dirty="0"/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3"/>
          <a:srcRect l="-5" r="-5"/>
          <a:stretch/>
        </p:blipFill>
        <p:spPr>
          <a:xfrm>
            <a:off x="6210605" y="4364431"/>
            <a:ext cx="5372100" cy="2085746"/>
          </a:xfrm>
          <a:prstGeom prst="rect">
            <a:avLst/>
          </a:prstGeom>
        </p:spPr>
      </p:pic>
      <p:sp>
        <p:nvSpPr>
          <p:cNvPr id="33" name="Shape 20"/>
          <p:cNvSpPr/>
          <p:nvPr/>
        </p:nvSpPr>
        <p:spPr>
          <a:xfrm>
            <a:off x="6409944" y="4907585"/>
            <a:ext cx="4972507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1"/>
          <p:cNvSpPr txBox="1"/>
          <p:nvPr/>
        </p:nvSpPr>
        <p:spPr>
          <a:xfrm>
            <a:off x="6676949" y="4564685"/>
            <a:ext cx="164043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</a:t>
            </a: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 점검</a:t>
            </a: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체계 </a:t>
            </a:r>
            <a:endParaRPr lang="en-US" sz="1300" dirty="0"/>
          </a:p>
        </p:txBody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10"/>
          <a:srcRect t="-842" b="-842"/>
          <a:stretch/>
        </p:blipFill>
        <p:spPr>
          <a:xfrm>
            <a:off x="6409944" y="4612234"/>
            <a:ext cx="190195" cy="171907"/>
          </a:xfrm>
          <a:prstGeom prst="rect">
            <a:avLst/>
          </a:prstGeom>
        </p:spPr>
      </p:pic>
      <p:sp>
        <p:nvSpPr>
          <p:cNvPr id="36" name="Shape 22"/>
          <p:cNvSpPr/>
          <p:nvPr/>
        </p:nvSpPr>
        <p:spPr>
          <a:xfrm>
            <a:off x="10206533" y="4602175"/>
            <a:ext cx="1181405" cy="190195"/>
          </a:xfrm>
          <a:prstGeom prst="roundRect">
            <a:avLst>
              <a:gd name="adj" fmla="val 96154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23"/>
          <p:cNvSpPr/>
          <p:nvPr/>
        </p:nvSpPr>
        <p:spPr>
          <a:xfrm>
            <a:off x="6403727" y="5499123"/>
            <a:ext cx="651600" cy="244800"/>
          </a:xfrm>
          <a:prstGeom prst="roundRect">
            <a:avLst>
              <a:gd name="adj" fmla="val 66667"/>
            </a:avLst>
          </a:prstGeom>
          <a:solidFill>
            <a:srgbClr val="4C1D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24"/>
          <p:cNvSpPr txBox="1"/>
          <p:nvPr/>
        </p:nvSpPr>
        <p:spPr>
          <a:xfrm>
            <a:off x="7172554" y="5502370"/>
            <a:ext cx="44010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월간 운용현황 보고</a:t>
            </a:r>
            <a:endParaRPr lang="en-US" sz="1000" dirty="0"/>
          </a:p>
        </p:txBody>
      </p:sp>
      <p:sp>
        <p:nvSpPr>
          <p:cNvPr id="39" name="Shape 25"/>
          <p:cNvSpPr/>
          <p:nvPr/>
        </p:nvSpPr>
        <p:spPr>
          <a:xfrm>
            <a:off x="6409944" y="5978902"/>
            <a:ext cx="4972507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26"/>
          <p:cNvSpPr txBox="1"/>
          <p:nvPr/>
        </p:nvSpPr>
        <p:spPr>
          <a:xfrm>
            <a:off x="7172554" y="5999570"/>
            <a:ext cx="44010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 리스크 리포트</a:t>
            </a:r>
            <a:endParaRPr lang="en-US" sz="1000" dirty="0"/>
          </a:p>
        </p:txBody>
      </p:sp>
      <p:sp>
        <p:nvSpPr>
          <p:cNvPr id="41" name="Shape 27"/>
          <p:cNvSpPr/>
          <p:nvPr/>
        </p:nvSpPr>
        <p:spPr>
          <a:xfrm>
            <a:off x="609905" y="6562649"/>
            <a:ext cx="10972800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0"/>
          <p:cNvSpPr txBox="1"/>
          <p:nvPr/>
        </p:nvSpPr>
        <p:spPr>
          <a:xfrm>
            <a:off x="4620463" y="4612234"/>
            <a:ext cx="127833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Mandatory Approval</a:t>
            </a:r>
            <a:endParaRPr lang="en-US" sz="900" dirty="0"/>
          </a:p>
        </p:txBody>
      </p:sp>
      <p:sp>
        <p:nvSpPr>
          <p:cNvPr id="45" name="Text 31"/>
          <p:cNvSpPr txBox="1"/>
          <p:nvPr/>
        </p:nvSpPr>
        <p:spPr>
          <a:xfrm>
            <a:off x="10283342" y="4612234"/>
            <a:ext cx="12243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Regular Monitoring</a:t>
            </a:r>
            <a:endParaRPr lang="en-US" sz="900" dirty="0"/>
          </a:p>
        </p:txBody>
      </p:sp>
      <p:sp>
        <p:nvSpPr>
          <p:cNvPr id="46" name="Text 32"/>
          <p:cNvSpPr txBox="1"/>
          <p:nvPr/>
        </p:nvSpPr>
        <p:spPr>
          <a:xfrm>
            <a:off x="6448349" y="5540142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4B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Monthly</a:t>
            </a:r>
            <a:endParaRPr lang="en-US" sz="900" dirty="0"/>
          </a:p>
        </p:txBody>
      </p:sp>
      <p:sp>
        <p:nvSpPr>
          <p:cNvPr id="47" name="Text 33"/>
          <p:cNvSpPr txBox="1"/>
          <p:nvPr/>
        </p:nvSpPr>
        <p:spPr>
          <a:xfrm>
            <a:off x="7248449" y="5741028"/>
            <a:ext cx="54406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운용 잔액</a:t>
            </a:r>
            <a:endParaRPr lang="en-US" sz="900" dirty="0"/>
          </a:p>
        </p:txBody>
      </p:sp>
      <p:sp>
        <p:nvSpPr>
          <p:cNvPr id="48" name="Text 34"/>
          <p:cNvSpPr txBox="1"/>
          <p:nvPr/>
        </p:nvSpPr>
        <p:spPr>
          <a:xfrm>
            <a:off x="7929677" y="5741028"/>
            <a:ext cx="6629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실현 수익률</a:t>
            </a:r>
            <a:endParaRPr lang="en-US" sz="900" dirty="0"/>
          </a:p>
        </p:txBody>
      </p:sp>
      <p:sp>
        <p:nvSpPr>
          <p:cNvPr id="49" name="Text 35"/>
          <p:cNvSpPr txBox="1"/>
          <p:nvPr/>
        </p:nvSpPr>
        <p:spPr>
          <a:xfrm>
            <a:off x="8716061" y="5741028"/>
            <a:ext cx="54406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만기 분포</a:t>
            </a:r>
            <a:endParaRPr lang="en-US" sz="900" dirty="0"/>
          </a:p>
        </p:txBody>
      </p:sp>
      <p:sp>
        <p:nvSpPr>
          <p:cNvPr id="51" name="Text 37"/>
          <p:cNvSpPr txBox="1"/>
          <p:nvPr/>
        </p:nvSpPr>
        <p:spPr>
          <a:xfrm>
            <a:off x="7248449" y="6237314"/>
            <a:ext cx="78089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 분석</a:t>
            </a:r>
            <a:endParaRPr lang="en-US" sz="900" dirty="0"/>
          </a:p>
        </p:txBody>
      </p:sp>
      <p:sp>
        <p:nvSpPr>
          <p:cNvPr id="52" name="Text 38"/>
          <p:cNvSpPr txBox="1"/>
          <p:nvPr/>
        </p:nvSpPr>
        <p:spPr>
          <a:xfrm>
            <a:off x="8139989" y="6237314"/>
            <a:ext cx="78089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민감도 테스트</a:t>
            </a:r>
            <a:endParaRPr lang="en-US" sz="900" dirty="0"/>
          </a:p>
        </p:txBody>
      </p:sp>
      <p:sp>
        <p:nvSpPr>
          <p:cNvPr id="53" name="Text 39"/>
          <p:cNvSpPr txBox="1"/>
          <p:nvPr/>
        </p:nvSpPr>
        <p:spPr>
          <a:xfrm>
            <a:off x="9031529" y="6237314"/>
            <a:ext cx="85130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규정 준수 여부</a:t>
            </a:r>
            <a:endParaRPr lang="en-US" sz="900" dirty="0"/>
          </a:p>
        </p:txBody>
      </p:sp>
      <p:pic>
        <p:nvPicPr>
          <p:cNvPr id="55" name="Image 13" descr="preencoded.png"/>
          <p:cNvPicPr>
            <a:picLocks noChangeAspect="1"/>
          </p:cNvPicPr>
          <p:nvPr/>
        </p:nvPicPr>
        <p:blipFill>
          <a:blip r:embed="rId11">
            <a:alphaModFix amt="5000"/>
          </a:blip>
          <a:srcRect/>
          <a:stretch/>
        </p:blipFill>
        <p:spPr>
          <a:xfrm>
            <a:off x="2924251" y="1457554"/>
            <a:ext cx="1028700" cy="914400"/>
          </a:xfrm>
          <a:prstGeom prst="rect">
            <a:avLst/>
          </a:prstGeom>
        </p:spPr>
      </p:pic>
      <p:sp>
        <p:nvSpPr>
          <p:cNvPr id="56" name="Text 40"/>
          <p:cNvSpPr txBox="1"/>
          <p:nvPr/>
        </p:nvSpPr>
        <p:spPr>
          <a:xfrm>
            <a:off x="1104595" y="1495044"/>
            <a:ext cx="30010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위원회 구성 </a:t>
            </a:r>
            <a:endParaRPr lang="en-US" sz="1300" dirty="0"/>
          </a:p>
        </p:txBody>
      </p:sp>
      <p:pic>
        <p:nvPicPr>
          <p:cNvPr id="57" name="Image 14" descr="preencoded.png"/>
          <p:cNvPicPr>
            <a:picLocks noChangeAspect="1"/>
          </p:cNvPicPr>
          <p:nvPr/>
        </p:nvPicPr>
        <p:blipFill>
          <a:blip r:embed="rId12"/>
          <a:srcRect l="-1064" r="-1064"/>
          <a:stretch/>
        </p:blipFill>
        <p:spPr>
          <a:xfrm>
            <a:off x="809244" y="1543507"/>
            <a:ext cx="219456" cy="171907"/>
          </a:xfrm>
          <a:prstGeom prst="rect">
            <a:avLst/>
          </a:prstGeom>
        </p:spPr>
      </p:pic>
      <p:pic>
        <p:nvPicPr>
          <p:cNvPr id="58" name="Image 15" descr="preencoded.png"/>
          <p:cNvPicPr>
            <a:picLocks noChangeAspect="1"/>
          </p:cNvPicPr>
          <p:nvPr/>
        </p:nvPicPr>
        <p:blipFill>
          <a:blip r:embed="rId13"/>
          <a:srcRect t="-5" b="-5"/>
          <a:stretch/>
        </p:blipFill>
        <p:spPr>
          <a:xfrm>
            <a:off x="4334256" y="1182776"/>
            <a:ext cx="7239305" cy="2953056"/>
          </a:xfrm>
          <a:prstGeom prst="rect">
            <a:avLst/>
          </a:prstGeom>
        </p:spPr>
      </p:pic>
      <p:sp>
        <p:nvSpPr>
          <p:cNvPr id="59" name="Text 41"/>
          <p:cNvSpPr txBox="1"/>
          <p:nvPr/>
        </p:nvSpPr>
        <p:spPr>
          <a:xfrm>
            <a:off x="4848149" y="1533449"/>
            <a:ext cx="661019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의사결정 프로세스 (Dual-Track) </a:t>
            </a:r>
            <a:endParaRPr lang="en-US" sz="1300" dirty="0"/>
          </a:p>
        </p:txBody>
      </p:sp>
      <p:pic>
        <p:nvPicPr>
          <p:cNvPr id="60" name="Image 16" descr="preencoded.png"/>
          <p:cNvPicPr>
            <a:picLocks noChangeAspect="1"/>
          </p:cNvPicPr>
          <p:nvPr/>
        </p:nvPicPr>
        <p:blipFill>
          <a:blip r:embed="rId14"/>
          <a:srcRect t="-842" b="-842"/>
          <a:stretch/>
        </p:blipFill>
        <p:spPr>
          <a:xfrm>
            <a:off x="4581144" y="1580998"/>
            <a:ext cx="190195" cy="171907"/>
          </a:xfrm>
          <a:prstGeom prst="rect">
            <a:avLst/>
          </a:prstGeom>
        </p:spPr>
      </p:pic>
      <p:pic>
        <p:nvPicPr>
          <p:cNvPr id="61" name="Image 17" descr="preencoded.png"/>
          <p:cNvPicPr>
            <a:picLocks noChangeAspect="1"/>
          </p:cNvPicPr>
          <p:nvPr/>
        </p:nvPicPr>
        <p:blipFill>
          <a:blip r:embed="rId15">
            <a:alphaModFix amt="30000"/>
          </a:blip>
          <a:srcRect l="-5551" r="-5551"/>
          <a:stretch/>
        </p:blipFill>
        <p:spPr>
          <a:xfrm>
            <a:off x="4581144" y="1876349"/>
            <a:ext cx="6762902" cy="2029054"/>
          </a:xfrm>
          <a:prstGeom prst="rect">
            <a:avLst/>
          </a:prstGeom>
        </p:spPr>
      </p:pic>
      <p:pic>
        <p:nvPicPr>
          <p:cNvPr id="65" name="Image 19" descr="preencoded.png"/>
          <p:cNvPicPr>
            <a:picLocks noChangeAspect="1"/>
          </p:cNvPicPr>
          <p:nvPr/>
        </p:nvPicPr>
        <p:blipFill>
          <a:blip r:embed="rId16"/>
          <a:srcRect t="-2187" b="-2187"/>
          <a:stretch/>
        </p:blipFill>
        <p:spPr>
          <a:xfrm>
            <a:off x="2357323" y="2791663"/>
            <a:ext cx="9144" cy="152705"/>
          </a:xfrm>
          <a:prstGeom prst="rect">
            <a:avLst/>
          </a:prstGeom>
        </p:spPr>
      </p:pic>
      <p:sp>
        <p:nvSpPr>
          <p:cNvPr id="72" name="Shape 48"/>
          <p:cNvSpPr/>
          <p:nvPr/>
        </p:nvSpPr>
        <p:spPr>
          <a:xfrm>
            <a:off x="6409944" y="2877617"/>
            <a:ext cx="638251" cy="19202"/>
          </a:xfrm>
          <a:prstGeom prst="rect">
            <a:avLst/>
          </a:prstGeom>
          <a:solidFill>
            <a:srgbClr val="4755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49"/>
          <p:cNvSpPr/>
          <p:nvPr/>
        </p:nvSpPr>
        <p:spPr>
          <a:xfrm>
            <a:off x="8876995" y="2877617"/>
            <a:ext cx="638251" cy="19202"/>
          </a:xfrm>
          <a:prstGeom prst="rect">
            <a:avLst/>
          </a:prstGeom>
          <a:solidFill>
            <a:srgbClr val="4755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4" name="Image 22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5038344" y="2153412"/>
            <a:ext cx="914400" cy="914400"/>
          </a:xfrm>
          <a:prstGeom prst="rect">
            <a:avLst/>
          </a:prstGeom>
        </p:spPr>
      </p:pic>
      <p:pic>
        <p:nvPicPr>
          <p:cNvPr id="75" name="Image 23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5352898" y="2334463"/>
            <a:ext cx="286207" cy="286207"/>
          </a:xfrm>
          <a:prstGeom prst="rect">
            <a:avLst/>
          </a:prstGeom>
        </p:spPr>
      </p:pic>
      <p:sp>
        <p:nvSpPr>
          <p:cNvPr id="76" name="Text 50"/>
          <p:cNvSpPr txBox="1"/>
          <p:nvPr/>
        </p:nvSpPr>
        <p:spPr>
          <a:xfrm>
            <a:off x="5289804" y="2658161"/>
            <a:ext cx="4992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 2회</a:t>
            </a:r>
            <a:endParaRPr lang="en-US" sz="1200" dirty="0"/>
          </a:p>
        </p:txBody>
      </p:sp>
      <p:pic>
        <p:nvPicPr>
          <p:cNvPr id="77" name="Image 24" descr="preencoded.png"/>
          <p:cNvPicPr>
            <a:picLocks noChangeAspect="1"/>
          </p:cNvPicPr>
          <p:nvPr/>
        </p:nvPicPr>
        <p:blipFill>
          <a:blip r:embed="rId19"/>
          <a:srcRect l="-2" r="-2"/>
          <a:stretch/>
        </p:blipFill>
        <p:spPr>
          <a:xfrm>
            <a:off x="5003597" y="3182112"/>
            <a:ext cx="990295" cy="437998"/>
          </a:xfrm>
          <a:prstGeom prst="rect">
            <a:avLst/>
          </a:prstGeom>
        </p:spPr>
      </p:pic>
      <p:sp>
        <p:nvSpPr>
          <p:cNvPr id="78" name="Text 51"/>
          <p:cNvSpPr txBox="1"/>
          <p:nvPr/>
        </p:nvSpPr>
        <p:spPr>
          <a:xfrm>
            <a:off x="5051146" y="3192170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정책회의</a:t>
            </a:r>
            <a:endParaRPr lang="en-US" sz="1200" dirty="0"/>
          </a:p>
        </p:txBody>
      </p:sp>
      <p:sp>
        <p:nvSpPr>
          <p:cNvPr id="79" name="Text 52"/>
          <p:cNvSpPr txBox="1"/>
          <p:nvPr/>
        </p:nvSpPr>
        <p:spPr>
          <a:xfrm>
            <a:off x="5013655" y="3458261"/>
            <a:ext cx="97109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상/하반기 방향성</a:t>
            </a:r>
            <a:endParaRPr lang="en-US" sz="900" dirty="0"/>
          </a:p>
        </p:txBody>
      </p:sp>
      <p:pic>
        <p:nvPicPr>
          <p:cNvPr id="80" name="Image 25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7582205" y="2229307"/>
            <a:ext cx="761695" cy="761695"/>
          </a:xfrm>
          <a:prstGeom prst="rect">
            <a:avLst/>
          </a:prstGeom>
        </p:spPr>
      </p:pic>
      <p:pic>
        <p:nvPicPr>
          <p:cNvPr id="81" name="Image 26" descr="preencoded.png"/>
          <p:cNvPicPr>
            <a:picLocks noChangeAspect="1"/>
          </p:cNvPicPr>
          <p:nvPr/>
        </p:nvPicPr>
        <p:blipFill>
          <a:blip r:embed="rId21"/>
          <a:srcRect l="-80" r="-80"/>
          <a:stretch/>
        </p:blipFill>
        <p:spPr>
          <a:xfrm>
            <a:off x="7819949" y="2362810"/>
            <a:ext cx="286207" cy="228600"/>
          </a:xfrm>
          <a:prstGeom prst="rect">
            <a:avLst/>
          </a:prstGeom>
        </p:spPr>
      </p:pic>
      <p:sp>
        <p:nvSpPr>
          <p:cNvPr id="82" name="Text 53"/>
          <p:cNvSpPr txBox="1"/>
          <p:nvPr/>
        </p:nvSpPr>
        <p:spPr>
          <a:xfrm>
            <a:off x="7752283" y="2629814"/>
            <a:ext cx="505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매분기</a:t>
            </a:r>
            <a:endParaRPr lang="en-US" sz="1200" dirty="0"/>
          </a:p>
        </p:txBody>
      </p:sp>
      <p:sp>
        <p:nvSpPr>
          <p:cNvPr id="84" name="Text 54"/>
          <p:cNvSpPr txBox="1"/>
          <p:nvPr/>
        </p:nvSpPr>
        <p:spPr>
          <a:xfrm>
            <a:off x="7570318" y="3209631"/>
            <a:ext cx="790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운영회의</a:t>
            </a:r>
            <a:endParaRPr lang="en-US" sz="1200" dirty="0"/>
          </a:p>
        </p:txBody>
      </p:sp>
      <p:pic>
        <p:nvPicPr>
          <p:cNvPr id="86" name="Image 28" descr="preencoded.png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10131714" y="2268511"/>
            <a:ext cx="763200" cy="729304"/>
          </a:xfrm>
          <a:prstGeom prst="rect">
            <a:avLst/>
          </a:prstGeom>
        </p:spPr>
      </p:pic>
      <p:pic>
        <p:nvPicPr>
          <p:cNvPr id="87" name="Image 29" descr="preencoded.png"/>
          <p:cNvPicPr>
            <a:picLocks noChangeAspect="1"/>
          </p:cNvPicPr>
          <p:nvPr/>
        </p:nvPicPr>
        <p:blipFill>
          <a:blip r:embed="rId23"/>
          <a:srcRect l="-133" r="-133"/>
          <a:stretch/>
        </p:blipFill>
        <p:spPr>
          <a:xfrm>
            <a:off x="10427360" y="2535676"/>
            <a:ext cx="171907" cy="228600"/>
          </a:xfrm>
          <a:prstGeom prst="rect">
            <a:avLst/>
          </a:prstGeom>
        </p:spPr>
      </p:pic>
      <p:pic>
        <p:nvPicPr>
          <p:cNvPr id="88" name="Image 30" descr="preencoded.png"/>
          <p:cNvPicPr>
            <a:picLocks noChangeAspect="1"/>
          </p:cNvPicPr>
          <p:nvPr/>
        </p:nvPicPr>
        <p:blipFill>
          <a:blip r:embed="rId24"/>
          <a:srcRect l="-54" r="-54"/>
          <a:stretch/>
        </p:blipFill>
        <p:spPr>
          <a:xfrm>
            <a:off x="10117836" y="3115294"/>
            <a:ext cx="790956" cy="523015"/>
          </a:xfrm>
          <a:prstGeom prst="rect">
            <a:avLst/>
          </a:prstGeom>
        </p:spPr>
      </p:pic>
      <p:sp>
        <p:nvSpPr>
          <p:cNvPr id="89" name="Text 56"/>
          <p:cNvSpPr txBox="1"/>
          <p:nvPr/>
        </p:nvSpPr>
        <p:spPr>
          <a:xfrm>
            <a:off x="10231374" y="3162147"/>
            <a:ext cx="5340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</a:t>
            </a:r>
            <a:endParaRPr lang="en-US" sz="1200" dirty="0"/>
          </a:p>
        </p:txBody>
      </p:sp>
      <p:sp>
        <p:nvSpPr>
          <p:cNvPr id="90" name="Text 57"/>
          <p:cNvSpPr txBox="1"/>
          <p:nvPr/>
        </p:nvSpPr>
        <p:spPr>
          <a:xfrm>
            <a:off x="10225887" y="3400871"/>
            <a:ext cx="54406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자금 집행</a:t>
            </a:r>
            <a:endParaRPr lang="en-US" sz="900" dirty="0"/>
          </a:p>
        </p:txBody>
      </p:sp>
      <p:pic>
        <p:nvPicPr>
          <p:cNvPr id="91" name="Image 31" descr="preencoded.png"/>
          <p:cNvPicPr>
            <a:picLocks noChangeAspect="1"/>
          </p:cNvPicPr>
          <p:nvPr/>
        </p:nvPicPr>
        <p:blipFill>
          <a:blip r:embed="rId25"/>
          <a:srcRect t="-69" b="-69"/>
          <a:stretch/>
        </p:blipFill>
        <p:spPr>
          <a:xfrm>
            <a:off x="4999025" y="1972361"/>
            <a:ext cx="1000354" cy="286207"/>
          </a:xfrm>
          <a:prstGeom prst="rect">
            <a:avLst/>
          </a:prstGeom>
        </p:spPr>
      </p:pic>
      <p:sp>
        <p:nvSpPr>
          <p:cNvPr id="92" name="Text 58"/>
          <p:cNvSpPr txBox="1"/>
          <p:nvPr/>
        </p:nvSpPr>
        <p:spPr>
          <a:xfrm>
            <a:off x="5046574" y="2000707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STRATEGIC</a:t>
            </a:r>
            <a:endParaRPr lang="en-US" sz="1200" dirty="0"/>
          </a:p>
        </p:txBody>
      </p:sp>
      <p:pic>
        <p:nvPicPr>
          <p:cNvPr id="93" name="Image 32" descr="preencoded.png"/>
          <p:cNvPicPr>
            <a:picLocks noChangeAspect="1"/>
          </p:cNvPicPr>
          <p:nvPr/>
        </p:nvPicPr>
        <p:blipFill>
          <a:blip r:embed="rId26"/>
          <a:srcRect t="-67" b="-67"/>
          <a:stretch/>
        </p:blipFill>
        <p:spPr>
          <a:xfrm>
            <a:off x="7521854" y="2049170"/>
            <a:ext cx="886054" cy="286207"/>
          </a:xfrm>
          <a:prstGeom prst="rect">
            <a:avLst/>
          </a:prstGeom>
        </p:spPr>
      </p:pic>
      <p:sp>
        <p:nvSpPr>
          <p:cNvPr id="94" name="Text 59"/>
          <p:cNvSpPr txBox="1"/>
          <p:nvPr/>
        </p:nvSpPr>
        <p:spPr>
          <a:xfrm>
            <a:off x="7569403" y="2077517"/>
            <a:ext cx="790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TACTICAL</a:t>
            </a:r>
            <a:endParaRPr lang="en-US" sz="1200" dirty="0"/>
          </a:p>
        </p:txBody>
      </p:sp>
      <p:sp>
        <p:nvSpPr>
          <p:cNvPr id="96" name="Text 60"/>
          <p:cNvSpPr txBox="1"/>
          <p:nvPr/>
        </p:nvSpPr>
        <p:spPr>
          <a:xfrm>
            <a:off x="7115709" y="3658101"/>
            <a:ext cx="17675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이슈 발생 시 정책회의 재상정</a:t>
            </a:r>
            <a:endParaRPr lang="en-US" sz="900" dirty="0"/>
          </a:p>
        </p:txBody>
      </p:sp>
      <p:pic>
        <p:nvPicPr>
          <p:cNvPr id="97" name="Image 34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7143925" y="3677630"/>
            <a:ext cx="114300" cy="114300"/>
          </a:xfrm>
          <a:prstGeom prst="rect">
            <a:avLst/>
          </a:prstGeom>
        </p:spPr>
      </p:pic>
      <p:pic>
        <p:nvPicPr>
          <p:cNvPr id="99" name="Image 18" descr="preencoded.png">
            <a:extLst>
              <a:ext uri="{FF2B5EF4-FFF2-40B4-BE49-F238E27FC236}">
                <a16:creationId xmlns:a16="http://schemas.microsoft.com/office/drawing/2014/main" id="{A0E70E98-AA05-F4D9-3932-59FC2C4062AA}"/>
              </a:ext>
            </a:extLst>
          </p:cNvPr>
          <p:cNvPicPr>
            <a:picLocks noChangeAspect="1"/>
          </p:cNvPicPr>
          <p:nvPr/>
        </p:nvPicPr>
        <p:blipFill>
          <a:blip r:embed="rId28"/>
          <a:srcRect t="-12" b="-12"/>
          <a:stretch/>
        </p:blipFill>
        <p:spPr>
          <a:xfrm>
            <a:off x="609905" y="1201434"/>
            <a:ext cx="3504895" cy="2942627"/>
          </a:xfrm>
          <a:prstGeom prst="rect">
            <a:avLst/>
          </a:prstGeom>
        </p:spPr>
      </p:pic>
      <p:sp>
        <p:nvSpPr>
          <p:cNvPr id="100" name="Text 45">
            <a:extLst>
              <a:ext uri="{FF2B5EF4-FFF2-40B4-BE49-F238E27FC236}">
                <a16:creationId xmlns:a16="http://schemas.microsoft.com/office/drawing/2014/main" id="{7A262FC7-E8C7-D5DB-1BA3-B94D96334554}"/>
              </a:ext>
            </a:extLst>
          </p:cNvPr>
          <p:cNvSpPr txBox="1"/>
          <p:nvPr/>
        </p:nvSpPr>
        <p:spPr>
          <a:xfrm>
            <a:off x="1104595" y="1344212"/>
            <a:ext cx="30010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위원회 구성 </a:t>
            </a:r>
            <a:endParaRPr lang="en-US" sz="1300" dirty="0"/>
          </a:p>
        </p:txBody>
      </p:sp>
      <p:pic>
        <p:nvPicPr>
          <p:cNvPr id="101" name="Image 20" descr="preencoded.png">
            <a:extLst>
              <a:ext uri="{FF2B5EF4-FFF2-40B4-BE49-F238E27FC236}">
                <a16:creationId xmlns:a16="http://schemas.microsoft.com/office/drawing/2014/main" id="{A0B28501-1D16-1CE2-8DC7-F42A4188076F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-1064" r="-1064"/>
          <a:stretch/>
        </p:blipFill>
        <p:spPr>
          <a:xfrm>
            <a:off x="809244" y="1392675"/>
            <a:ext cx="219456" cy="171907"/>
          </a:xfrm>
          <a:prstGeom prst="rect">
            <a:avLst/>
          </a:prstGeom>
        </p:spPr>
      </p:pic>
      <p:pic>
        <p:nvPicPr>
          <p:cNvPr id="102" name="Image 26" descr="preencoded.png">
            <a:extLst>
              <a:ext uri="{FF2B5EF4-FFF2-40B4-BE49-F238E27FC236}">
                <a16:creationId xmlns:a16="http://schemas.microsoft.com/office/drawing/2014/main" id="{71901460-F500-831F-0190-AB9B789FCD18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t="-8" b="-8"/>
          <a:stretch/>
        </p:blipFill>
        <p:spPr>
          <a:xfrm>
            <a:off x="809244" y="1594239"/>
            <a:ext cx="3105302" cy="705002"/>
          </a:xfrm>
          <a:prstGeom prst="rect">
            <a:avLst/>
          </a:prstGeom>
        </p:spPr>
      </p:pic>
      <p:sp>
        <p:nvSpPr>
          <p:cNvPr id="103" name="Text 55">
            <a:extLst>
              <a:ext uri="{FF2B5EF4-FFF2-40B4-BE49-F238E27FC236}">
                <a16:creationId xmlns:a16="http://schemas.microsoft.com/office/drawing/2014/main" id="{35A8DB30-E420-17D4-9D59-E1304FDAC815}"/>
              </a:ext>
            </a:extLst>
          </p:cNvPr>
          <p:cNvSpPr txBox="1"/>
          <p:nvPr/>
        </p:nvSpPr>
        <p:spPr>
          <a:xfrm>
            <a:off x="875995" y="1727110"/>
            <a:ext cx="29718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CHAIRMAN</a:t>
            </a:r>
            <a:endParaRPr lang="en-US" sz="900" dirty="0"/>
          </a:p>
        </p:txBody>
      </p:sp>
      <p:sp>
        <p:nvSpPr>
          <p:cNvPr id="104" name="Text 56">
            <a:extLst>
              <a:ext uri="{FF2B5EF4-FFF2-40B4-BE49-F238E27FC236}">
                <a16:creationId xmlns:a16="http://schemas.microsoft.com/office/drawing/2014/main" id="{447DA3B3-AFD8-3E22-08D5-2FB4FE23285D}"/>
              </a:ext>
            </a:extLst>
          </p:cNvPr>
          <p:cNvSpPr txBox="1"/>
          <p:nvPr/>
        </p:nvSpPr>
        <p:spPr>
          <a:xfrm>
            <a:off x="875995" y="1918219"/>
            <a:ext cx="29718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그룹</a:t>
            </a: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의장 </a:t>
            </a:r>
            <a:r>
              <a:rPr lang="en-US" altLang="ko-KR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[Eddie]</a:t>
            </a:r>
            <a:endParaRPr lang="en-US" sz="1300" dirty="0"/>
          </a:p>
        </p:txBody>
      </p:sp>
      <p:pic>
        <p:nvPicPr>
          <p:cNvPr id="105" name="Image 27" descr="preencoded.png">
            <a:extLst>
              <a:ext uri="{FF2B5EF4-FFF2-40B4-BE49-F238E27FC236}">
                <a16:creationId xmlns:a16="http://schemas.microsoft.com/office/drawing/2014/main" id="{FA499CA9-17FF-DB04-A464-7A72507592DE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t="-2187" b="-2187"/>
          <a:stretch/>
        </p:blipFill>
        <p:spPr>
          <a:xfrm>
            <a:off x="2320748" y="2337250"/>
            <a:ext cx="51949" cy="495605"/>
          </a:xfrm>
          <a:prstGeom prst="rect">
            <a:avLst/>
          </a:prstGeom>
        </p:spPr>
      </p:pic>
      <p:pic>
        <p:nvPicPr>
          <p:cNvPr id="106" name="Image 28" descr="preencoded.png">
            <a:extLst>
              <a:ext uri="{FF2B5EF4-FFF2-40B4-BE49-F238E27FC236}">
                <a16:creationId xmlns:a16="http://schemas.microsoft.com/office/drawing/2014/main" id="{E1530BD5-29F1-DD4C-59BB-D08C0751C27A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t="-17" b="-17"/>
          <a:stretch/>
        </p:blipFill>
        <p:spPr>
          <a:xfrm>
            <a:off x="809244" y="2926124"/>
            <a:ext cx="1514246" cy="819302"/>
          </a:xfrm>
          <a:prstGeom prst="rect">
            <a:avLst/>
          </a:prstGeom>
        </p:spPr>
      </p:pic>
      <p:sp>
        <p:nvSpPr>
          <p:cNvPr id="107" name="Text 57">
            <a:extLst>
              <a:ext uri="{FF2B5EF4-FFF2-40B4-BE49-F238E27FC236}">
                <a16:creationId xmlns:a16="http://schemas.microsoft.com/office/drawing/2014/main" id="{CABA59B9-3461-7FCB-F125-3E10C904A424}"/>
              </a:ext>
            </a:extLst>
          </p:cNvPr>
          <p:cNvSpPr txBox="1"/>
          <p:nvPr/>
        </p:nvSpPr>
        <p:spPr>
          <a:xfrm>
            <a:off x="895198" y="3049568"/>
            <a:ext cx="13432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MEMBER</a:t>
            </a:r>
            <a:endParaRPr lang="en-US" sz="900" dirty="0"/>
          </a:p>
        </p:txBody>
      </p:sp>
      <p:sp>
        <p:nvSpPr>
          <p:cNvPr id="108" name="Text 58">
            <a:extLst>
              <a:ext uri="{FF2B5EF4-FFF2-40B4-BE49-F238E27FC236}">
                <a16:creationId xmlns:a16="http://schemas.microsoft.com/office/drawing/2014/main" id="{16D99B8F-531E-ADC9-2D87-191501906274}"/>
              </a:ext>
            </a:extLst>
          </p:cNvPr>
          <p:cNvSpPr txBox="1"/>
          <p:nvPr/>
        </p:nvSpPr>
        <p:spPr>
          <a:xfrm>
            <a:off x="905256" y="3239763"/>
            <a:ext cx="132405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법인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CFO/재무담당</a:t>
            </a:r>
            <a:endParaRPr lang="en-US" sz="1000" dirty="0"/>
          </a:p>
        </p:txBody>
      </p:sp>
      <p:pic>
        <p:nvPicPr>
          <p:cNvPr id="109" name="Image 29" descr="preencoded.png">
            <a:extLst>
              <a:ext uri="{FF2B5EF4-FFF2-40B4-BE49-F238E27FC236}">
                <a16:creationId xmlns:a16="http://schemas.microsoft.com/office/drawing/2014/main" id="{CF05603E-2DF8-481C-F788-501B595EEEB5}"/>
              </a:ext>
            </a:extLst>
          </p:cNvPr>
          <p:cNvPicPr>
            <a:picLocks noChangeAspect="1"/>
          </p:cNvPicPr>
          <p:nvPr/>
        </p:nvPicPr>
        <p:blipFill>
          <a:blip r:embed="rId31"/>
          <a:srcRect t="-17" b="-17"/>
          <a:stretch/>
        </p:blipFill>
        <p:spPr>
          <a:xfrm>
            <a:off x="2400300" y="2926124"/>
            <a:ext cx="1514246" cy="819302"/>
          </a:xfrm>
          <a:prstGeom prst="rect">
            <a:avLst/>
          </a:prstGeom>
        </p:spPr>
      </p:pic>
      <p:sp>
        <p:nvSpPr>
          <p:cNvPr id="110" name="Text 59">
            <a:extLst>
              <a:ext uri="{FF2B5EF4-FFF2-40B4-BE49-F238E27FC236}">
                <a16:creationId xmlns:a16="http://schemas.microsoft.com/office/drawing/2014/main" id="{16CA41F7-DD9A-9AFE-DF97-135BB05E3BA4}"/>
              </a:ext>
            </a:extLst>
          </p:cNvPr>
          <p:cNvSpPr txBox="1"/>
          <p:nvPr/>
        </p:nvSpPr>
        <p:spPr>
          <a:xfrm>
            <a:off x="2486254" y="3049568"/>
            <a:ext cx="13432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SECRETARY</a:t>
            </a:r>
            <a:endParaRPr lang="en-US" sz="900" dirty="0"/>
          </a:p>
        </p:txBody>
      </p:sp>
      <p:sp>
        <p:nvSpPr>
          <p:cNvPr id="111" name="Text 60">
            <a:extLst>
              <a:ext uri="{FF2B5EF4-FFF2-40B4-BE49-F238E27FC236}">
                <a16:creationId xmlns:a16="http://schemas.microsoft.com/office/drawing/2014/main" id="{03A4AE5F-B27F-1FFE-3458-B2E9F4AE378E}"/>
              </a:ext>
            </a:extLst>
          </p:cNvPr>
          <p:cNvSpPr txBox="1"/>
          <p:nvPr/>
        </p:nvSpPr>
        <p:spPr>
          <a:xfrm>
            <a:off x="2495398" y="3258617"/>
            <a:ext cx="132405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ko-KR" altLang="en-US" sz="10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셀바스</a:t>
            </a:r>
            <a:r>
              <a:rPr lang="en-US" altLang="ko-KR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</a:t>
            </a:r>
            <a:r>
              <a:rPr lang="ko-KR" alt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재무</a:t>
            </a:r>
            <a:r>
              <a:rPr lang="en-US" sz="10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팀장</a:t>
            </a:r>
            <a:b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[Matthew]</a:t>
            </a:r>
            <a:endParaRPr lang="en-US" sz="1000" dirty="0"/>
          </a:p>
        </p:txBody>
      </p:sp>
      <p:pic>
        <p:nvPicPr>
          <p:cNvPr id="112" name="Image 29" descr="preencoded.png">
            <a:extLst>
              <a:ext uri="{FF2B5EF4-FFF2-40B4-BE49-F238E27FC236}">
                <a16:creationId xmlns:a16="http://schemas.microsoft.com/office/drawing/2014/main" id="{4D4A0861-919F-DF28-A667-138F27588B8A}"/>
              </a:ext>
            </a:extLst>
          </p:cNvPr>
          <p:cNvPicPr>
            <a:picLocks noChangeAspect="1"/>
          </p:cNvPicPr>
          <p:nvPr/>
        </p:nvPicPr>
        <p:blipFill>
          <a:blip r:embed="rId31"/>
          <a:srcRect t="-17" b="-17"/>
          <a:stretch/>
        </p:blipFill>
        <p:spPr>
          <a:xfrm>
            <a:off x="2734056" y="2373827"/>
            <a:ext cx="1161288" cy="459027"/>
          </a:xfrm>
          <a:prstGeom prst="rect">
            <a:avLst/>
          </a:prstGeom>
        </p:spPr>
      </p:pic>
      <p:pic>
        <p:nvPicPr>
          <p:cNvPr id="113" name="Image 27" descr="preencoded.png">
            <a:extLst>
              <a:ext uri="{FF2B5EF4-FFF2-40B4-BE49-F238E27FC236}">
                <a16:creationId xmlns:a16="http://schemas.microsoft.com/office/drawing/2014/main" id="{3CED327B-A9C3-2DC5-460B-D5529964C9F8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t="-2187" b="-2187"/>
          <a:stretch/>
        </p:blipFill>
        <p:spPr>
          <a:xfrm rot="5400000" flipH="1" flipV="1">
            <a:off x="2549101" y="2498432"/>
            <a:ext cx="22641" cy="216000"/>
          </a:xfrm>
          <a:prstGeom prst="rect">
            <a:avLst/>
          </a:prstGeom>
        </p:spPr>
      </p:pic>
      <p:sp>
        <p:nvSpPr>
          <p:cNvPr id="114" name="Text 60">
            <a:extLst>
              <a:ext uri="{FF2B5EF4-FFF2-40B4-BE49-F238E27FC236}">
                <a16:creationId xmlns:a16="http://schemas.microsoft.com/office/drawing/2014/main" id="{37ABB5DF-204E-033C-74FE-B29111AA7F8B}"/>
              </a:ext>
            </a:extLst>
          </p:cNvPr>
          <p:cNvSpPr txBox="1"/>
          <p:nvPr/>
        </p:nvSpPr>
        <p:spPr>
          <a:xfrm>
            <a:off x="2647798" y="2617753"/>
            <a:ext cx="1324051" cy="146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ko-KR" altLang="en-US" sz="100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서정길 대표</a:t>
            </a:r>
            <a:endParaRPr lang="en-US" sz="1000" dirty="0"/>
          </a:p>
        </p:txBody>
      </p:sp>
      <p:sp>
        <p:nvSpPr>
          <p:cNvPr id="115" name="사각형: 둥근 모서리 114">
            <a:extLst>
              <a:ext uri="{FF2B5EF4-FFF2-40B4-BE49-F238E27FC236}">
                <a16:creationId xmlns:a16="http://schemas.microsoft.com/office/drawing/2014/main" id="{A21E9FD4-17F2-B767-4977-27AF835614D5}"/>
              </a:ext>
            </a:extLst>
          </p:cNvPr>
          <p:cNvSpPr/>
          <p:nvPr/>
        </p:nvSpPr>
        <p:spPr>
          <a:xfrm>
            <a:off x="7476417" y="3192170"/>
            <a:ext cx="990295" cy="418796"/>
          </a:xfrm>
          <a:prstGeom prst="roundRect">
            <a:avLst/>
          </a:prstGeom>
          <a:noFill/>
          <a:ln>
            <a:solidFill>
              <a:srgbClr val="D9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6" name="Text 52">
            <a:extLst>
              <a:ext uri="{FF2B5EF4-FFF2-40B4-BE49-F238E27FC236}">
                <a16:creationId xmlns:a16="http://schemas.microsoft.com/office/drawing/2014/main" id="{698708B3-8802-555D-283B-A0B0B1C2AEBB}"/>
              </a:ext>
            </a:extLst>
          </p:cNvPr>
          <p:cNvSpPr txBox="1"/>
          <p:nvPr/>
        </p:nvSpPr>
        <p:spPr>
          <a:xfrm>
            <a:off x="7463607" y="3457324"/>
            <a:ext cx="97109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실무적용</a:t>
            </a:r>
            <a:r>
              <a:rPr lang="en-US" altLang="ko-KR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r>
              <a:rPr lang="ko-KR" alt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응용</a:t>
            </a:r>
            <a:endParaRPr lang="en-US" sz="900" dirty="0"/>
          </a:p>
        </p:txBody>
      </p:sp>
      <p:sp>
        <p:nvSpPr>
          <p:cNvPr id="117" name="Shape 25">
            <a:extLst>
              <a:ext uri="{FF2B5EF4-FFF2-40B4-BE49-F238E27FC236}">
                <a16:creationId xmlns:a16="http://schemas.microsoft.com/office/drawing/2014/main" id="{6986ACD6-EC0C-F824-7E2E-AC9FB6EA639D}"/>
              </a:ext>
            </a:extLst>
          </p:cNvPr>
          <p:cNvSpPr/>
          <p:nvPr/>
        </p:nvSpPr>
        <p:spPr>
          <a:xfrm>
            <a:off x="6415431" y="5411745"/>
            <a:ext cx="4972507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8" name="Text 15">
            <a:extLst>
              <a:ext uri="{FF2B5EF4-FFF2-40B4-BE49-F238E27FC236}">
                <a16:creationId xmlns:a16="http://schemas.microsoft.com/office/drawing/2014/main" id="{A992E851-8099-9C86-AA4E-ED477C94917A}"/>
              </a:ext>
            </a:extLst>
          </p:cNvPr>
          <p:cNvSpPr txBox="1"/>
          <p:nvPr/>
        </p:nvSpPr>
        <p:spPr>
          <a:xfrm>
            <a:off x="9417362" y="6610121"/>
            <a:ext cx="211759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Selvas Group Treasury Committee</a:t>
            </a:r>
            <a:endParaRPr lang="en-US" sz="900" dirty="0"/>
          </a:p>
        </p:txBody>
      </p:sp>
      <p:sp>
        <p:nvSpPr>
          <p:cNvPr id="42" name="Text 59">
            <a:extLst>
              <a:ext uri="{FF2B5EF4-FFF2-40B4-BE49-F238E27FC236}">
                <a16:creationId xmlns:a16="http://schemas.microsoft.com/office/drawing/2014/main" id="{697F4090-6D84-D838-D2E8-15C5884507E4}"/>
              </a:ext>
            </a:extLst>
          </p:cNvPr>
          <p:cNvSpPr txBox="1"/>
          <p:nvPr/>
        </p:nvSpPr>
        <p:spPr>
          <a:xfrm>
            <a:off x="2609697" y="2425068"/>
            <a:ext cx="13432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 b="1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외부전문가</a:t>
            </a:r>
            <a:endParaRPr lang="en-US" sz="900" dirty="0"/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B86F4E9D-40B1-7907-2902-490E3892B997}"/>
              </a:ext>
            </a:extLst>
          </p:cNvPr>
          <p:cNvGrpSpPr/>
          <p:nvPr/>
        </p:nvGrpSpPr>
        <p:grpSpPr>
          <a:xfrm>
            <a:off x="10568635" y="486832"/>
            <a:ext cx="1057046" cy="228600"/>
            <a:chOff x="10568635" y="486832"/>
            <a:chExt cx="1057046" cy="228600"/>
          </a:xfrm>
        </p:grpSpPr>
        <p:sp>
          <p:nvSpPr>
            <p:cNvPr id="62" name="Shape 29">
              <a:extLst>
                <a:ext uri="{FF2B5EF4-FFF2-40B4-BE49-F238E27FC236}">
                  <a16:creationId xmlns:a16="http://schemas.microsoft.com/office/drawing/2014/main" id="{855FDF0B-5D9B-EB55-FA05-9FC8266297AC}"/>
                </a:ext>
              </a:extLst>
            </p:cNvPr>
            <p:cNvSpPr/>
            <p:nvPr/>
          </p:nvSpPr>
          <p:spPr>
            <a:xfrm>
              <a:off x="10568635" y="486832"/>
              <a:ext cx="1057046" cy="228600"/>
            </a:xfrm>
            <a:prstGeom prst="roundRect">
              <a:avLst>
                <a:gd name="adj" fmla="val 66667"/>
              </a:avLst>
            </a:prstGeom>
            <a:solidFill>
              <a:srgbClr val="1F2937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3" name="Text 4">
              <a:extLst>
                <a:ext uri="{FF2B5EF4-FFF2-40B4-BE49-F238E27FC236}">
                  <a16:creationId xmlns:a16="http://schemas.microsoft.com/office/drawing/2014/main" id="{B4EA9CD1-6821-29D7-1E6A-FD15EB47D8A7}"/>
                </a:ext>
              </a:extLst>
            </p:cNvPr>
            <p:cNvSpPr txBox="1"/>
            <p:nvPr/>
          </p:nvSpPr>
          <p:spPr>
            <a:xfrm>
              <a:off x="10634623" y="533095"/>
              <a:ext cx="905256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chemeClr val="bg1">
                      <a:lumMod val="65000"/>
                    </a:schemeClr>
                  </a:solidFill>
                </a:rPr>
                <a:t>COMMON POLICY</a:t>
              </a:r>
            </a:p>
          </p:txBody>
        </p:sp>
      </p:grpSp>
      <p:sp>
        <p:nvSpPr>
          <p:cNvPr id="64" name="Shape 23">
            <a:extLst>
              <a:ext uri="{FF2B5EF4-FFF2-40B4-BE49-F238E27FC236}">
                <a16:creationId xmlns:a16="http://schemas.microsoft.com/office/drawing/2014/main" id="{8345B94F-AE1D-6DBC-92C0-9F97C4291222}"/>
              </a:ext>
            </a:extLst>
          </p:cNvPr>
          <p:cNvSpPr/>
          <p:nvPr/>
        </p:nvSpPr>
        <p:spPr>
          <a:xfrm>
            <a:off x="6409942" y="4996989"/>
            <a:ext cx="651600" cy="244800"/>
          </a:xfrm>
          <a:prstGeom prst="roundRect">
            <a:avLst>
              <a:gd name="adj" fmla="val 66667"/>
            </a:avLst>
          </a:prstGeom>
          <a:solidFill>
            <a:schemeClr val="accent5">
              <a:lumMod val="50000"/>
            </a:schemeClr>
          </a:solidFill>
          <a:ln w="15875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23">
            <a:extLst>
              <a:ext uri="{FF2B5EF4-FFF2-40B4-BE49-F238E27FC236}">
                <a16:creationId xmlns:a16="http://schemas.microsoft.com/office/drawing/2014/main" id="{1657082D-E155-C3EF-7D68-8B82E27D764D}"/>
              </a:ext>
            </a:extLst>
          </p:cNvPr>
          <p:cNvSpPr/>
          <p:nvPr/>
        </p:nvSpPr>
        <p:spPr>
          <a:xfrm>
            <a:off x="6409944" y="6027916"/>
            <a:ext cx="651968" cy="245551"/>
          </a:xfrm>
          <a:prstGeom prst="roundRect">
            <a:avLst>
              <a:gd name="adj" fmla="val 66667"/>
            </a:avLst>
          </a:prstGeom>
          <a:solidFill>
            <a:schemeClr val="accent4">
              <a:lumMod val="7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0" name="Text 36"/>
          <p:cNvSpPr txBox="1"/>
          <p:nvPr/>
        </p:nvSpPr>
        <p:spPr>
          <a:xfrm>
            <a:off x="6448349" y="6040671"/>
            <a:ext cx="585216" cy="222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Quarterly</a:t>
            </a:r>
            <a:endParaRPr lang="en-US" sz="900" dirty="0"/>
          </a:p>
        </p:txBody>
      </p:sp>
      <p:sp>
        <p:nvSpPr>
          <p:cNvPr id="67" name="Text 32">
            <a:extLst>
              <a:ext uri="{FF2B5EF4-FFF2-40B4-BE49-F238E27FC236}">
                <a16:creationId xmlns:a16="http://schemas.microsoft.com/office/drawing/2014/main" id="{DB0F1F2A-21A2-E461-5A96-B52D8C84F60A}"/>
              </a:ext>
            </a:extLst>
          </p:cNvPr>
          <p:cNvSpPr txBox="1"/>
          <p:nvPr/>
        </p:nvSpPr>
        <p:spPr>
          <a:xfrm>
            <a:off x="6459791" y="5047453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4B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Ordinarily</a:t>
            </a:r>
            <a:endParaRPr lang="en-US" sz="800" dirty="0"/>
          </a:p>
        </p:txBody>
      </p:sp>
      <p:sp>
        <p:nvSpPr>
          <p:cNvPr id="68" name="Text 24">
            <a:extLst>
              <a:ext uri="{FF2B5EF4-FFF2-40B4-BE49-F238E27FC236}">
                <a16:creationId xmlns:a16="http://schemas.microsoft.com/office/drawing/2014/main" id="{AB965835-5E45-E8B7-C45F-B8A3DCBF5BE1}"/>
              </a:ext>
            </a:extLst>
          </p:cNvPr>
          <p:cNvSpPr txBox="1"/>
          <p:nvPr/>
        </p:nvSpPr>
        <p:spPr>
          <a:xfrm>
            <a:off x="7172554" y="4975090"/>
            <a:ext cx="44010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자금일보 보고와 자금운용실태 점검</a:t>
            </a:r>
            <a:endParaRPr lang="en-US" sz="1000" dirty="0"/>
          </a:p>
        </p:txBody>
      </p:sp>
      <p:sp>
        <p:nvSpPr>
          <p:cNvPr id="69" name="Text 33">
            <a:extLst>
              <a:ext uri="{FF2B5EF4-FFF2-40B4-BE49-F238E27FC236}">
                <a16:creationId xmlns:a16="http://schemas.microsoft.com/office/drawing/2014/main" id="{5CCC9A48-C522-CBDA-BA91-5B8AA3BB9EB3}"/>
              </a:ext>
            </a:extLst>
          </p:cNvPr>
          <p:cNvSpPr txBox="1"/>
          <p:nvPr/>
        </p:nvSpPr>
        <p:spPr>
          <a:xfrm>
            <a:off x="7248448" y="5213748"/>
            <a:ext cx="100949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</a:rPr>
              <a:t>계좌별 잔액 상시확인</a:t>
            </a:r>
            <a:endParaRPr lang="en-US" sz="900" dirty="0"/>
          </a:p>
        </p:txBody>
      </p:sp>
      <p:sp>
        <p:nvSpPr>
          <p:cNvPr id="71" name="Text 35">
            <a:extLst>
              <a:ext uri="{FF2B5EF4-FFF2-40B4-BE49-F238E27FC236}">
                <a16:creationId xmlns:a16="http://schemas.microsoft.com/office/drawing/2014/main" id="{68226299-37F4-49A4-0EEF-E7A0182893C0}"/>
              </a:ext>
            </a:extLst>
          </p:cNvPr>
          <p:cNvSpPr txBox="1"/>
          <p:nvPr/>
        </p:nvSpPr>
        <p:spPr>
          <a:xfrm>
            <a:off x="8442531" y="5213748"/>
            <a:ext cx="92030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</a:rPr>
              <a:t>결재프로세스 점검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09905" y="457200"/>
            <a:ext cx="61493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56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정책 파라미터 I: 유동성 및 만기 관리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09905" y="952805"/>
            <a:ext cx="457200" cy="38405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81405" y="875995"/>
            <a:ext cx="28931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5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Liquidity &amp; Maturity Laddering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57707" y="1295705"/>
            <a:ext cx="4134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핵심 관리 지표 (Key Metrics) 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905" y="1343254"/>
            <a:ext cx="171907" cy="171907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-15" r="-15"/>
          <a:stretch/>
        </p:blipFill>
        <p:spPr>
          <a:xfrm>
            <a:off x="609905" y="1790395"/>
            <a:ext cx="4267505" cy="133319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38505" y="1990649"/>
            <a:ext cx="156362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최소 유동성 비율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838505" y="2180844"/>
            <a:ext cx="179313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지출액의 3배수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290365" y="1990649"/>
            <a:ext cx="381305" cy="381305"/>
          </a:xfrm>
          <a:prstGeom prst="ellipse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t="-100" b="-100"/>
          <a:stretch/>
        </p:blipFill>
        <p:spPr>
          <a:xfrm>
            <a:off x="4423867" y="2104949"/>
            <a:ext cx="114300" cy="152705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38505" y="2600554"/>
            <a:ext cx="3838651" cy="57607"/>
          </a:xfrm>
          <a:prstGeom prst="roundRect">
            <a:avLst>
              <a:gd name="adj" fmla="val 1587307"/>
            </a:avLst>
          </a:prstGeom>
          <a:solidFill>
            <a:srgbClr val="3741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838505" y="2600554"/>
            <a:ext cx="3838651" cy="57607"/>
          </a:xfrm>
          <a:prstGeom prst="roundRect">
            <a:avLst>
              <a:gd name="adj" fmla="val 1587307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1"/>
          <p:cNvSpPr txBox="1"/>
          <p:nvPr/>
        </p:nvSpPr>
        <p:spPr>
          <a:xfrm>
            <a:off x="1023214" y="2771546"/>
            <a:ext cx="384505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긴급 자금 수요 대비 3개월치 운영자금 상시 확보 </a:t>
            </a:r>
            <a:endParaRPr lang="en-US" sz="9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rcRect l="-15" r="-15"/>
          <a:stretch/>
        </p:blipFill>
        <p:spPr>
          <a:xfrm>
            <a:off x="609905" y="3276295"/>
            <a:ext cx="4267505" cy="133319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38505" y="3476549"/>
            <a:ext cx="15435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만기 집중도 한도</a:t>
            </a:r>
            <a:endParaRPr lang="en-US" sz="900" dirty="0"/>
          </a:p>
        </p:txBody>
      </p:sp>
      <p:sp>
        <p:nvSpPr>
          <p:cNvPr id="19" name="Text 13"/>
          <p:cNvSpPr txBox="1"/>
          <p:nvPr/>
        </p:nvSpPr>
        <p:spPr>
          <a:xfrm>
            <a:off x="838505" y="3666744"/>
            <a:ext cx="1569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구간별 Max 40%</a:t>
            </a:r>
            <a:endParaRPr lang="en-US" sz="15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rcRect l="-33" r="-33"/>
          <a:stretch/>
        </p:blipFill>
        <p:spPr>
          <a:xfrm>
            <a:off x="4394606" y="3590849"/>
            <a:ext cx="171907" cy="15270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023214" y="4257446"/>
            <a:ext cx="376824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특정 만기 구간(3M/6M/1Y)에 자금 쏠림 방지 </a:t>
            </a:r>
            <a:endParaRPr lang="en-US" sz="9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rcRect t="-11" b="-11"/>
          <a:stretch/>
        </p:blipFill>
        <p:spPr>
          <a:xfrm>
            <a:off x="609905" y="4762195"/>
            <a:ext cx="4267505" cy="1543507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838505" y="4962449"/>
            <a:ext cx="14100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만기 적합성 (ALM)</a:t>
            </a:r>
            <a:endParaRPr lang="en-US" sz="900" dirty="0"/>
          </a:p>
        </p:txBody>
      </p:sp>
      <p:sp>
        <p:nvSpPr>
          <p:cNvPr id="24" name="Text 16"/>
          <p:cNvSpPr txBox="1"/>
          <p:nvPr/>
        </p:nvSpPr>
        <p:spPr>
          <a:xfrm>
            <a:off x="838505" y="5152644"/>
            <a:ext cx="166603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용도별 만기 매칭</a:t>
            </a:r>
            <a:endParaRPr lang="en-US" sz="1500" dirty="0"/>
          </a:p>
        </p:txBody>
      </p:sp>
      <p:sp>
        <p:nvSpPr>
          <p:cNvPr id="25" name="Shape 17"/>
          <p:cNvSpPr/>
          <p:nvPr/>
        </p:nvSpPr>
        <p:spPr>
          <a:xfrm>
            <a:off x="4290365" y="4962449"/>
            <a:ext cx="381305" cy="381305"/>
          </a:xfrm>
          <a:prstGeom prst="ellipse">
            <a:avLst/>
          </a:prstGeom>
          <a:solidFill>
            <a:srgbClr val="064E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8"/>
          <a:srcRect t="-180" b="-180"/>
          <a:stretch/>
        </p:blipFill>
        <p:spPr>
          <a:xfrm>
            <a:off x="4385462" y="5076749"/>
            <a:ext cx="190195" cy="152705"/>
          </a:xfrm>
          <a:prstGeom prst="rect">
            <a:avLst/>
          </a:prstGeom>
        </p:spPr>
      </p:pic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9"/>
          <a:srcRect t="-1" b="-1"/>
          <a:stretch/>
        </p:blipFill>
        <p:spPr>
          <a:xfrm>
            <a:off x="5175504" y="1295705"/>
            <a:ext cx="6409944" cy="5009998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5661965" y="1533449"/>
            <a:ext cx="36932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만기 래더링 시뮬레이션 (Maturity Ladder) </a:t>
            </a:r>
            <a:endParaRPr lang="en-US" sz="13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414162" y="1580998"/>
            <a:ext cx="171907" cy="171907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9058046" y="1609344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0296144" y="1609344"/>
            <a:ext cx="114300" cy="114300"/>
          </a:xfrm>
          <a:prstGeom prst="rect">
            <a:avLst/>
          </a:prstGeom>
        </p:spPr>
      </p:pic>
      <p:sp>
        <p:nvSpPr>
          <p:cNvPr id="32" name="Shape 20"/>
          <p:cNvSpPr/>
          <p:nvPr/>
        </p:nvSpPr>
        <p:spPr>
          <a:xfrm>
            <a:off x="5414162" y="5524805"/>
            <a:ext cx="5934456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1"/>
          <p:cNvSpPr txBox="1"/>
          <p:nvPr/>
        </p:nvSpPr>
        <p:spPr>
          <a:xfrm>
            <a:off x="5375758" y="5686654"/>
            <a:ext cx="14484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0~3개월 (초단기)</a:t>
            </a:r>
            <a:endParaRPr lang="en-US" sz="900" dirty="0"/>
          </a:p>
        </p:txBody>
      </p:sp>
      <p:sp>
        <p:nvSpPr>
          <p:cNvPr id="34" name="Text 22"/>
          <p:cNvSpPr txBox="1"/>
          <p:nvPr/>
        </p:nvSpPr>
        <p:spPr>
          <a:xfrm>
            <a:off x="5359298" y="5876849"/>
            <a:ext cx="14813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유동성 확보</a:t>
            </a:r>
            <a:endParaRPr lang="en-US" sz="1000" dirty="0"/>
          </a:p>
        </p:txBody>
      </p:sp>
      <p:sp>
        <p:nvSpPr>
          <p:cNvPr id="35" name="Text 23"/>
          <p:cNvSpPr txBox="1"/>
          <p:nvPr/>
        </p:nvSpPr>
        <p:spPr>
          <a:xfrm>
            <a:off x="6896405" y="5686654"/>
            <a:ext cx="14484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3~6개월 (단기)</a:t>
            </a:r>
            <a:endParaRPr lang="en-US" sz="900" dirty="0"/>
          </a:p>
        </p:txBody>
      </p:sp>
      <p:sp>
        <p:nvSpPr>
          <p:cNvPr id="36" name="Text 24"/>
          <p:cNvSpPr txBox="1"/>
          <p:nvPr/>
        </p:nvSpPr>
        <p:spPr>
          <a:xfrm>
            <a:off x="6879946" y="5876849"/>
            <a:ext cx="14813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운영자금 매칭</a:t>
            </a:r>
            <a:endParaRPr lang="en-US" sz="1000" dirty="0"/>
          </a:p>
        </p:txBody>
      </p:sp>
      <p:sp>
        <p:nvSpPr>
          <p:cNvPr id="37" name="Text 25"/>
          <p:cNvSpPr txBox="1"/>
          <p:nvPr/>
        </p:nvSpPr>
        <p:spPr>
          <a:xfrm>
            <a:off x="8417052" y="5686654"/>
            <a:ext cx="14484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6~12개월 (중기)</a:t>
            </a:r>
            <a:endParaRPr lang="en-US" sz="900" dirty="0"/>
          </a:p>
        </p:txBody>
      </p:sp>
      <p:sp>
        <p:nvSpPr>
          <p:cNvPr id="38" name="Text 26"/>
          <p:cNvSpPr txBox="1"/>
          <p:nvPr/>
        </p:nvSpPr>
        <p:spPr>
          <a:xfrm>
            <a:off x="8400593" y="5876849"/>
            <a:ext cx="14813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수익성 추구</a:t>
            </a:r>
            <a:endParaRPr lang="en-US" sz="1000" dirty="0"/>
          </a:p>
        </p:txBody>
      </p:sp>
      <p:sp>
        <p:nvSpPr>
          <p:cNvPr id="39" name="Text 27"/>
          <p:cNvSpPr txBox="1"/>
          <p:nvPr/>
        </p:nvSpPr>
        <p:spPr>
          <a:xfrm>
            <a:off x="9937699" y="5686654"/>
            <a:ext cx="14484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1년~2년 (장기)</a:t>
            </a:r>
            <a:endParaRPr lang="en-US" sz="900" dirty="0"/>
          </a:p>
        </p:txBody>
      </p:sp>
      <p:sp>
        <p:nvSpPr>
          <p:cNvPr id="40" name="Text 28"/>
          <p:cNvSpPr txBox="1"/>
          <p:nvPr/>
        </p:nvSpPr>
        <p:spPr>
          <a:xfrm>
            <a:off x="9921240" y="5876849"/>
            <a:ext cx="14813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전략적 투자</a:t>
            </a:r>
            <a:endParaRPr lang="en-US" sz="1000" dirty="0"/>
          </a:p>
        </p:txBody>
      </p:sp>
      <p:sp>
        <p:nvSpPr>
          <p:cNvPr id="41" name="Shape 29"/>
          <p:cNvSpPr/>
          <p:nvPr/>
        </p:nvSpPr>
        <p:spPr>
          <a:xfrm>
            <a:off x="609905" y="6458407"/>
            <a:ext cx="10972800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38505" y="2795321"/>
            <a:ext cx="114300" cy="114300"/>
          </a:xfrm>
          <a:prstGeom prst="rect">
            <a:avLst/>
          </a:prstGeom>
        </p:spPr>
      </p:pic>
      <p:pic>
        <p:nvPicPr>
          <p:cNvPr id="45" name="Image 11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38505" y="4281221"/>
            <a:ext cx="114300" cy="114300"/>
          </a:xfrm>
          <a:prstGeom prst="rect">
            <a:avLst/>
          </a:prstGeom>
        </p:spPr>
      </p:pic>
      <p:sp>
        <p:nvSpPr>
          <p:cNvPr id="46" name="Text 32"/>
          <p:cNvSpPr txBox="1"/>
          <p:nvPr/>
        </p:nvSpPr>
        <p:spPr>
          <a:xfrm>
            <a:off x="1458468" y="5609844"/>
            <a:ext cx="638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운영자금</a:t>
            </a:r>
            <a:endParaRPr lang="en-US" sz="1200" dirty="0"/>
          </a:p>
        </p:txBody>
      </p:sp>
      <p:sp>
        <p:nvSpPr>
          <p:cNvPr id="47" name="Text 33"/>
          <p:cNvSpPr txBox="1"/>
          <p:nvPr/>
        </p:nvSpPr>
        <p:spPr>
          <a:xfrm>
            <a:off x="1492301" y="5867705"/>
            <a:ext cx="571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≤ 6개월</a:t>
            </a:r>
            <a:endParaRPr lang="en-US" sz="1000" dirty="0"/>
          </a:p>
        </p:txBody>
      </p:sp>
      <p:sp>
        <p:nvSpPr>
          <p:cNvPr id="48" name="Text 34"/>
          <p:cNvSpPr txBox="1"/>
          <p:nvPr/>
        </p:nvSpPr>
        <p:spPr>
          <a:xfrm>
            <a:off x="3413455" y="5609844"/>
            <a:ext cx="638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투자자금</a:t>
            </a:r>
            <a:endParaRPr lang="en-US" sz="1200" dirty="0"/>
          </a:p>
        </p:txBody>
      </p:sp>
      <p:sp>
        <p:nvSpPr>
          <p:cNvPr id="49" name="Text 35"/>
          <p:cNvSpPr txBox="1"/>
          <p:nvPr/>
        </p:nvSpPr>
        <p:spPr>
          <a:xfrm>
            <a:off x="3507638" y="5867705"/>
            <a:ext cx="4572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≤ 2년</a:t>
            </a:r>
            <a:endParaRPr lang="en-US" sz="1000" dirty="0"/>
          </a:p>
        </p:txBody>
      </p:sp>
      <p:sp>
        <p:nvSpPr>
          <p:cNvPr id="50" name="Text 36"/>
          <p:cNvSpPr txBox="1"/>
          <p:nvPr/>
        </p:nvSpPr>
        <p:spPr>
          <a:xfrm>
            <a:off x="9248242" y="1580998"/>
            <a:ext cx="106619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권고 비중 (Target)</a:t>
            </a:r>
            <a:endParaRPr lang="en-US" sz="900" dirty="0"/>
          </a:p>
        </p:txBody>
      </p:sp>
      <p:sp>
        <p:nvSpPr>
          <p:cNvPr id="51" name="Text 37"/>
          <p:cNvSpPr txBox="1"/>
          <p:nvPr/>
        </p:nvSpPr>
        <p:spPr>
          <a:xfrm>
            <a:off x="10486339" y="1580998"/>
            <a:ext cx="10323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한도 (Limit 40%)</a:t>
            </a:r>
            <a:endParaRPr lang="en-US" sz="900" dirty="0"/>
          </a:p>
        </p:txBody>
      </p:sp>
      <p:sp>
        <p:nvSpPr>
          <p:cNvPr id="52" name="Shape 38"/>
          <p:cNvSpPr/>
          <p:nvPr/>
        </p:nvSpPr>
        <p:spPr>
          <a:xfrm>
            <a:off x="838505" y="4086454"/>
            <a:ext cx="3838651" cy="57607"/>
          </a:xfrm>
          <a:prstGeom prst="roundRect">
            <a:avLst>
              <a:gd name="adj" fmla="val 1587307"/>
            </a:avLst>
          </a:prstGeom>
          <a:solidFill>
            <a:srgbClr val="3741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12" descr="preencoded.png"/>
          <p:cNvPicPr>
            <a:picLocks noChangeAspect="1"/>
          </p:cNvPicPr>
          <p:nvPr/>
        </p:nvPicPr>
        <p:blipFill>
          <a:blip r:embed="rId13"/>
          <a:srcRect l="-78" r="-78"/>
          <a:stretch/>
        </p:blipFill>
        <p:spPr>
          <a:xfrm>
            <a:off x="5414162" y="1952244"/>
            <a:ext cx="5934456" cy="3419856"/>
          </a:xfrm>
          <a:prstGeom prst="rect">
            <a:avLst/>
          </a:prstGeom>
        </p:spPr>
      </p:pic>
      <p:pic>
        <p:nvPicPr>
          <p:cNvPr id="54" name="Image 13" descr="preencoded.png"/>
          <p:cNvPicPr>
            <a:picLocks noChangeAspect="1"/>
          </p:cNvPicPr>
          <p:nvPr/>
        </p:nvPicPr>
        <p:blipFill>
          <a:blip r:embed="rId14"/>
          <a:srcRect t="-2499" b="-2499"/>
          <a:stretch/>
        </p:blipFill>
        <p:spPr>
          <a:xfrm>
            <a:off x="4661611" y="4086454"/>
            <a:ext cx="9144" cy="57607"/>
          </a:xfrm>
          <a:prstGeom prst="rect">
            <a:avLst/>
          </a:prstGeom>
        </p:spPr>
      </p:pic>
      <p:sp>
        <p:nvSpPr>
          <p:cNvPr id="55" name="Text 15">
            <a:extLst>
              <a:ext uri="{FF2B5EF4-FFF2-40B4-BE49-F238E27FC236}">
                <a16:creationId xmlns:a16="http://schemas.microsoft.com/office/drawing/2014/main" id="{BC95DF45-2956-A51F-8456-2DEA399598C6}"/>
              </a:ext>
            </a:extLst>
          </p:cNvPr>
          <p:cNvSpPr txBox="1"/>
          <p:nvPr/>
        </p:nvSpPr>
        <p:spPr>
          <a:xfrm>
            <a:off x="9417362" y="6610121"/>
            <a:ext cx="211759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Selvas Group Treasury Committee</a:t>
            </a:r>
            <a:endParaRPr lang="en-US" sz="900" dirty="0"/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DC290E91-E026-B869-F3E9-1662056851FE}"/>
              </a:ext>
            </a:extLst>
          </p:cNvPr>
          <p:cNvGrpSpPr/>
          <p:nvPr/>
        </p:nvGrpSpPr>
        <p:grpSpPr>
          <a:xfrm>
            <a:off x="10568635" y="486832"/>
            <a:ext cx="1057046" cy="228600"/>
            <a:chOff x="10568635" y="486832"/>
            <a:chExt cx="1057046" cy="228600"/>
          </a:xfrm>
        </p:grpSpPr>
        <p:sp>
          <p:nvSpPr>
            <p:cNvPr id="62" name="Shape 29">
              <a:extLst>
                <a:ext uri="{FF2B5EF4-FFF2-40B4-BE49-F238E27FC236}">
                  <a16:creationId xmlns:a16="http://schemas.microsoft.com/office/drawing/2014/main" id="{D9B7BB27-60AE-B752-57FC-FF2F00EB7F14}"/>
                </a:ext>
              </a:extLst>
            </p:cNvPr>
            <p:cNvSpPr/>
            <p:nvPr/>
          </p:nvSpPr>
          <p:spPr>
            <a:xfrm>
              <a:off x="10568635" y="486832"/>
              <a:ext cx="1057046" cy="228600"/>
            </a:xfrm>
            <a:prstGeom prst="roundRect">
              <a:avLst>
                <a:gd name="adj" fmla="val 66667"/>
              </a:avLst>
            </a:prstGeom>
            <a:solidFill>
              <a:srgbClr val="1F2937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3" name="Text 4">
              <a:extLst>
                <a:ext uri="{FF2B5EF4-FFF2-40B4-BE49-F238E27FC236}">
                  <a16:creationId xmlns:a16="http://schemas.microsoft.com/office/drawing/2014/main" id="{D6B967F5-E9F5-76B5-04D8-3E3E3FD6ABAE}"/>
                </a:ext>
              </a:extLst>
            </p:cNvPr>
            <p:cNvSpPr txBox="1"/>
            <p:nvPr/>
          </p:nvSpPr>
          <p:spPr>
            <a:xfrm>
              <a:off x="10634623" y="533095"/>
              <a:ext cx="905256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chemeClr val="bg1">
                      <a:lumMod val="65000"/>
                    </a:schemeClr>
                  </a:solidFill>
                </a:rPr>
                <a:t>COMMON POLICY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09905" y="457200"/>
            <a:ext cx="71058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56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정책 파라미터 II: 거래기관 한도 및 FX 원칙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81405" y="875995"/>
            <a:ext cx="327538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Counterparty Limit &amp; FX Governance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57707" y="1295705"/>
            <a:ext cx="4134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핵심 관리 기준 (Key Standards) 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905" y="1343254"/>
            <a:ext cx="171907" cy="171907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l="-15" r="-15"/>
          <a:stretch/>
        </p:blipFill>
        <p:spPr>
          <a:xfrm>
            <a:off x="609905" y="1790395"/>
            <a:ext cx="4267505" cy="13331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38505" y="1990649"/>
            <a:ext cx="179039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거래기관 집중도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838505" y="2180844"/>
            <a:ext cx="188549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기관 Max 30%</a:t>
            </a:r>
            <a:endParaRPr lang="en-US" sz="15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404665" y="2104949"/>
            <a:ext cx="152705" cy="15270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23214" y="2771546"/>
            <a:ext cx="384505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최소 3개 이상 금융기관 분산 거래 (리스크 헤지) 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 l="-4" r="-4"/>
          <a:stretch/>
        </p:blipFill>
        <p:spPr>
          <a:xfrm>
            <a:off x="609905" y="3276295"/>
            <a:ext cx="4267505" cy="14859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38505" y="3476549"/>
            <a:ext cx="113202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신용등급 요건</a:t>
            </a:r>
            <a:endParaRPr lang="en-US" sz="900" dirty="0"/>
          </a:p>
        </p:txBody>
      </p:sp>
      <p:sp>
        <p:nvSpPr>
          <p:cNvPr id="15" name="Text 9"/>
          <p:cNvSpPr txBox="1"/>
          <p:nvPr/>
        </p:nvSpPr>
        <p:spPr>
          <a:xfrm>
            <a:off x="838505" y="3666744"/>
            <a:ext cx="124724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A+ 등급 이상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4290365" y="3476549"/>
            <a:ext cx="381305" cy="381305"/>
          </a:xfrm>
          <a:prstGeom prst="ellipse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404665" y="3590849"/>
            <a:ext cx="152705" cy="152705"/>
          </a:xfrm>
          <a:prstGeom prst="rect">
            <a:avLst/>
          </a:prstGeom>
        </p:spPr>
      </p:pic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rcRect l="-76" r="-76"/>
          <a:stretch/>
        </p:blipFill>
        <p:spPr>
          <a:xfrm>
            <a:off x="838505" y="4086454"/>
            <a:ext cx="381305" cy="209398"/>
          </a:xfrm>
          <a:prstGeom prst="rect">
            <a:avLst/>
          </a:prstGeom>
        </p:spPr>
      </p:pic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rcRect l="-73" r="-73"/>
          <a:stretch/>
        </p:blipFill>
        <p:spPr>
          <a:xfrm>
            <a:off x="1292047" y="4086454"/>
            <a:ext cx="314554" cy="209398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0"/>
          <a:srcRect t="-14" b="-14"/>
          <a:stretch/>
        </p:blipFill>
        <p:spPr>
          <a:xfrm>
            <a:off x="1677924" y="4086454"/>
            <a:ext cx="304495" cy="209398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1023214" y="4410151"/>
            <a:ext cx="384505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국내 신평사 3사 중 2개사 이상 충족 시 거래 허용 </a:t>
            </a:r>
            <a:endParaRPr lang="en-US" sz="9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11"/>
          <a:srcRect l="-9" r="-9"/>
          <a:stretch/>
        </p:blipFill>
        <p:spPr>
          <a:xfrm>
            <a:off x="609905" y="4914900"/>
            <a:ext cx="4267505" cy="1352398"/>
          </a:xfrm>
          <a:prstGeom prst="rect">
            <a:avLst/>
          </a:prstGeom>
        </p:spPr>
      </p:pic>
      <p:sp>
        <p:nvSpPr>
          <p:cNvPr id="23" name="Text 12"/>
          <p:cNvSpPr txBox="1"/>
          <p:nvPr/>
        </p:nvSpPr>
        <p:spPr>
          <a:xfrm>
            <a:off x="838505" y="5115154"/>
            <a:ext cx="14100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FX 운용 원칙</a:t>
            </a:r>
            <a:endParaRPr lang="en-US" sz="900" dirty="0"/>
          </a:p>
        </p:txBody>
      </p:sp>
      <p:sp>
        <p:nvSpPr>
          <p:cNvPr id="24" name="Text 13"/>
          <p:cNvSpPr txBox="1"/>
          <p:nvPr/>
        </p:nvSpPr>
        <p:spPr>
          <a:xfrm>
            <a:off x="838505" y="5305349"/>
            <a:ext cx="166603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실수요 기반 헤지</a:t>
            </a:r>
            <a:endParaRPr lang="en-US" sz="1500" dirty="0"/>
          </a:p>
        </p:txBody>
      </p:sp>
      <p:sp>
        <p:nvSpPr>
          <p:cNvPr id="25" name="Shape 14"/>
          <p:cNvSpPr/>
          <p:nvPr/>
        </p:nvSpPr>
        <p:spPr>
          <a:xfrm>
            <a:off x="4290365" y="5115154"/>
            <a:ext cx="381305" cy="381305"/>
          </a:xfrm>
          <a:prstGeom prst="ellipse">
            <a:avLst/>
          </a:prstGeom>
          <a:solidFill>
            <a:srgbClr val="4C1D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404665" y="5229454"/>
            <a:ext cx="152705" cy="152705"/>
          </a:xfrm>
          <a:prstGeom prst="rect">
            <a:avLst/>
          </a:prstGeom>
        </p:spPr>
      </p:pic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38505" y="5724144"/>
            <a:ext cx="152705" cy="152705"/>
          </a:xfrm>
          <a:prstGeom prst="rect">
            <a:avLst/>
          </a:prstGeom>
        </p:spPr>
      </p:pic>
      <p:pic>
        <p:nvPicPr>
          <p:cNvPr id="28" name="Image 11" descr="preencoded.png"/>
          <p:cNvPicPr>
            <a:picLocks noChangeAspect="1"/>
          </p:cNvPicPr>
          <p:nvPr/>
        </p:nvPicPr>
        <p:blipFill>
          <a:blip r:embed="rId14"/>
          <a:srcRect t="-43" b="-43"/>
          <a:stretch/>
        </p:blipFill>
        <p:spPr>
          <a:xfrm>
            <a:off x="838505" y="5915254"/>
            <a:ext cx="133502" cy="152705"/>
          </a:xfrm>
          <a:prstGeom prst="rect">
            <a:avLst/>
          </a:prstGeom>
        </p:spPr>
      </p:pic>
      <p:pic>
        <p:nvPicPr>
          <p:cNvPr id="29" name="Image 12" descr="preencoded.png"/>
          <p:cNvPicPr>
            <a:picLocks noChangeAspect="1"/>
          </p:cNvPicPr>
          <p:nvPr/>
        </p:nvPicPr>
        <p:blipFill>
          <a:blip r:embed="rId15"/>
          <a:srcRect t="-8" b="-8"/>
          <a:stretch/>
        </p:blipFill>
        <p:spPr>
          <a:xfrm>
            <a:off x="5176418" y="1295705"/>
            <a:ext cx="6409944" cy="4972507"/>
          </a:xfrm>
          <a:prstGeom prst="rect">
            <a:avLst/>
          </a:prstGeom>
        </p:spPr>
      </p:pic>
      <p:sp>
        <p:nvSpPr>
          <p:cNvPr id="30" name="Text 15"/>
          <p:cNvSpPr txBox="1"/>
          <p:nvPr/>
        </p:nvSpPr>
        <p:spPr>
          <a:xfrm>
            <a:off x="5681167" y="1533449"/>
            <a:ext cx="2712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거래 집중도 시뮬레이션 &amp; FX KPI </a:t>
            </a:r>
            <a:endParaRPr lang="en-US" sz="1300" dirty="0"/>
          </a:p>
        </p:txBody>
      </p:sp>
      <p:pic>
        <p:nvPicPr>
          <p:cNvPr id="31" name="Image 13" descr="preencoded.png"/>
          <p:cNvPicPr>
            <a:picLocks noChangeAspect="1"/>
          </p:cNvPicPr>
          <p:nvPr/>
        </p:nvPicPr>
        <p:blipFill>
          <a:blip r:embed="rId16"/>
          <a:srcRect t="-842" b="-842"/>
          <a:stretch/>
        </p:blipFill>
        <p:spPr>
          <a:xfrm>
            <a:off x="5414162" y="1580998"/>
            <a:ext cx="190195" cy="171907"/>
          </a:xfrm>
          <a:prstGeom prst="rect">
            <a:avLst/>
          </a:prstGeom>
        </p:spPr>
      </p:pic>
      <p:pic>
        <p:nvPicPr>
          <p:cNvPr id="32" name="Image 14" descr="preencoded.png"/>
          <p:cNvPicPr>
            <a:picLocks noChangeAspect="1"/>
          </p:cNvPicPr>
          <p:nvPr/>
        </p:nvPicPr>
        <p:blipFill>
          <a:blip r:embed="rId17"/>
          <a:srcRect t="-24" b="-24"/>
          <a:stretch/>
        </p:blipFill>
        <p:spPr>
          <a:xfrm>
            <a:off x="8493862" y="1952244"/>
            <a:ext cx="2857500" cy="972007"/>
          </a:xfrm>
          <a:prstGeom prst="rect">
            <a:avLst/>
          </a:prstGeom>
        </p:spPr>
      </p:pic>
      <p:pic>
        <p:nvPicPr>
          <p:cNvPr id="33" name="Image 15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11106302" y="2115007"/>
            <a:ext cx="114300" cy="114300"/>
          </a:xfrm>
          <a:prstGeom prst="rect">
            <a:avLst/>
          </a:prstGeom>
        </p:spPr>
      </p:pic>
      <p:sp>
        <p:nvSpPr>
          <p:cNvPr id="34" name="Text 16"/>
          <p:cNvSpPr txBox="1"/>
          <p:nvPr/>
        </p:nvSpPr>
        <p:spPr>
          <a:xfrm>
            <a:off x="8617306" y="2286000"/>
            <a:ext cx="27148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Net Position 관리</a:t>
            </a:r>
            <a:endParaRPr lang="en-US" sz="1300" dirty="0"/>
          </a:p>
        </p:txBody>
      </p:sp>
      <p:sp>
        <p:nvSpPr>
          <p:cNvPr id="35" name="Text 17"/>
          <p:cNvSpPr txBox="1"/>
          <p:nvPr/>
        </p:nvSpPr>
        <p:spPr>
          <a:xfrm>
            <a:off x="8617306" y="2553005"/>
            <a:ext cx="28008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매출채권/매입채무 상계 후 순노출</a:t>
            </a:r>
            <a:endParaRPr lang="en-US" sz="1200" dirty="0"/>
          </a:p>
        </p:txBody>
      </p:sp>
      <p:pic>
        <p:nvPicPr>
          <p:cNvPr id="36" name="Image 16" descr="preencoded.png"/>
          <p:cNvPicPr>
            <a:picLocks noChangeAspect="1"/>
          </p:cNvPicPr>
          <p:nvPr/>
        </p:nvPicPr>
        <p:blipFill>
          <a:blip r:embed="rId19"/>
          <a:srcRect t="-9" b="-9"/>
          <a:stretch/>
        </p:blipFill>
        <p:spPr>
          <a:xfrm>
            <a:off x="8493862" y="3038551"/>
            <a:ext cx="2857500" cy="819302"/>
          </a:xfrm>
          <a:prstGeom prst="rect">
            <a:avLst/>
          </a:prstGeom>
        </p:spPr>
      </p:pic>
      <p:pic>
        <p:nvPicPr>
          <p:cNvPr id="37" name="Image 17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11106302" y="3200400"/>
            <a:ext cx="114300" cy="114300"/>
          </a:xfrm>
          <a:prstGeom prst="rect">
            <a:avLst/>
          </a:prstGeom>
        </p:spPr>
      </p:pic>
      <p:sp>
        <p:nvSpPr>
          <p:cNvPr id="38" name="Text 18"/>
          <p:cNvSpPr txBox="1"/>
          <p:nvPr/>
        </p:nvSpPr>
        <p:spPr>
          <a:xfrm>
            <a:off x="8617306" y="3372307"/>
            <a:ext cx="27148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Band 준수</a:t>
            </a:r>
            <a:endParaRPr lang="en-US" sz="1300" dirty="0"/>
          </a:p>
        </p:txBody>
      </p:sp>
      <p:sp>
        <p:nvSpPr>
          <p:cNvPr id="39" name="Shape 19"/>
          <p:cNvSpPr/>
          <p:nvPr/>
        </p:nvSpPr>
        <p:spPr>
          <a:xfrm>
            <a:off x="8617306" y="3676802"/>
            <a:ext cx="2609698" cy="38405"/>
          </a:xfrm>
          <a:prstGeom prst="roundRect">
            <a:avLst>
              <a:gd name="adj" fmla="val 2380940"/>
            </a:avLst>
          </a:prstGeom>
          <a:solidFill>
            <a:srgbClr val="3741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20"/>
          <p:cNvSpPr/>
          <p:nvPr/>
        </p:nvSpPr>
        <p:spPr>
          <a:xfrm>
            <a:off x="8617306" y="3676802"/>
            <a:ext cx="1828800" cy="38405"/>
          </a:xfrm>
          <a:prstGeom prst="roundRect">
            <a:avLst>
              <a:gd name="adj" fmla="val 2380940"/>
            </a:avLst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18" descr="preencoded.png"/>
          <p:cNvPicPr>
            <a:picLocks noChangeAspect="1"/>
          </p:cNvPicPr>
          <p:nvPr/>
        </p:nvPicPr>
        <p:blipFill>
          <a:blip r:embed="rId21"/>
          <a:srcRect t="-24" b="-24"/>
          <a:stretch/>
        </p:blipFill>
        <p:spPr>
          <a:xfrm>
            <a:off x="8493862" y="3972154"/>
            <a:ext cx="2857500" cy="972007"/>
          </a:xfrm>
          <a:prstGeom prst="rect">
            <a:avLst/>
          </a:prstGeom>
        </p:spPr>
      </p:pic>
      <p:pic>
        <p:nvPicPr>
          <p:cNvPr id="42" name="Image 19" descr="preencoded.png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11106302" y="4134002"/>
            <a:ext cx="114300" cy="114300"/>
          </a:xfrm>
          <a:prstGeom prst="rect">
            <a:avLst/>
          </a:prstGeom>
        </p:spPr>
      </p:pic>
      <p:sp>
        <p:nvSpPr>
          <p:cNvPr id="43" name="Text 21"/>
          <p:cNvSpPr txBox="1"/>
          <p:nvPr/>
        </p:nvSpPr>
        <p:spPr>
          <a:xfrm>
            <a:off x="8617306" y="4304995"/>
            <a:ext cx="27148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변동폭 &lt; 0.5%</a:t>
            </a:r>
            <a:endParaRPr lang="en-US" sz="1300" dirty="0"/>
          </a:p>
        </p:txBody>
      </p:sp>
      <p:sp>
        <p:nvSpPr>
          <p:cNvPr id="44" name="Text 22"/>
          <p:cNvSpPr txBox="1"/>
          <p:nvPr/>
        </p:nvSpPr>
        <p:spPr>
          <a:xfrm>
            <a:off x="8617306" y="4572000"/>
            <a:ext cx="28008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당기순손</a:t>
            </a: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익 영향 최소화</a:t>
            </a:r>
            <a:endParaRPr lang="en-US" sz="1200" dirty="0"/>
          </a:p>
        </p:txBody>
      </p:sp>
      <p:pic>
        <p:nvPicPr>
          <p:cNvPr id="45" name="Image 20" descr="preencoded.png"/>
          <p:cNvPicPr>
            <a:picLocks noChangeAspect="1"/>
          </p:cNvPicPr>
          <p:nvPr/>
        </p:nvPicPr>
        <p:blipFill>
          <a:blip r:embed="rId17"/>
          <a:srcRect t="-24" b="-24"/>
          <a:stretch/>
        </p:blipFill>
        <p:spPr>
          <a:xfrm>
            <a:off x="8493862" y="5057546"/>
            <a:ext cx="2857500" cy="972007"/>
          </a:xfrm>
          <a:prstGeom prst="rect">
            <a:avLst/>
          </a:prstGeom>
        </p:spPr>
      </p:pic>
      <p:pic>
        <p:nvPicPr>
          <p:cNvPr id="46" name="Image 21" descr="preencoded.png"/>
          <p:cNvPicPr>
            <a:picLocks noChangeAspect="1"/>
          </p:cNvPicPr>
          <p:nvPr/>
        </p:nvPicPr>
        <p:blipFill>
          <a:blip r:embed="rId23"/>
          <a:srcRect l="-133" r="-133"/>
          <a:stretch/>
        </p:blipFill>
        <p:spPr>
          <a:xfrm>
            <a:off x="11134649" y="5219395"/>
            <a:ext cx="85954" cy="114300"/>
          </a:xfrm>
          <a:prstGeom prst="rect">
            <a:avLst/>
          </a:prstGeom>
        </p:spPr>
      </p:pic>
      <p:sp>
        <p:nvSpPr>
          <p:cNvPr id="47" name="Text 23"/>
          <p:cNvSpPr txBox="1"/>
          <p:nvPr/>
        </p:nvSpPr>
        <p:spPr>
          <a:xfrm>
            <a:off x="8617306" y="5391302"/>
            <a:ext cx="28008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시장가 대비 우위</a:t>
            </a:r>
            <a:endParaRPr lang="en-US" sz="1300" dirty="0"/>
          </a:p>
        </p:txBody>
      </p:sp>
      <p:sp>
        <p:nvSpPr>
          <p:cNvPr id="48" name="Text 24"/>
          <p:cNvSpPr txBox="1"/>
          <p:nvPr/>
        </p:nvSpPr>
        <p:spPr>
          <a:xfrm>
            <a:off x="8617306" y="5658307"/>
            <a:ext cx="2714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Benchmark(MAR) 대비 성과 측정</a:t>
            </a:r>
            <a:endParaRPr lang="en-US" sz="1200" dirty="0"/>
          </a:p>
        </p:txBody>
      </p:sp>
      <p:sp>
        <p:nvSpPr>
          <p:cNvPr id="49" name="Shape 25"/>
          <p:cNvSpPr/>
          <p:nvPr/>
        </p:nvSpPr>
        <p:spPr>
          <a:xfrm>
            <a:off x="609905" y="6420002"/>
            <a:ext cx="10972800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2" name="Image 22" descr="preencoded.png"/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838505" y="2795321"/>
            <a:ext cx="114300" cy="114300"/>
          </a:xfrm>
          <a:prstGeom prst="rect">
            <a:avLst/>
          </a:prstGeom>
        </p:spPr>
      </p:pic>
      <p:sp>
        <p:nvSpPr>
          <p:cNvPr id="53" name="Text 28"/>
          <p:cNvSpPr txBox="1"/>
          <p:nvPr/>
        </p:nvSpPr>
        <p:spPr>
          <a:xfrm>
            <a:off x="923544" y="4105656"/>
            <a:ext cx="2862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AAA</a:t>
            </a:r>
            <a:endParaRPr lang="en-US" sz="900" dirty="0"/>
          </a:p>
        </p:txBody>
      </p:sp>
      <p:sp>
        <p:nvSpPr>
          <p:cNvPr id="54" name="Text 29"/>
          <p:cNvSpPr txBox="1"/>
          <p:nvPr/>
        </p:nvSpPr>
        <p:spPr>
          <a:xfrm>
            <a:off x="1378001" y="4105656"/>
            <a:ext cx="2194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AA</a:t>
            </a:r>
            <a:endParaRPr lang="en-US" sz="900" dirty="0"/>
          </a:p>
        </p:txBody>
      </p:sp>
      <p:sp>
        <p:nvSpPr>
          <p:cNvPr id="55" name="Text 30"/>
          <p:cNvSpPr txBox="1"/>
          <p:nvPr/>
        </p:nvSpPr>
        <p:spPr>
          <a:xfrm>
            <a:off x="1763878" y="4105656"/>
            <a:ext cx="2103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A+</a:t>
            </a:r>
            <a:endParaRPr lang="en-US" sz="900" dirty="0"/>
          </a:p>
        </p:txBody>
      </p:sp>
      <p:sp>
        <p:nvSpPr>
          <p:cNvPr id="56" name="Text 31"/>
          <p:cNvSpPr txBox="1"/>
          <p:nvPr/>
        </p:nvSpPr>
        <p:spPr>
          <a:xfrm>
            <a:off x="2058314" y="4105656"/>
            <a:ext cx="1143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</a:t>
            </a:r>
            <a:endParaRPr lang="en-US" sz="900" dirty="0"/>
          </a:p>
        </p:txBody>
      </p:sp>
      <p:sp>
        <p:nvSpPr>
          <p:cNvPr id="57" name="Text 32"/>
          <p:cNvSpPr txBox="1"/>
          <p:nvPr/>
        </p:nvSpPr>
        <p:spPr>
          <a:xfrm>
            <a:off x="2165299" y="4105656"/>
            <a:ext cx="1527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900" dirty="0"/>
          </a:p>
        </p:txBody>
      </p:sp>
      <p:sp>
        <p:nvSpPr>
          <p:cNvPr id="58" name="Text 33"/>
          <p:cNvSpPr txBox="1"/>
          <p:nvPr/>
        </p:nvSpPr>
        <p:spPr>
          <a:xfrm>
            <a:off x="2311603" y="4105656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BBB</a:t>
            </a:r>
            <a:endParaRPr lang="en-US" sz="900" dirty="0"/>
          </a:p>
        </p:txBody>
      </p:sp>
      <p:pic>
        <p:nvPicPr>
          <p:cNvPr id="59" name="Image 23" descr="preencoded.png"/>
          <p:cNvPicPr>
            <a:picLocks noChangeAspect="1"/>
          </p:cNvPicPr>
          <p:nvPr/>
        </p:nvPicPr>
        <p:blipFill>
          <a:blip r:embed="rId25"/>
          <a:srcRect/>
          <a:stretch/>
        </p:blipFill>
        <p:spPr>
          <a:xfrm>
            <a:off x="838505" y="4433926"/>
            <a:ext cx="114300" cy="114300"/>
          </a:xfrm>
          <a:prstGeom prst="rect">
            <a:avLst/>
          </a:prstGeom>
        </p:spPr>
      </p:pic>
      <p:sp>
        <p:nvSpPr>
          <p:cNvPr id="60" name="Text 34"/>
          <p:cNvSpPr txBox="1"/>
          <p:nvPr/>
        </p:nvSpPr>
        <p:spPr>
          <a:xfrm>
            <a:off x="1067105" y="5715000"/>
            <a:ext cx="218815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투기적 포지션 금지 (No Speculation)</a:t>
            </a:r>
            <a:endParaRPr lang="en-US" sz="900" dirty="0"/>
          </a:p>
        </p:txBody>
      </p:sp>
      <p:sp>
        <p:nvSpPr>
          <p:cNvPr id="61" name="Text 35"/>
          <p:cNvSpPr txBox="1"/>
          <p:nvPr/>
        </p:nvSpPr>
        <p:spPr>
          <a:xfrm>
            <a:off x="1047902" y="5905195"/>
            <a:ext cx="185897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환변동성(Volatility) 최소화 목표</a:t>
            </a:r>
            <a:endParaRPr lang="en-US" sz="900" dirty="0"/>
          </a:p>
        </p:txBody>
      </p:sp>
      <p:sp>
        <p:nvSpPr>
          <p:cNvPr id="62" name="Text 36"/>
          <p:cNvSpPr txBox="1"/>
          <p:nvPr/>
        </p:nvSpPr>
        <p:spPr>
          <a:xfrm>
            <a:off x="10158070" y="1580998"/>
            <a:ext cx="12810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Policy Status: Active</a:t>
            </a:r>
            <a:endParaRPr lang="en-US" sz="900" dirty="0"/>
          </a:p>
        </p:txBody>
      </p:sp>
      <p:sp>
        <p:nvSpPr>
          <p:cNvPr id="63" name="Text 37"/>
          <p:cNvSpPr txBox="1"/>
          <p:nvPr/>
        </p:nvSpPr>
        <p:spPr>
          <a:xfrm>
            <a:off x="8617306" y="2085746"/>
            <a:ext cx="140634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환노출액 (FX Exposure)</a:t>
            </a:r>
            <a:endParaRPr lang="en-US" sz="900" dirty="0"/>
          </a:p>
        </p:txBody>
      </p:sp>
      <p:sp>
        <p:nvSpPr>
          <p:cNvPr id="64" name="Text 38"/>
          <p:cNvSpPr txBox="1"/>
          <p:nvPr/>
        </p:nvSpPr>
        <p:spPr>
          <a:xfrm>
            <a:off x="8617306" y="3172054"/>
            <a:ext cx="145115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헤지 비율 (Hedge Ratio)</a:t>
            </a:r>
            <a:endParaRPr lang="en-US" sz="900" dirty="0"/>
          </a:p>
        </p:txBody>
      </p:sp>
      <p:sp>
        <p:nvSpPr>
          <p:cNvPr id="65" name="Text 39"/>
          <p:cNvSpPr txBox="1"/>
          <p:nvPr/>
        </p:nvSpPr>
        <p:spPr>
          <a:xfrm>
            <a:off x="8617306" y="4105656"/>
            <a:ext cx="952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환손익 (FX P&amp;L)</a:t>
            </a:r>
            <a:endParaRPr lang="en-US" sz="900" dirty="0"/>
          </a:p>
        </p:txBody>
      </p:sp>
      <p:sp>
        <p:nvSpPr>
          <p:cNvPr id="66" name="Text 40"/>
          <p:cNvSpPr txBox="1"/>
          <p:nvPr/>
        </p:nvSpPr>
        <p:spPr>
          <a:xfrm>
            <a:off x="8617306" y="5191049"/>
            <a:ext cx="112288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환율 (Spread)</a:t>
            </a:r>
            <a:endParaRPr lang="en-US" sz="900" dirty="0"/>
          </a:p>
        </p:txBody>
      </p:sp>
      <p:sp>
        <p:nvSpPr>
          <p:cNvPr id="67" name="Shape 41"/>
          <p:cNvSpPr/>
          <p:nvPr/>
        </p:nvSpPr>
        <p:spPr>
          <a:xfrm>
            <a:off x="838505" y="2600554"/>
            <a:ext cx="3838651" cy="57607"/>
          </a:xfrm>
          <a:prstGeom prst="roundRect">
            <a:avLst>
              <a:gd name="adj" fmla="val 1587307"/>
            </a:avLst>
          </a:prstGeom>
          <a:solidFill>
            <a:srgbClr val="3741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42"/>
          <p:cNvSpPr/>
          <p:nvPr/>
        </p:nvSpPr>
        <p:spPr>
          <a:xfrm>
            <a:off x="10005365" y="1628546"/>
            <a:ext cx="75895" cy="75895"/>
          </a:xfrm>
          <a:prstGeom prst="ellipse">
            <a:avLst/>
          </a:prstGeom>
          <a:solidFill>
            <a:srgbClr val="10B981">
              <a:alpha val="6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9" name="Image 24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5886907" y="2809951"/>
            <a:ext cx="1904695" cy="1904695"/>
          </a:xfrm>
          <a:prstGeom prst="rect">
            <a:avLst/>
          </a:prstGeom>
        </p:spPr>
      </p:pic>
      <p:sp>
        <p:nvSpPr>
          <p:cNvPr id="70" name="Text 43"/>
          <p:cNvSpPr txBox="1"/>
          <p:nvPr/>
        </p:nvSpPr>
        <p:spPr>
          <a:xfrm>
            <a:off x="6586423" y="3857854"/>
            <a:ext cx="5148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Optimal</a:t>
            </a:r>
            <a:endParaRPr lang="en-US" sz="900" dirty="0"/>
          </a:p>
        </p:txBody>
      </p:sp>
      <p:sp>
        <p:nvSpPr>
          <p:cNvPr id="71" name="Text 44"/>
          <p:cNvSpPr txBox="1"/>
          <p:nvPr/>
        </p:nvSpPr>
        <p:spPr>
          <a:xfrm>
            <a:off x="6586423" y="4009644"/>
            <a:ext cx="5148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Mix</a:t>
            </a:r>
            <a:endParaRPr lang="en-US" sz="1500" dirty="0"/>
          </a:p>
        </p:txBody>
      </p:sp>
      <p:sp>
        <p:nvSpPr>
          <p:cNvPr id="72" name="Text 45"/>
          <p:cNvSpPr txBox="1"/>
          <p:nvPr/>
        </p:nvSpPr>
        <p:spPr>
          <a:xfrm>
            <a:off x="5973775" y="4867351"/>
            <a:ext cx="17337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*기관별 한도 30% 이내 관리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금융기관 의존도 축소 </a:t>
            </a:r>
            <a:endParaRPr lang="en-US" sz="900" dirty="0"/>
          </a:p>
        </p:txBody>
      </p:sp>
      <p:pic>
        <p:nvPicPr>
          <p:cNvPr id="73" name="Image 25" descr="preencoded.png"/>
          <p:cNvPicPr>
            <a:picLocks noChangeAspect="1"/>
          </p:cNvPicPr>
          <p:nvPr/>
        </p:nvPicPr>
        <p:blipFill>
          <a:blip r:embed="rId27"/>
          <a:srcRect t="-2499" b="-2499"/>
          <a:stretch/>
        </p:blipFill>
        <p:spPr>
          <a:xfrm>
            <a:off x="1987906" y="2600554"/>
            <a:ext cx="9144" cy="57607"/>
          </a:xfrm>
          <a:prstGeom prst="rect">
            <a:avLst/>
          </a:prstGeom>
        </p:spPr>
      </p:pic>
      <p:sp>
        <p:nvSpPr>
          <p:cNvPr id="74" name="Text 15">
            <a:extLst>
              <a:ext uri="{FF2B5EF4-FFF2-40B4-BE49-F238E27FC236}">
                <a16:creationId xmlns:a16="http://schemas.microsoft.com/office/drawing/2014/main" id="{C2F8E937-0647-286B-1A68-8544C0A0383B}"/>
              </a:ext>
            </a:extLst>
          </p:cNvPr>
          <p:cNvSpPr txBox="1"/>
          <p:nvPr/>
        </p:nvSpPr>
        <p:spPr>
          <a:xfrm>
            <a:off x="9417362" y="6610121"/>
            <a:ext cx="211759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Selvas Group Treasury Committee</a:t>
            </a:r>
            <a:endParaRPr lang="en-US" sz="900" dirty="0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A0077D84-5273-353A-507A-9A4121181E9A}"/>
              </a:ext>
            </a:extLst>
          </p:cNvPr>
          <p:cNvGrpSpPr/>
          <p:nvPr/>
        </p:nvGrpSpPr>
        <p:grpSpPr>
          <a:xfrm>
            <a:off x="10568635" y="486832"/>
            <a:ext cx="1057046" cy="228600"/>
            <a:chOff x="10568635" y="486832"/>
            <a:chExt cx="1057046" cy="228600"/>
          </a:xfrm>
        </p:grpSpPr>
        <p:sp>
          <p:nvSpPr>
            <p:cNvPr id="75" name="Shape 29">
              <a:extLst>
                <a:ext uri="{FF2B5EF4-FFF2-40B4-BE49-F238E27FC236}">
                  <a16:creationId xmlns:a16="http://schemas.microsoft.com/office/drawing/2014/main" id="{97DC19B5-C0CC-53FE-ECA3-0AC58F37AAF4}"/>
                </a:ext>
              </a:extLst>
            </p:cNvPr>
            <p:cNvSpPr/>
            <p:nvPr/>
          </p:nvSpPr>
          <p:spPr>
            <a:xfrm>
              <a:off x="10568635" y="486832"/>
              <a:ext cx="1057046" cy="228600"/>
            </a:xfrm>
            <a:prstGeom prst="roundRect">
              <a:avLst>
                <a:gd name="adj" fmla="val 66667"/>
              </a:avLst>
            </a:prstGeom>
            <a:solidFill>
              <a:srgbClr val="1F2937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6" name="Text 4">
              <a:extLst>
                <a:ext uri="{FF2B5EF4-FFF2-40B4-BE49-F238E27FC236}">
                  <a16:creationId xmlns:a16="http://schemas.microsoft.com/office/drawing/2014/main" id="{FF003457-95ED-0200-1CF7-9255304764BA}"/>
                </a:ext>
              </a:extLst>
            </p:cNvPr>
            <p:cNvSpPr txBox="1"/>
            <p:nvPr/>
          </p:nvSpPr>
          <p:spPr>
            <a:xfrm>
              <a:off x="10634623" y="533095"/>
              <a:ext cx="905256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chemeClr val="bg1">
                      <a:lumMod val="65000"/>
                    </a:schemeClr>
                  </a:solidFill>
                </a:rPr>
                <a:t>COMMON POLICY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871EF-F925-0064-26D8-7174C2CC0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Image 0" descr="preencoded.png">
            <a:extLst>
              <a:ext uri="{FF2B5EF4-FFF2-40B4-BE49-F238E27FC236}">
                <a16:creationId xmlns:a16="http://schemas.microsoft.com/office/drawing/2014/main" id="{EB0DB19F-7AD9-8F34-C5DE-68BE1B0D40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905" y="4504524"/>
            <a:ext cx="4267505" cy="217908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2872F46A-E406-F8C7-79C2-D968132632E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8F8E03D-1374-BD1E-95DC-2D3C4286D291}"/>
              </a:ext>
            </a:extLst>
          </p:cNvPr>
          <p:cNvSpPr txBox="1"/>
          <p:nvPr/>
        </p:nvSpPr>
        <p:spPr>
          <a:xfrm>
            <a:off x="609905" y="457200"/>
            <a:ext cx="58110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56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메디아나 FX 운용현황 및 Target Band 정책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A02BF8C-C3AB-8901-7DBC-B194139E54D1}"/>
              </a:ext>
            </a:extLst>
          </p:cNvPr>
          <p:cNvSpPr/>
          <p:nvPr/>
        </p:nvSpPr>
        <p:spPr>
          <a:xfrm>
            <a:off x="609905" y="952805"/>
            <a:ext cx="457200" cy="38405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E5ED93E-8519-488E-4822-E3165866C847}"/>
              </a:ext>
            </a:extLst>
          </p:cNvPr>
          <p:cNvSpPr txBox="1"/>
          <p:nvPr/>
        </p:nvSpPr>
        <p:spPr>
          <a:xfrm>
            <a:off x="1181405" y="875995"/>
            <a:ext cx="32104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5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FX Exposure &amp; Management Strategy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39FFF9B-8228-F30D-DEF8-E3C7070B4AC9}"/>
              </a:ext>
            </a:extLst>
          </p:cNvPr>
          <p:cNvSpPr txBox="1"/>
          <p:nvPr/>
        </p:nvSpPr>
        <p:spPr>
          <a:xfrm>
            <a:off x="10872216" y="514807"/>
            <a:ext cx="6007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MEDIANA</a:t>
            </a:r>
            <a:endParaRPr lang="en-US" sz="900" dirty="0"/>
          </a:p>
        </p:txBody>
      </p:sp>
      <p:sp>
        <p:nvSpPr>
          <p:cNvPr id="29" name="Shape 19">
            <a:extLst>
              <a:ext uri="{FF2B5EF4-FFF2-40B4-BE49-F238E27FC236}">
                <a16:creationId xmlns:a16="http://schemas.microsoft.com/office/drawing/2014/main" id="{1D4A1FD0-E4F5-17E7-E7C8-D4143F5DCE24}"/>
              </a:ext>
            </a:extLst>
          </p:cNvPr>
          <p:cNvSpPr/>
          <p:nvPr/>
        </p:nvSpPr>
        <p:spPr>
          <a:xfrm>
            <a:off x="609905" y="8572500"/>
            <a:ext cx="10972800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0">
            <a:extLst>
              <a:ext uri="{FF2B5EF4-FFF2-40B4-BE49-F238E27FC236}">
                <a16:creationId xmlns:a16="http://schemas.microsoft.com/office/drawing/2014/main" id="{72095653-01A3-1DA9-7E14-42DC18D1107F}"/>
              </a:ext>
            </a:extLst>
          </p:cNvPr>
          <p:cNvSpPr txBox="1"/>
          <p:nvPr/>
        </p:nvSpPr>
        <p:spPr>
          <a:xfrm>
            <a:off x="495605" y="8658454"/>
            <a:ext cx="110871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Selvas Group Treasury Policy 2026</a:t>
            </a:r>
            <a:endParaRPr lang="en-US" sz="900" dirty="0"/>
          </a:p>
        </p:txBody>
      </p:sp>
      <p:sp>
        <p:nvSpPr>
          <p:cNvPr id="31" name="Shape 21">
            <a:extLst>
              <a:ext uri="{FF2B5EF4-FFF2-40B4-BE49-F238E27FC236}">
                <a16:creationId xmlns:a16="http://schemas.microsoft.com/office/drawing/2014/main" id="{C57B37F7-2D6C-7F6C-81D3-139917F80F31}"/>
              </a:ext>
            </a:extLst>
          </p:cNvPr>
          <p:cNvSpPr/>
          <p:nvPr/>
        </p:nvSpPr>
        <p:spPr>
          <a:xfrm>
            <a:off x="10834726" y="476402"/>
            <a:ext cx="752551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0F024068-7D5D-68E9-906C-5079E8636BF8}"/>
              </a:ext>
            </a:extLst>
          </p:cNvPr>
          <p:cNvGrpSpPr/>
          <p:nvPr/>
        </p:nvGrpSpPr>
        <p:grpSpPr>
          <a:xfrm>
            <a:off x="609905" y="1295705"/>
            <a:ext cx="2071511" cy="981151"/>
            <a:chOff x="609905" y="1295705"/>
            <a:chExt cx="2057400" cy="1143000"/>
          </a:xfrm>
        </p:grpSpPr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97BDE0EF-2B67-F181-ED23-15E307645EF3}"/>
                </a:ext>
              </a:extLst>
            </p:cNvPr>
            <p:cNvSpPr/>
            <p:nvPr/>
          </p:nvSpPr>
          <p:spPr>
            <a:xfrm>
              <a:off x="609905" y="1295705"/>
              <a:ext cx="38405" cy="1143000"/>
            </a:xfrm>
            <a:prstGeom prst="rect">
              <a:avLst/>
            </a:prstGeom>
            <a:solidFill>
              <a:srgbClr val="10B981"/>
            </a:solidFill>
            <a:ln w="12700">
              <a:solidFill>
                <a:srgbClr val="10B981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7CD20428-D926-2C9E-0592-3988A4834E67}"/>
                </a:ext>
              </a:extLst>
            </p:cNvPr>
            <p:cNvSpPr/>
            <p:nvPr/>
          </p:nvSpPr>
          <p:spPr>
            <a:xfrm>
              <a:off x="664769" y="1295705"/>
              <a:ext cx="2002536" cy="1143000"/>
            </a:xfrm>
            <a:prstGeom prst="roundRect">
              <a:avLst>
                <a:gd name="adj" fmla="val 5333"/>
              </a:avLst>
            </a:prstGeom>
            <a:solidFill>
              <a:srgbClr val="334155">
                <a:alpha val="30000"/>
              </a:srgbClr>
            </a:solidFill>
            <a:ln/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BF4CB1E9-DCE7-A224-1D59-CE61B0FBF1D1}"/>
                </a:ext>
              </a:extLst>
            </p:cNvPr>
            <p:cNvSpPr txBox="1"/>
            <p:nvPr/>
          </p:nvSpPr>
          <p:spPr>
            <a:xfrm>
              <a:off x="800100" y="2057400"/>
              <a:ext cx="179131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Cash &amp; Equivalents</a:t>
              </a:r>
              <a:endParaRPr lang="en-US" sz="1200" dirty="0"/>
            </a:p>
          </p:txBody>
        </p:sp>
        <p:sp>
          <p:nvSpPr>
            <p:cNvPr id="32" name="Text 22">
              <a:extLst>
                <a:ext uri="{FF2B5EF4-FFF2-40B4-BE49-F238E27FC236}">
                  <a16:creationId xmlns:a16="http://schemas.microsoft.com/office/drawing/2014/main" id="{D4228340-D8B5-E080-56DB-2B2144F91C4A}"/>
                </a:ext>
              </a:extLst>
            </p:cNvPr>
            <p:cNvSpPr txBox="1"/>
            <p:nvPr/>
          </p:nvSpPr>
          <p:spPr>
            <a:xfrm>
              <a:off x="800100" y="1438351"/>
              <a:ext cx="715061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kern="0" spc="45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총 보유자금</a:t>
              </a:r>
              <a:endParaRPr lang="en-US" sz="900" dirty="0"/>
            </a:p>
          </p:txBody>
        </p:sp>
        <p:sp>
          <p:nvSpPr>
            <p:cNvPr id="33" name="Text 23">
              <a:extLst>
                <a:ext uri="{FF2B5EF4-FFF2-40B4-BE49-F238E27FC236}">
                  <a16:creationId xmlns:a16="http://schemas.microsoft.com/office/drawing/2014/main" id="{1793E8FA-436F-2977-AB93-FA5008A2B7FA}"/>
                </a:ext>
              </a:extLst>
            </p:cNvPr>
            <p:cNvSpPr txBox="1"/>
            <p:nvPr/>
          </p:nvSpPr>
          <p:spPr>
            <a:xfrm>
              <a:off x="800100" y="1638605"/>
              <a:ext cx="590702" cy="419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880</a:t>
              </a:r>
              <a:endParaRPr lang="en-US" sz="2200" dirty="0"/>
            </a:p>
          </p:txBody>
        </p:sp>
        <p:sp>
          <p:nvSpPr>
            <p:cNvPr id="34" name="Text 24">
              <a:extLst>
                <a:ext uri="{FF2B5EF4-FFF2-40B4-BE49-F238E27FC236}">
                  <a16:creationId xmlns:a16="http://schemas.microsoft.com/office/drawing/2014/main" id="{EC16787B-7645-601C-8E2A-F40B8073FE1C}"/>
                </a:ext>
              </a:extLst>
            </p:cNvPr>
            <p:cNvSpPr txBox="1"/>
            <p:nvPr/>
          </p:nvSpPr>
          <p:spPr>
            <a:xfrm>
              <a:off x="1382573" y="1790395"/>
              <a:ext cx="362102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억 원</a:t>
              </a:r>
              <a:endParaRPr lang="en-US" sz="1000" dirty="0"/>
            </a:p>
          </p:txBody>
        </p:sp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74F79DDD-315B-92EC-FDC8-AAEC377385A2}"/>
              </a:ext>
            </a:extLst>
          </p:cNvPr>
          <p:cNvGrpSpPr/>
          <p:nvPr/>
        </p:nvGrpSpPr>
        <p:grpSpPr>
          <a:xfrm>
            <a:off x="2819095" y="1295705"/>
            <a:ext cx="1936765" cy="981151"/>
            <a:chOff x="2819095" y="1295705"/>
            <a:chExt cx="2057400" cy="1143000"/>
          </a:xfrm>
        </p:grpSpPr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F8B54D5E-ACFF-7161-4772-F4E3257E3EE8}"/>
                </a:ext>
              </a:extLst>
            </p:cNvPr>
            <p:cNvSpPr/>
            <p:nvPr/>
          </p:nvSpPr>
          <p:spPr>
            <a:xfrm>
              <a:off x="2819095" y="1295705"/>
              <a:ext cx="2057400" cy="1143000"/>
            </a:xfrm>
            <a:prstGeom prst="roundRect">
              <a:avLst>
                <a:gd name="adj" fmla="val 5333"/>
              </a:avLst>
            </a:prstGeom>
            <a:solidFill>
              <a:srgbClr val="334155">
                <a:alpha val="3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7B5DCAF4-A249-0951-4B49-82E1892FFBAB}"/>
                </a:ext>
              </a:extLst>
            </p:cNvPr>
            <p:cNvSpPr/>
            <p:nvPr/>
          </p:nvSpPr>
          <p:spPr>
            <a:xfrm>
              <a:off x="2819095" y="1295705"/>
              <a:ext cx="38405" cy="1143000"/>
            </a:xfrm>
            <a:prstGeom prst="rect">
              <a:avLst/>
            </a:prstGeom>
            <a:solidFill>
              <a:srgbClr val="3B82F6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5" name="Text 25">
              <a:extLst>
                <a:ext uri="{FF2B5EF4-FFF2-40B4-BE49-F238E27FC236}">
                  <a16:creationId xmlns:a16="http://schemas.microsoft.com/office/drawing/2014/main" id="{EE30396B-CCB1-4717-63B7-1FA4A74690B7}"/>
                </a:ext>
              </a:extLst>
            </p:cNvPr>
            <p:cNvSpPr txBox="1"/>
            <p:nvPr/>
          </p:nvSpPr>
          <p:spPr>
            <a:xfrm>
              <a:off x="3010205" y="1438351"/>
              <a:ext cx="10835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kern="0" spc="45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외화 자산 (비중)</a:t>
              </a:r>
              <a:endParaRPr lang="en-US" sz="900" dirty="0"/>
            </a:p>
          </p:txBody>
        </p:sp>
        <p:sp>
          <p:nvSpPr>
            <p:cNvPr id="36" name="Text 26">
              <a:extLst>
                <a:ext uri="{FF2B5EF4-FFF2-40B4-BE49-F238E27FC236}">
                  <a16:creationId xmlns:a16="http://schemas.microsoft.com/office/drawing/2014/main" id="{C9FF48C3-46E3-6F10-D31A-9E510D21E18B}"/>
                </a:ext>
              </a:extLst>
            </p:cNvPr>
            <p:cNvSpPr txBox="1"/>
            <p:nvPr/>
          </p:nvSpPr>
          <p:spPr>
            <a:xfrm>
              <a:off x="3010205" y="1638605"/>
              <a:ext cx="590702" cy="419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200" b="1" dirty="0">
                  <a:solidFill>
                    <a:srgbClr val="60A5F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220</a:t>
              </a:r>
              <a:endParaRPr lang="en-US" sz="2200" dirty="0"/>
            </a:p>
          </p:txBody>
        </p:sp>
        <p:sp>
          <p:nvSpPr>
            <p:cNvPr id="37" name="Text 27">
              <a:extLst>
                <a:ext uri="{FF2B5EF4-FFF2-40B4-BE49-F238E27FC236}">
                  <a16:creationId xmlns:a16="http://schemas.microsoft.com/office/drawing/2014/main" id="{272F2F78-647A-F0F1-99DB-DF3466AAD027}"/>
                </a:ext>
              </a:extLst>
            </p:cNvPr>
            <p:cNvSpPr txBox="1"/>
            <p:nvPr/>
          </p:nvSpPr>
          <p:spPr>
            <a:xfrm>
              <a:off x="3591763" y="1790395"/>
              <a:ext cx="362102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억 원</a:t>
              </a:r>
              <a:endParaRPr lang="en-US" sz="1000" dirty="0"/>
            </a:p>
          </p:txBody>
        </p:sp>
        <p:sp>
          <p:nvSpPr>
            <p:cNvPr id="38" name="Text 28">
              <a:extLst>
                <a:ext uri="{FF2B5EF4-FFF2-40B4-BE49-F238E27FC236}">
                  <a16:creationId xmlns:a16="http://schemas.microsoft.com/office/drawing/2014/main" id="{5BDFBABD-8943-AC9D-A161-5C16FEE6A45E}"/>
                </a:ext>
              </a:extLst>
            </p:cNvPr>
            <p:cNvSpPr txBox="1"/>
            <p:nvPr/>
          </p:nvSpPr>
          <p:spPr>
            <a:xfrm>
              <a:off x="3066898" y="2085746"/>
              <a:ext cx="42885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25.0%</a:t>
              </a:r>
              <a:endParaRPr lang="en-US" sz="900" dirty="0"/>
            </a:p>
          </p:txBody>
        </p:sp>
        <p:sp>
          <p:nvSpPr>
            <p:cNvPr id="39" name="Text 29">
              <a:extLst>
                <a:ext uri="{FF2B5EF4-FFF2-40B4-BE49-F238E27FC236}">
                  <a16:creationId xmlns:a16="http://schemas.microsoft.com/office/drawing/2014/main" id="{2825E463-A63F-1948-EE1C-3BFD3C1E4BC9}"/>
                </a:ext>
              </a:extLst>
            </p:cNvPr>
            <p:cNvSpPr txBox="1"/>
            <p:nvPr/>
          </p:nvSpPr>
          <p:spPr>
            <a:xfrm>
              <a:off x="3512210" y="2057400"/>
              <a:ext cx="64648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of Total</a:t>
              </a:r>
              <a:endParaRPr lang="en-US" sz="1200" dirty="0"/>
            </a:p>
          </p:txBody>
        </p:sp>
      </p:grp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F8FCE4FD-36A3-9F2A-6CD4-81964282B82E}"/>
              </a:ext>
            </a:extLst>
          </p:cNvPr>
          <p:cNvGrpSpPr/>
          <p:nvPr/>
        </p:nvGrpSpPr>
        <p:grpSpPr>
          <a:xfrm>
            <a:off x="609906" y="2367841"/>
            <a:ext cx="4145954" cy="1869678"/>
            <a:chOff x="609905" y="2667305"/>
            <a:chExt cx="4267505" cy="2419502"/>
          </a:xfrm>
        </p:grpSpPr>
        <p:pic>
          <p:nvPicPr>
            <p:cNvPr id="12" name="Image 0" descr="preencoded.png">
              <a:extLst>
                <a:ext uri="{FF2B5EF4-FFF2-40B4-BE49-F238E27FC236}">
                  <a16:creationId xmlns:a16="http://schemas.microsoft.com/office/drawing/2014/main" id="{0C58FA2C-C909-0FF2-A559-78BF50B02A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609905" y="2667305"/>
              <a:ext cx="4267505" cy="2419502"/>
            </a:xfrm>
            <a:prstGeom prst="rect">
              <a:avLst/>
            </a:prstGeom>
          </p:spPr>
        </p:pic>
        <p:sp>
          <p:nvSpPr>
            <p:cNvPr id="13" name="Text 10">
              <a:extLst>
                <a:ext uri="{FF2B5EF4-FFF2-40B4-BE49-F238E27FC236}">
                  <a16:creationId xmlns:a16="http://schemas.microsoft.com/office/drawing/2014/main" id="{A1946874-BB06-96E8-E12B-47CA9DB07F60}"/>
                </a:ext>
              </a:extLst>
            </p:cNvPr>
            <p:cNvSpPr txBox="1"/>
            <p:nvPr/>
          </p:nvSpPr>
          <p:spPr>
            <a:xfrm>
              <a:off x="1057046" y="2866644"/>
              <a:ext cx="381030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외화 자금 구조 분석 </a:t>
              </a:r>
              <a:endParaRPr lang="en-US" sz="1200" dirty="0"/>
            </a:p>
          </p:txBody>
        </p:sp>
        <p:pic>
          <p:nvPicPr>
            <p:cNvPr id="14" name="Image 1" descr="preencoded.png">
              <a:extLst>
                <a:ext uri="{FF2B5EF4-FFF2-40B4-BE49-F238E27FC236}">
                  <a16:creationId xmlns:a16="http://schemas.microsoft.com/office/drawing/2014/main" id="{2283ED22-0A8B-EF25-8D62-445874F1F2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-33" r="-33"/>
            <a:stretch/>
          </p:blipFill>
          <p:spPr>
            <a:xfrm>
              <a:off x="809244" y="2905049"/>
              <a:ext cx="171907" cy="152705"/>
            </a:xfrm>
            <a:prstGeom prst="rect">
              <a:avLst/>
            </a:prstGeom>
          </p:spPr>
        </p:pic>
        <p:sp>
          <p:nvSpPr>
            <p:cNvPr id="15" name="Shape 11">
              <a:extLst>
                <a:ext uri="{FF2B5EF4-FFF2-40B4-BE49-F238E27FC236}">
                  <a16:creationId xmlns:a16="http://schemas.microsoft.com/office/drawing/2014/main" id="{6ED8516E-4945-E891-9EE3-846D625AF245}"/>
                </a:ext>
              </a:extLst>
            </p:cNvPr>
            <p:cNvSpPr/>
            <p:nvPr/>
          </p:nvSpPr>
          <p:spPr>
            <a:xfrm>
              <a:off x="952122" y="3357509"/>
              <a:ext cx="175187" cy="253422"/>
            </a:xfrm>
            <a:prstGeom prst="ellipse">
              <a:avLst/>
            </a:prstGeom>
            <a:solidFill>
              <a:srgbClr val="1E3A8A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6" name="Image 2" descr="preencoded.png">
              <a:extLst>
                <a:ext uri="{FF2B5EF4-FFF2-40B4-BE49-F238E27FC236}">
                  <a16:creationId xmlns:a16="http://schemas.microsoft.com/office/drawing/2014/main" id="{A397415F-8027-F37F-1F15-5ACA5635C13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-133" r="-133"/>
            <a:stretch/>
          </p:blipFill>
          <p:spPr>
            <a:xfrm>
              <a:off x="1000545" y="3438933"/>
              <a:ext cx="85954" cy="114300"/>
            </a:xfrm>
            <a:prstGeom prst="rect">
              <a:avLst/>
            </a:prstGeom>
          </p:spPr>
        </p:pic>
        <p:sp>
          <p:nvSpPr>
            <p:cNvPr id="17" name="Text 12">
              <a:extLst>
                <a:ext uri="{FF2B5EF4-FFF2-40B4-BE49-F238E27FC236}">
                  <a16:creationId xmlns:a16="http://schemas.microsoft.com/office/drawing/2014/main" id="{DD3C8E09-CA98-45ED-B785-2A1C76B4CAAA}"/>
                </a:ext>
              </a:extLst>
            </p:cNvPr>
            <p:cNvSpPr txBox="1"/>
            <p:nvPr/>
          </p:nvSpPr>
          <p:spPr>
            <a:xfrm>
              <a:off x="1266444" y="3590849"/>
              <a:ext cx="3372307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수출 대금(USD) 지속 유입되나 수입 결제 수요 미미. </a:t>
              </a:r>
            </a:p>
            <a:p>
              <a:pPr marL="0" indent="0" algn="l">
                <a:buNone/>
              </a:pPr>
              <a:r>
                <a:rPr lang="en-US" sz="900" dirty="0" err="1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자연</a:t>
              </a:r>
              <a:r>
                <a:rPr lang="en-US" sz="9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헤지(Natural Hedging) 한계.</a:t>
              </a:r>
              <a:endParaRPr lang="en-US" sz="900" dirty="0"/>
            </a:p>
          </p:txBody>
        </p:sp>
        <p:pic>
          <p:nvPicPr>
            <p:cNvPr id="18" name="Image 3" descr="preencoded.png">
              <a:extLst>
                <a:ext uri="{FF2B5EF4-FFF2-40B4-BE49-F238E27FC236}">
                  <a16:creationId xmlns:a16="http://schemas.microsoft.com/office/drawing/2014/main" id="{7DBDEE0B-1D3B-E039-E814-328C6CB59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-17200" r="-17200"/>
            <a:stretch/>
          </p:blipFill>
          <p:spPr>
            <a:xfrm>
              <a:off x="1025998" y="4201068"/>
              <a:ext cx="45719" cy="272144"/>
            </a:xfrm>
            <a:prstGeom prst="rect">
              <a:avLst/>
            </a:prstGeom>
          </p:spPr>
        </p:pic>
        <p:sp>
          <p:nvSpPr>
            <p:cNvPr id="19" name="Text 13">
              <a:extLst>
                <a:ext uri="{FF2B5EF4-FFF2-40B4-BE49-F238E27FC236}">
                  <a16:creationId xmlns:a16="http://schemas.microsoft.com/office/drawing/2014/main" id="{12F6FCA0-C8EF-4758-58C7-BE2133B4B3E1}"/>
                </a:ext>
              </a:extLst>
            </p:cNvPr>
            <p:cNvSpPr txBox="1"/>
            <p:nvPr/>
          </p:nvSpPr>
          <p:spPr>
            <a:xfrm>
              <a:off x="1266444" y="4466844"/>
              <a:ext cx="3372307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현재 외화 비중 25%는 변동성 확대 시 손익 영향 큼. 적정 수준(Band) 관리 필요.</a:t>
              </a:r>
              <a:endParaRPr lang="en-US" sz="900" dirty="0"/>
            </a:p>
          </p:txBody>
        </p:sp>
        <p:sp>
          <p:nvSpPr>
            <p:cNvPr id="40" name="Text 30">
              <a:extLst>
                <a:ext uri="{FF2B5EF4-FFF2-40B4-BE49-F238E27FC236}">
                  <a16:creationId xmlns:a16="http://schemas.microsoft.com/office/drawing/2014/main" id="{94E822C6-62C4-A567-09F6-8324BF076A81}"/>
                </a:ext>
              </a:extLst>
            </p:cNvPr>
            <p:cNvSpPr txBox="1"/>
            <p:nvPr/>
          </p:nvSpPr>
          <p:spPr>
            <a:xfrm>
              <a:off x="1266444" y="3362249"/>
              <a:ext cx="1780337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93C5FD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USD Long Position 심화</a:t>
              </a:r>
              <a:endParaRPr lang="en-US" sz="1000" dirty="0"/>
            </a:p>
          </p:txBody>
        </p:sp>
        <p:sp>
          <p:nvSpPr>
            <p:cNvPr id="41" name="Text 31">
              <a:extLst>
                <a:ext uri="{FF2B5EF4-FFF2-40B4-BE49-F238E27FC236}">
                  <a16:creationId xmlns:a16="http://schemas.microsoft.com/office/drawing/2014/main" id="{3BFB38A6-F3B0-84B3-DC2C-730BA0E9C188}"/>
                </a:ext>
              </a:extLst>
            </p:cNvPr>
            <p:cNvSpPr txBox="1"/>
            <p:nvPr/>
          </p:nvSpPr>
          <p:spPr>
            <a:xfrm>
              <a:off x="1266444" y="4238244"/>
              <a:ext cx="130850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환변동성 노출 확대</a:t>
              </a:r>
              <a:endParaRPr lang="en-US" sz="1000" dirty="0"/>
            </a:p>
          </p:txBody>
        </p:sp>
      </p:grpSp>
      <p:sp>
        <p:nvSpPr>
          <p:cNvPr id="21" name="Text 14">
            <a:extLst>
              <a:ext uri="{FF2B5EF4-FFF2-40B4-BE49-F238E27FC236}">
                <a16:creationId xmlns:a16="http://schemas.microsoft.com/office/drawing/2014/main" id="{E0BF4565-F62B-951E-DB48-EF1890C712F5}"/>
              </a:ext>
            </a:extLst>
          </p:cNvPr>
          <p:cNvSpPr txBox="1"/>
          <p:nvPr/>
        </p:nvSpPr>
        <p:spPr>
          <a:xfrm>
            <a:off x="917370" y="4346220"/>
            <a:ext cx="3960039" cy="173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Target Band 정책 옵션 </a:t>
            </a:r>
            <a:endParaRPr lang="en-US" sz="1200" dirty="0"/>
          </a:p>
        </p:txBody>
      </p:sp>
      <p:pic>
        <p:nvPicPr>
          <p:cNvPr id="22" name="Image 5" descr="preencoded.png">
            <a:extLst>
              <a:ext uri="{FF2B5EF4-FFF2-40B4-BE49-F238E27FC236}">
                <a16:creationId xmlns:a16="http://schemas.microsoft.com/office/drawing/2014/main" id="{D0F3A9C3-FB91-9FC8-D613-5C10DC9484C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76198" y="4375346"/>
            <a:ext cx="161103" cy="115809"/>
          </a:xfrm>
          <a:prstGeom prst="rect">
            <a:avLst/>
          </a:prstGeom>
        </p:spPr>
      </p:pic>
      <p:pic>
        <p:nvPicPr>
          <p:cNvPr id="23" name="Image 6" descr="preencoded.png">
            <a:extLst>
              <a:ext uri="{FF2B5EF4-FFF2-40B4-BE49-F238E27FC236}">
                <a16:creationId xmlns:a16="http://schemas.microsoft.com/office/drawing/2014/main" id="{A8C900EC-6BBE-E5F1-8D19-073AC3633C2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-13" b="-13"/>
          <a:stretch/>
        </p:blipFill>
        <p:spPr>
          <a:xfrm>
            <a:off x="609904" y="4606270"/>
            <a:ext cx="4145955" cy="534661"/>
          </a:xfrm>
          <a:prstGeom prst="rect">
            <a:avLst/>
          </a:prstGeom>
        </p:spPr>
      </p:pic>
      <p:sp>
        <p:nvSpPr>
          <p:cNvPr id="24" name="Shape 15">
            <a:extLst>
              <a:ext uri="{FF2B5EF4-FFF2-40B4-BE49-F238E27FC236}">
                <a16:creationId xmlns:a16="http://schemas.microsoft.com/office/drawing/2014/main" id="{13908486-5688-1AB6-FBB4-51596948AFD8}"/>
              </a:ext>
            </a:extLst>
          </p:cNvPr>
          <p:cNvSpPr/>
          <p:nvPr/>
        </p:nvSpPr>
        <p:spPr>
          <a:xfrm>
            <a:off x="3492119" y="4700581"/>
            <a:ext cx="1135437" cy="202492"/>
          </a:xfrm>
          <a:prstGeom prst="roundRect">
            <a:avLst>
              <a:gd name="adj" fmla="val 48924"/>
            </a:avLst>
          </a:prstGeom>
          <a:solidFill>
            <a:srgbClr val="3741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07E2E0A1-67BA-8296-8DC1-9819697ABFCA}"/>
              </a:ext>
            </a:extLst>
          </p:cNvPr>
          <p:cNvSpPr txBox="1"/>
          <p:nvPr/>
        </p:nvSpPr>
        <p:spPr>
          <a:xfrm>
            <a:off x="1089084" y="4931505"/>
            <a:ext cx="3738161" cy="1158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환위험 최소화, 즉시 환전 확대 필요</a:t>
            </a:r>
            <a:endParaRPr lang="en-US" sz="900" dirty="0"/>
          </a:p>
        </p:txBody>
      </p:sp>
      <p:pic>
        <p:nvPicPr>
          <p:cNvPr id="26" name="Image 7" descr="preencoded.png">
            <a:extLst>
              <a:ext uri="{FF2B5EF4-FFF2-40B4-BE49-F238E27FC236}">
                <a16:creationId xmlns:a16="http://schemas.microsoft.com/office/drawing/2014/main" id="{4B174A52-AFF3-C7EE-F8EE-EB59477819C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2083" r="-2083"/>
          <a:stretch/>
        </p:blipFill>
        <p:spPr>
          <a:xfrm>
            <a:off x="676198" y="5863522"/>
            <a:ext cx="4079661" cy="6935"/>
          </a:xfrm>
          <a:prstGeom prst="rect">
            <a:avLst/>
          </a:prstGeom>
        </p:spPr>
      </p:pic>
      <p:sp>
        <p:nvSpPr>
          <p:cNvPr id="42" name="Text 32">
            <a:extLst>
              <a:ext uri="{FF2B5EF4-FFF2-40B4-BE49-F238E27FC236}">
                <a16:creationId xmlns:a16="http://schemas.microsoft.com/office/drawing/2014/main" id="{36FC65D5-11DE-36F9-9C88-CE1B56459B68}"/>
              </a:ext>
            </a:extLst>
          </p:cNvPr>
          <p:cNvSpPr txBox="1"/>
          <p:nvPr/>
        </p:nvSpPr>
        <p:spPr>
          <a:xfrm>
            <a:off x="1089084" y="4700581"/>
            <a:ext cx="1445101" cy="144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Option 1: 15~20%</a:t>
            </a:r>
            <a:endParaRPr lang="en-US" sz="1000" dirty="0"/>
          </a:p>
        </p:txBody>
      </p:sp>
      <p:sp>
        <p:nvSpPr>
          <p:cNvPr id="43" name="Text 33">
            <a:extLst>
              <a:ext uri="{FF2B5EF4-FFF2-40B4-BE49-F238E27FC236}">
                <a16:creationId xmlns:a16="http://schemas.microsoft.com/office/drawing/2014/main" id="{38085617-A766-8416-07FF-CA858BF922E5}"/>
              </a:ext>
            </a:extLst>
          </p:cNvPr>
          <p:cNvSpPr txBox="1"/>
          <p:nvPr/>
        </p:nvSpPr>
        <p:spPr>
          <a:xfrm>
            <a:off x="3600469" y="4715144"/>
            <a:ext cx="1160518" cy="173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Conservative</a:t>
            </a:r>
            <a:endParaRPr lang="en-US" sz="1200" dirty="0"/>
          </a:p>
        </p:txBody>
      </p:sp>
      <p:pic>
        <p:nvPicPr>
          <p:cNvPr id="112" name="Image 6" descr="preencoded.png">
            <a:extLst>
              <a:ext uri="{FF2B5EF4-FFF2-40B4-BE49-F238E27FC236}">
                <a16:creationId xmlns:a16="http://schemas.microsoft.com/office/drawing/2014/main" id="{2F72F5BD-80E3-C146-081A-0219FD1F0DB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-13" b="-13"/>
          <a:stretch/>
        </p:blipFill>
        <p:spPr>
          <a:xfrm>
            <a:off x="609906" y="5249459"/>
            <a:ext cx="4145954" cy="5346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9" name="Text 38">
            <a:extLst>
              <a:ext uri="{FF2B5EF4-FFF2-40B4-BE49-F238E27FC236}">
                <a16:creationId xmlns:a16="http://schemas.microsoft.com/office/drawing/2014/main" id="{1F55615A-26D7-EC99-BF92-ABB962137510}"/>
              </a:ext>
            </a:extLst>
          </p:cNvPr>
          <p:cNvSpPr txBox="1"/>
          <p:nvPr/>
        </p:nvSpPr>
        <p:spPr>
          <a:xfrm>
            <a:off x="1098731" y="5328860"/>
            <a:ext cx="1445101" cy="144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Option 2: 20~25%</a:t>
            </a:r>
            <a:endParaRPr lang="en-US" sz="1000" dirty="0"/>
          </a:p>
        </p:txBody>
      </p:sp>
      <p:sp>
        <p:nvSpPr>
          <p:cNvPr id="50" name="Shape 39">
            <a:extLst>
              <a:ext uri="{FF2B5EF4-FFF2-40B4-BE49-F238E27FC236}">
                <a16:creationId xmlns:a16="http://schemas.microsoft.com/office/drawing/2014/main" id="{6D40B713-CB10-1800-6199-E18A29A606D1}"/>
              </a:ext>
            </a:extLst>
          </p:cNvPr>
          <p:cNvSpPr/>
          <p:nvPr/>
        </p:nvSpPr>
        <p:spPr>
          <a:xfrm>
            <a:off x="3492120" y="5328860"/>
            <a:ext cx="1130612" cy="215686"/>
          </a:xfrm>
          <a:prstGeom prst="roundRect">
            <a:avLst>
              <a:gd name="adj" fmla="val 48924"/>
            </a:avLst>
          </a:prstGeom>
          <a:solidFill>
            <a:srgbClr val="064E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0">
            <a:extLst>
              <a:ext uri="{FF2B5EF4-FFF2-40B4-BE49-F238E27FC236}">
                <a16:creationId xmlns:a16="http://schemas.microsoft.com/office/drawing/2014/main" id="{B924CCF2-2C72-A8D6-A416-9A46E5FDD729}"/>
              </a:ext>
            </a:extLst>
          </p:cNvPr>
          <p:cNvSpPr txBox="1"/>
          <p:nvPr/>
        </p:nvSpPr>
        <p:spPr>
          <a:xfrm>
            <a:off x="3724141" y="5362474"/>
            <a:ext cx="800690" cy="173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Balanced</a:t>
            </a:r>
            <a:endParaRPr lang="en-US" sz="1200" dirty="0"/>
          </a:p>
        </p:txBody>
      </p:sp>
      <p:sp>
        <p:nvSpPr>
          <p:cNvPr id="52" name="Text 41">
            <a:extLst>
              <a:ext uri="{FF2B5EF4-FFF2-40B4-BE49-F238E27FC236}">
                <a16:creationId xmlns:a16="http://schemas.microsoft.com/office/drawing/2014/main" id="{0DCC1AF2-087D-8305-A0B1-20C3DE36EBD2}"/>
              </a:ext>
            </a:extLst>
          </p:cNvPr>
          <p:cNvSpPr txBox="1"/>
          <p:nvPr/>
        </p:nvSpPr>
        <p:spPr>
          <a:xfrm>
            <a:off x="1098731" y="5559784"/>
            <a:ext cx="3718868" cy="1158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운용 효율성 유지, 급격한 매도 지양</a:t>
            </a:r>
            <a:endParaRPr lang="en-US" sz="900" dirty="0"/>
          </a:p>
        </p:txBody>
      </p:sp>
      <p:sp>
        <p:nvSpPr>
          <p:cNvPr id="47" name="Shape 36">
            <a:extLst>
              <a:ext uri="{FF2B5EF4-FFF2-40B4-BE49-F238E27FC236}">
                <a16:creationId xmlns:a16="http://schemas.microsoft.com/office/drawing/2014/main" id="{DC81415C-79F6-C2D7-DB9D-674704375B53}"/>
              </a:ext>
            </a:extLst>
          </p:cNvPr>
          <p:cNvSpPr/>
          <p:nvPr/>
        </p:nvSpPr>
        <p:spPr>
          <a:xfrm>
            <a:off x="4360337" y="5184620"/>
            <a:ext cx="462085" cy="202492"/>
          </a:xfrm>
          <a:prstGeom prst="roundRect">
            <a:avLst>
              <a:gd name="adj" fmla="val 342465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8" name="Text 37">
            <a:extLst>
              <a:ext uri="{FF2B5EF4-FFF2-40B4-BE49-F238E27FC236}">
                <a16:creationId xmlns:a16="http://schemas.microsoft.com/office/drawing/2014/main" id="{F5B11960-C4F6-F135-8DA7-F7D123C2FD91}"/>
              </a:ext>
            </a:extLst>
          </p:cNvPr>
          <p:cNvSpPr txBox="1"/>
          <p:nvPr/>
        </p:nvSpPr>
        <p:spPr>
          <a:xfrm>
            <a:off x="4454222" y="5181630"/>
            <a:ext cx="362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</a:t>
            </a:r>
            <a:endParaRPr lang="en-US" sz="1200" dirty="0"/>
          </a:p>
        </p:txBody>
      </p:sp>
      <p:sp>
        <p:nvSpPr>
          <p:cNvPr id="130" name="Text 15">
            <a:extLst>
              <a:ext uri="{FF2B5EF4-FFF2-40B4-BE49-F238E27FC236}">
                <a16:creationId xmlns:a16="http://schemas.microsoft.com/office/drawing/2014/main" id="{25D83347-227A-6A10-2E00-06FE60841978}"/>
              </a:ext>
            </a:extLst>
          </p:cNvPr>
          <p:cNvSpPr txBox="1"/>
          <p:nvPr/>
        </p:nvSpPr>
        <p:spPr>
          <a:xfrm>
            <a:off x="9417362" y="6610121"/>
            <a:ext cx="211759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Selvas Group Treasury Committee</a:t>
            </a:r>
            <a:endParaRPr lang="en-US" sz="900" dirty="0"/>
          </a:p>
        </p:txBody>
      </p:sp>
      <p:pic>
        <p:nvPicPr>
          <p:cNvPr id="131" name="Image 6" descr="preencoded.png">
            <a:extLst>
              <a:ext uri="{FF2B5EF4-FFF2-40B4-BE49-F238E27FC236}">
                <a16:creationId xmlns:a16="http://schemas.microsoft.com/office/drawing/2014/main" id="{DE79BF72-4EA2-176F-C437-DE803FD79CD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-13" b="-13"/>
          <a:stretch/>
        </p:blipFill>
        <p:spPr>
          <a:xfrm>
            <a:off x="609905" y="5848265"/>
            <a:ext cx="4145954" cy="5346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EF37B147-BDC9-B891-F4B4-0A42DA22CF51}"/>
              </a:ext>
            </a:extLst>
          </p:cNvPr>
          <p:cNvGrpSpPr/>
          <p:nvPr/>
        </p:nvGrpSpPr>
        <p:grpSpPr>
          <a:xfrm>
            <a:off x="1089084" y="5957140"/>
            <a:ext cx="3738161" cy="347426"/>
            <a:chOff x="1089084" y="5957140"/>
            <a:chExt cx="3738161" cy="347426"/>
          </a:xfrm>
        </p:grpSpPr>
        <p:sp>
          <p:nvSpPr>
            <p:cNvPr id="27" name="Shape 17">
              <a:extLst>
                <a:ext uri="{FF2B5EF4-FFF2-40B4-BE49-F238E27FC236}">
                  <a16:creationId xmlns:a16="http://schemas.microsoft.com/office/drawing/2014/main" id="{416A6DBA-C409-0BCB-0C5B-084EA9F90EAF}"/>
                </a:ext>
              </a:extLst>
            </p:cNvPr>
            <p:cNvSpPr/>
            <p:nvPr/>
          </p:nvSpPr>
          <p:spPr>
            <a:xfrm>
              <a:off x="3502783" y="5957140"/>
              <a:ext cx="1123063" cy="196397"/>
            </a:xfrm>
            <a:prstGeom prst="roundRect">
              <a:avLst>
                <a:gd name="adj" fmla="val 48924"/>
              </a:avLst>
            </a:prstGeom>
            <a:solidFill>
              <a:srgbClr val="374151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 18">
              <a:extLst>
                <a:ext uri="{FF2B5EF4-FFF2-40B4-BE49-F238E27FC236}">
                  <a16:creationId xmlns:a16="http://schemas.microsoft.com/office/drawing/2014/main" id="{09EA4EB6-5345-BC86-9799-48E694E45D6E}"/>
                </a:ext>
              </a:extLst>
            </p:cNvPr>
            <p:cNvSpPr txBox="1"/>
            <p:nvPr/>
          </p:nvSpPr>
          <p:spPr>
            <a:xfrm>
              <a:off x="1089084" y="6188757"/>
              <a:ext cx="3738161" cy="1158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환차익 추구, 변동성 리스크 수용</a:t>
              </a:r>
              <a:endParaRPr lang="en-US" sz="900" dirty="0"/>
            </a:p>
          </p:txBody>
        </p:sp>
        <p:sp>
          <p:nvSpPr>
            <p:cNvPr id="44" name="Text 34">
              <a:extLst>
                <a:ext uri="{FF2B5EF4-FFF2-40B4-BE49-F238E27FC236}">
                  <a16:creationId xmlns:a16="http://schemas.microsoft.com/office/drawing/2014/main" id="{CB3B19F0-56CA-B12D-E05B-38BA40DC6D34}"/>
                </a:ext>
              </a:extLst>
            </p:cNvPr>
            <p:cNvSpPr txBox="1"/>
            <p:nvPr/>
          </p:nvSpPr>
          <p:spPr>
            <a:xfrm>
              <a:off x="1089084" y="5957140"/>
              <a:ext cx="1445101" cy="1449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Option 3: 25~30%</a:t>
              </a:r>
              <a:endParaRPr lang="en-US" sz="1000" dirty="0"/>
            </a:p>
          </p:txBody>
        </p:sp>
        <p:sp>
          <p:nvSpPr>
            <p:cNvPr id="45" name="Text 35">
              <a:extLst>
                <a:ext uri="{FF2B5EF4-FFF2-40B4-BE49-F238E27FC236}">
                  <a16:creationId xmlns:a16="http://schemas.microsoft.com/office/drawing/2014/main" id="{7F73D18C-3D86-ECE5-2BFF-63A583E709C1}"/>
                </a:ext>
              </a:extLst>
            </p:cNvPr>
            <p:cNvSpPr txBox="1"/>
            <p:nvPr/>
          </p:nvSpPr>
          <p:spPr>
            <a:xfrm>
              <a:off x="3693505" y="5971703"/>
              <a:ext cx="956970" cy="1733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Aggressive</a:t>
              </a:r>
              <a:endParaRPr lang="en-US" sz="1200" dirty="0"/>
            </a:p>
          </p:txBody>
        </p:sp>
      </p:grpSp>
      <p:sp>
        <p:nvSpPr>
          <p:cNvPr id="133" name="Shape 19">
            <a:extLst>
              <a:ext uri="{FF2B5EF4-FFF2-40B4-BE49-F238E27FC236}">
                <a16:creationId xmlns:a16="http://schemas.microsoft.com/office/drawing/2014/main" id="{1D5383EC-ED8E-B07C-9811-6D9074F3789E}"/>
              </a:ext>
            </a:extLst>
          </p:cNvPr>
          <p:cNvSpPr/>
          <p:nvPr/>
        </p:nvSpPr>
        <p:spPr>
          <a:xfrm>
            <a:off x="609904" y="6488839"/>
            <a:ext cx="10877855" cy="180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98CBE886-DA01-122C-B619-8E6095DF8951}"/>
              </a:ext>
            </a:extLst>
          </p:cNvPr>
          <p:cNvGrpSpPr/>
          <p:nvPr/>
        </p:nvGrpSpPr>
        <p:grpSpPr>
          <a:xfrm>
            <a:off x="10834727" y="476859"/>
            <a:ext cx="752551" cy="228600"/>
            <a:chOff x="10834727" y="476859"/>
            <a:chExt cx="752551" cy="228600"/>
          </a:xfrm>
        </p:grpSpPr>
        <p:sp>
          <p:nvSpPr>
            <p:cNvPr id="135" name="Shape 47">
              <a:extLst>
                <a:ext uri="{FF2B5EF4-FFF2-40B4-BE49-F238E27FC236}">
                  <a16:creationId xmlns:a16="http://schemas.microsoft.com/office/drawing/2014/main" id="{1F5543E4-A24F-6AB4-FC52-B765EBEBC952}"/>
                </a:ext>
              </a:extLst>
            </p:cNvPr>
            <p:cNvSpPr/>
            <p:nvPr/>
          </p:nvSpPr>
          <p:spPr>
            <a:xfrm>
              <a:off x="10834727" y="476859"/>
              <a:ext cx="752551" cy="228600"/>
            </a:xfrm>
            <a:prstGeom prst="roundRect">
              <a:avLst>
                <a:gd name="adj" fmla="val 66667"/>
              </a:avLst>
            </a:prstGeom>
            <a:solidFill>
              <a:srgbClr val="1F2937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6" name="Text 4">
              <a:extLst>
                <a:ext uri="{FF2B5EF4-FFF2-40B4-BE49-F238E27FC236}">
                  <a16:creationId xmlns:a16="http://schemas.microsoft.com/office/drawing/2014/main" id="{C93D74F8-7FB1-6309-D239-7A5EE9BC1104}"/>
                </a:ext>
              </a:extLst>
            </p:cNvPr>
            <p:cNvSpPr txBox="1"/>
            <p:nvPr/>
          </p:nvSpPr>
          <p:spPr>
            <a:xfrm>
              <a:off x="10872216" y="514807"/>
              <a:ext cx="600761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MEDIANA</a:t>
              </a:r>
              <a:endParaRPr lang="en-US" sz="900" dirty="0"/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E004F3EF-8EEF-5608-2CCB-79E02FB1E66A}"/>
              </a:ext>
            </a:extLst>
          </p:cNvPr>
          <p:cNvGrpSpPr/>
          <p:nvPr/>
        </p:nvGrpSpPr>
        <p:grpSpPr>
          <a:xfrm>
            <a:off x="5024972" y="1292829"/>
            <a:ext cx="6517843" cy="5088311"/>
            <a:chOff x="5136185" y="1143000"/>
            <a:chExt cx="6517843" cy="4905756"/>
          </a:xfrm>
        </p:grpSpPr>
        <p:sp>
          <p:nvSpPr>
            <p:cNvPr id="20" name="Shape 45">
              <a:extLst>
                <a:ext uri="{FF2B5EF4-FFF2-40B4-BE49-F238E27FC236}">
                  <a16:creationId xmlns:a16="http://schemas.microsoft.com/office/drawing/2014/main" id="{B7842FD5-5271-7C43-B65E-78CDEF494614}"/>
                </a:ext>
              </a:extLst>
            </p:cNvPr>
            <p:cNvSpPr/>
            <p:nvPr/>
          </p:nvSpPr>
          <p:spPr>
            <a:xfrm>
              <a:off x="5136185" y="1143000"/>
              <a:ext cx="6448349" cy="4905756"/>
            </a:xfrm>
            <a:prstGeom prst="roundRect">
              <a:avLst>
                <a:gd name="adj" fmla="val 434"/>
              </a:avLst>
            </a:prstGeom>
            <a:solidFill>
              <a:srgbClr val="1E293B">
                <a:alpha val="40000"/>
              </a:srgbClr>
            </a:solidFill>
            <a:ln w="12700">
              <a:solidFill>
                <a:srgbClr val="FFFFFF">
                  <a:alpha val="8000"/>
                </a:srgbClr>
              </a:solidFill>
              <a:prstDash val="solid"/>
            </a:ln>
            <a:effectLst>
              <a:outerShdw blurRad="63500" dist="38100" dir="162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" name="Text 46">
              <a:extLst>
                <a:ext uri="{FF2B5EF4-FFF2-40B4-BE49-F238E27FC236}">
                  <a16:creationId xmlns:a16="http://schemas.microsoft.com/office/drawing/2014/main" id="{E4B6D862-6DD5-4819-27EE-A722960EEF53}"/>
                </a:ext>
              </a:extLst>
            </p:cNvPr>
            <p:cNvSpPr txBox="1"/>
            <p:nvPr/>
          </p:nvSpPr>
          <p:spPr>
            <a:xfrm>
              <a:off x="5583326" y="1343254"/>
              <a:ext cx="309890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통화별 보유 비중 (Currency Breakdown) </a:t>
              </a:r>
              <a:endParaRPr lang="en-US" sz="1200" dirty="0"/>
            </a:p>
          </p:txBody>
        </p:sp>
        <p:pic>
          <p:nvPicPr>
            <p:cNvPr id="53" name="Image 4" descr="preencoded.png">
              <a:extLst>
                <a:ext uri="{FF2B5EF4-FFF2-40B4-BE49-F238E27FC236}">
                  <a16:creationId xmlns:a16="http://schemas.microsoft.com/office/drawing/2014/main" id="{B14A7EE4-9420-E639-E667-4634AE1825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-33" r="-33"/>
            <a:stretch/>
          </p:blipFill>
          <p:spPr>
            <a:xfrm>
              <a:off x="5335524" y="1380744"/>
              <a:ext cx="171907" cy="152705"/>
            </a:xfrm>
            <a:prstGeom prst="rect">
              <a:avLst/>
            </a:prstGeom>
          </p:spPr>
        </p:pic>
        <p:pic>
          <p:nvPicPr>
            <p:cNvPr id="54" name="Image 5" descr="preencoded.png">
              <a:extLst>
                <a:ext uri="{FF2B5EF4-FFF2-40B4-BE49-F238E27FC236}">
                  <a16:creationId xmlns:a16="http://schemas.microsoft.com/office/drawing/2014/main" id="{FBBD2A33-991A-6CCD-DE8F-06C616EDB8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-164" r="-164"/>
            <a:stretch/>
          </p:blipFill>
          <p:spPr>
            <a:xfrm>
              <a:off x="5335524" y="2162556"/>
              <a:ext cx="2915107" cy="2095805"/>
            </a:xfrm>
            <a:prstGeom prst="rect">
              <a:avLst/>
            </a:prstGeom>
          </p:spPr>
        </p:pic>
        <p:sp>
          <p:nvSpPr>
            <p:cNvPr id="55" name="Text 47">
              <a:extLst>
                <a:ext uri="{FF2B5EF4-FFF2-40B4-BE49-F238E27FC236}">
                  <a16:creationId xmlns:a16="http://schemas.microsoft.com/office/drawing/2014/main" id="{61464563-FC34-46FE-F17A-94F6FE9565B9}"/>
                </a:ext>
              </a:extLst>
            </p:cNvPr>
            <p:cNvSpPr txBox="1"/>
            <p:nvPr/>
          </p:nvSpPr>
          <p:spPr>
            <a:xfrm>
              <a:off x="6509614" y="2962656"/>
              <a:ext cx="66934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Total FX</a:t>
              </a:r>
              <a:endParaRPr lang="en-US" sz="1200" dirty="0"/>
            </a:p>
          </p:txBody>
        </p:sp>
        <p:sp>
          <p:nvSpPr>
            <p:cNvPr id="56" name="Text 48">
              <a:extLst>
                <a:ext uri="{FF2B5EF4-FFF2-40B4-BE49-F238E27FC236}">
                  <a16:creationId xmlns:a16="http://schemas.microsoft.com/office/drawing/2014/main" id="{4B75D40A-B34B-CC57-3F6F-A109334C1084}"/>
                </a:ext>
              </a:extLst>
            </p:cNvPr>
            <p:cNvSpPr txBox="1"/>
            <p:nvPr/>
          </p:nvSpPr>
          <p:spPr>
            <a:xfrm>
              <a:off x="6534302" y="3191256"/>
              <a:ext cx="59070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220억</a:t>
              </a:r>
              <a:endParaRPr lang="en-US" sz="1500" dirty="0"/>
            </a:p>
          </p:txBody>
        </p:sp>
        <p:sp>
          <p:nvSpPr>
            <p:cNvPr id="57" name="Shape 49">
              <a:extLst>
                <a:ext uri="{FF2B5EF4-FFF2-40B4-BE49-F238E27FC236}">
                  <a16:creationId xmlns:a16="http://schemas.microsoft.com/office/drawing/2014/main" id="{79AC5318-13E8-DCE4-46F7-1AD35CFBC666}"/>
                </a:ext>
              </a:extLst>
            </p:cNvPr>
            <p:cNvSpPr/>
            <p:nvPr/>
          </p:nvSpPr>
          <p:spPr>
            <a:xfrm>
              <a:off x="8473745" y="2152498"/>
              <a:ext cx="38405" cy="629107"/>
            </a:xfrm>
            <a:prstGeom prst="rect">
              <a:avLst/>
            </a:prstGeom>
            <a:solidFill>
              <a:srgbClr val="3B82F6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58" name="Image 6" descr="preencoded.png">
              <a:extLst>
                <a:ext uri="{FF2B5EF4-FFF2-40B4-BE49-F238E27FC236}">
                  <a16:creationId xmlns:a16="http://schemas.microsoft.com/office/drawing/2014/main" id="{5EB2428B-DF98-CC96-277F-23C7A863D1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-9880" r="-9880"/>
            <a:stretch/>
          </p:blipFill>
          <p:spPr>
            <a:xfrm>
              <a:off x="8588045" y="2266798"/>
              <a:ext cx="114300" cy="152705"/>
            </a:xfrm>
            <a:prstGeom prst="rect">
              <a:avLst/>
            </a:prstGeom>
          </p:spPr>
        </p:pic>
        <p:sp>
          <p:nvSpPr>
            <p:cNvPr id="59" name="Text 50">
              <a:extLst>
                <a:ext uri="{FF2B5EF4-FFF2-40B4-BE49-F238E27FC236}">
                  <a16:creationId xmlns:a16="http://schemas.microsoft.com/office/drawing/2014/main" id="{367C3FC9-A009-D9DB-704A-85A2738E9C13}"/>
                </a:ext>
              </a:extLst>
            </p:cNvPr>
            <p:cNvSpPr txBox="1"/>
            <p:nvPr/>
          </p:nvSpPr>
          <p:spPr>
            <a:xfrm>
              <a:off x="8778240" y="2247595"/>
              <a:ext cx="925373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USD (미달러)</a:t>
              </a:r>
              <a:endParaRPr lang="en-US" sz="1000" dirty="0"/>
            </a:p>
          </p:txBody>
        </p:sp>
        <p:sp>
          <p:nvSpPr>
            <p:cNvPr id="60" name="Text 51">
              <a:extLst>
                <a:ext uri="{FF2B5EF4-FFF2-40B4-BE49-F238E27FC236}">
                  <a16:creationId xmlns:a16="http://schemas.microsoft.com/office/drawing/2014/main" id="{4AA69241-C419-036A-0134-97DD43F494AA}"/>
                </a:ext>
              </a:extLst>
            </p:cNvPr>
            <p:cNvSpPr txBox="1"/>
            <p:nvPr/>
          </p:nvSpPr>
          <p:spPr>
            <a:xfrm>
              <a:off x="10979201" y="2229307"/>
              <a:ext cx="40965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60A5F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81%</a:t>
              </a:r>
              <a:endParaRPr lang="en-US" sz="1200" dirty="0"/>
            </a:p>
          </p:txBody>
        </p:sp>
        <p:sp>
          <p:nvSpPr>
            <p:cNvPr id="61" name="Text 52">
              <a:extLst>
                <a:ext uri="{FF2B5EF4-FFF2-40B4-BE49-F238E27FC236}">
                  <a16:creationId xmlns:a16="http://schemas.microsoft.com/office/drawing/2014/main" id="{6346A828-5F3C-228A-3867-CCAA480FDB1F}"/>
                </a:ext>
              </a:extLst>
            </p:cNvPr>
            <p:cNvSpPr txBox="1"/>
            <p:nvPr/>
          </p:nvSpPr>
          <p:spPr>
            <a:xfrm>
              <a:off x="8588045" y="2476195"/>
              <a:ext cx="134965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금액: 약 178억 원</a:t>
              </a:r>
              <a:endParaRPr lang="en-US" sz="1200" dirty="0"/>
            </a:p>
          </p:txBody>
        </p:sp>
        <p:sp>
          <p:nvSpPr>
            <p:cNvPr id="62" name="Text 53">
              <a:extLst>
                <a:ext uri="{FF2B5EF4-FFF2-40B4-BE49-F238E27FC236}">
                  <a16:creationId xmlns:a16="http://schemas.microsoft.com/office/drawing/2014/main" id="{03925F21-E766-19FD-C855-C82F672B3C64}"/>
                </a:ext>
              </a:extLst>
            </p:cNvPr>
            <p:cNvSpPr txBox="1"/>
            <p:nvPr/>
          </p:nvSpPr>
          <p:spPr>
            <a:xfrm>
              <a:off x="10013594" y="2476195"/>
              <a:ext cx="164043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주요 원천: 수출 대금</a:t>
              </a:r>
              <a:endParaRPr lang="en-US" sz="1200" dirty="0"/>
            </a:p>
          </p:txBody>
        </p:sp>
        <p:sp>
          <p:nvSpPr>
            <p:cNvPr id="63" name="Shape 54">
              <a:extLst>
                <a:ext uri="{FF2B5EF4-FFF2-40B4-BE49-F238E27FC236}">
                  <a16:creationId xmlns:a16="http://schemas.microsoft.com/office/drawing/2014/main" id="{841AD263-F26F-600E-85A4-6BA73163473D}"/>
                </a:ext>
              </a:extLst>
            </p:cNvPr>
            <p:cNvSpPr/>
            <p:nvPr/>
          </p:nvSpPr>
          <p:spPr>
            <a:xfrm>
              <a:off x="8473745" y="2895905"/>
              <a:ext cx="38405" cy="629107"/>
            </a:xfrm>
            <a:prstGeom prst="rect">
              <a:avLst/>
            </a:prstGeom>
            <a:solidFill>
              <a:srgbClr val="8B5CF6"/>
            </a:solidFill>
            <a:ln w="12700">
              <a:solidFill>
                <a:srgbClr val="8B5CF6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64" name="Image 7" descr="preencoded.png">
              <a:extLst>
                <a:ext uri="{FF2B5EF4-FFF2-40B4-BE49-F238E27FC236}">
                  <a16:creationId xmlns:a16="http://schemas.microsoft.com/office/drawing/2014/main" id="{E39E8009-F581-8A9F-4607-BC81ACABEF0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 l="-9880" r="-9880"/>
            <a:stretch/>
          </p:blipFill>
          <p:spPr>
            <a:xfrm>
              <a:off x="8588045" y="3010205"/>
              <a:ext cx="114300" cy="152705"/>
            </a:xfrm>
            <a:prstGeom prst="rect">
              <a:avLst/>
            </a:prstGeom>
          </p:spPr>
        </p:pic>
        <p:sp>
          <p:nvSpPr>
            <p:cNvPr id="65" name="Text 55">
              <a:extLst>
                <a:ext uri="{FF2B5EF4-FFF2-40B4-BE49-F238E27FC236}">
                  <a16:creationId xmlns:a16="http://schemas.microsoft.com/office/drawing/2014/main" id="{1E1BE897-AB08-B9D4-D851-7C3A297C23DB}"/>
                </a:ext>
              </a:extLst>
            </p:cNvPr>
            <p:cNvSpPr txBox="1"/>
            <p:nvPr/>
          </p:nvSpPr>
          <p:spPr>
            <a:xfrm>
              <a:off x="8778240" y="2991002"/>
              <a:ext cx="78272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EUR (유로)</a:t>
              </a:r>
              <a:endParaRPr lang="en-US" sz="1000" dirty="0"/>
            </a:p>
          </p:txBody>
        </p:sp>
        <p:sp>
          <p:nvSpPr>
            <p:cNvPr id="66" name="Text 56">
              <a:extLst>
                <a:ext uri="{FF2B5EF4-FFF2-40B4-BE49-F238E27FC236}">
                  <a16:creationId xmlns:a16="http://schemas.microsoft.com/office/drawing/2014/main" id="{5D94E75F-272B-BA0A-ADA2-E349A1A15794}"/>
                </a:ext>
              </a:extLst>
            </p:cNvPr>
            <p:cNvSpPr txBox="1"/>
            <p:nvPr/>
          </p:nvSpPr>
          <p:spPr>
            <a:xfrm>
              <a:off x="10979201" y="2971800"/>
              <a:ext cx="40965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A78BF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18%</a:t>
              </a:r>
              <a:endParaRPr lang="en-US" sz="1200" dirty="0"/>
            </a:p>
          </p:txBody>
        </p:sp>
        <p:sp>
          <p:nvSpPr>
            <p:cNvPr id="67" name="Text 57">
              <a:extLst>
                <a:ext uri="{FF2B5EF4-FFF2-40B4-BE49-F238E27FC236}">
                  <a16:creationId xmlns:a16="http://schemas.microsoft.com/office/drawing/2014/main" id="{239FAA25-CD92-CAB1-A67A-D39090979D49}"/>
                </a:ext>
              </a:extLst>
            </p:cNvPr>
            <p:cNvSpPr txBox="1"/>
            <p:nvPr/>
          </p:nvSpPr>
          <p:spPr>
            <a:xfrm>
              <a:off x="8588045" y="3219602"/>
              <a:ext cx="124724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금액: 약 40억 원</a:t>
              </a:r>
              <a:endParaRPr lang="en-US" sz="1200" dirty="0"/>
            </a:p>
          </p:txBody>
        </p:sp>
        <p:sp>
          <p:nvSpPr>
            <p:cNvPr id="68" name="Text 58">
              <a:extLst>
                <a:ext uri="{FF2B5EF4-FFF2-40B4-BE49-F238E27FC236}">
                  <a16:creationId xmlns:a16="http://schemas.microsoft.com/office/drawing/2014/main" id="{D96890A8-B8DB-0D80-0E73-0C4DE50CA68A}"/>
                </a:ext>
              </a:extLst>
            </p:cNvPr>
            <p:cNvSpPr txBox="1"/>
            <p:nvPr/>
          </p:nvSpPr>
          <p:spPr>
            <a:xfrm>
              <a:off x="10379354" y="3219602"/>
              <a:ext cx="113568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유럽 지역 매출</a:t>
              </a:r>
              <a:endParaRPr lang="en-US" sz="1200" dirty="0"/>
            </a:p>
          </p:txBody>
        </p:sp>
        <p:sp>
          <p:nvSpPr>
            <p:cNvPr id="69" name="Shape 59">
              <a:extLst>
                <a:ext uri="{FF2B5EF4-FFF2-40B4-BE49-F238E27FC236}">
                  <a16:creationId xmlns:a16="http://schemas.microsoft.com/office/drawing/2014/main" id="{B932EB13-DB80-B3D3-CE8A-77B0CF1A6768}"/>
                </a:ext>
              </a:extLst>
            </p:cNvPr>
            <p:cNvSpPr/>
            <p:nvPr/>
          </p:nvSpPr>
          <p:spPr>
            <a:xfrm>
              <a:off x="8473745" y="3638398"/>
              <a:ext cx="38405" cy="629107"/>
            </a:xfrm>
            <a:prstGeom prst="rect">
              <a:avLst/>
            </a:prstGeom>
            <a:solidFill>
              <a:srgbClr val="6B7280"/>
            </a:solidFill>
            <a:ln w="12700">
              <a:solidFill>
                <a:srgbClr val="6B728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70" name="Image 8" descr="preencoded.png">
              <a:extLst>
                <a:ext uri="{FF2B5EF4-FFF2-40B4-BE49-F238E27FC236}">
                  <a16:creationId xmlns:a16="http://schemas.microsoft.com/office/drawing/2014/main" id="{CC26056E-C4A4-4E23-0740-C70E7A1281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l="-9880" r="-9880"/>
            <a:stretch/>
          </p:blipFill>
          <p:spPr>
            <a:xfrm>
              <a:off x="8588045" y="3752698"/>
              <a:ext cx="114300" cy="152705"/>
            </a:xfrm>
            <a:prstGeom prst="rect">
              <a:avLst/>
            </a:prstGeom>
          </p:spPr>
        </p:pic>
        <p:sp>
          <p:nvSpPr>
            <p:cNvPr id="71" name="Text 60">
              <a:extLst>
                <a:ext uri="{FF2B5EF4-FFF2-40B4-BE49-F238E27FC236}">
                  <a16:creationId xmlns:a16="http://schemas.microsoft.com/office/drawing/2014/main" id="{F4193AE8-6E2E-51C9-BF82-93479FB0C2D6}"/>
                </a:ext>
              </a:extLst>
            </p:cNvPr>
            <p:cNvSpPr txBox="1"/>
            <p:nvPr/>
          </p:nvSpPr>
          <p:spPr>
            <a:xfrm>
              <a:off x="8778240" y="3733495"/>
              <a:ext cx="748894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JPY (엔화)</a:t>
              </a:r>
              <a:endParaRPr lang="en-US" sz="1000" dirty="0"/>
            </a:p>
          </p:txBody>
        </p:sp>
        <p:sp>
          <p:nvSpPr>
            <p:cNvPr id="72" name="Text 61">
              <a:extLst>
                <a:ext uri="{FF2B5EF4-FFF2-40B4-BE49-F238E27FC236}">
                  <a16:creationId xmlns:a16="http://schemas.microsoft.com/office/drawing/2014/main" id="{593D3790-8ADA-1674-0D76-B0F5669F5615}"/>
                </a:ext>
              </a:extLst>
            </p:cNvPr>
            <p:cNvSpPr txBox="1"/>
            <p:nvPr/>
          </p:nvSpPr>
          <p:spPr>
            <a:xfrm>
              <a:off x="11068812" y="3715207"/>
              <a:ext cx="31455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1%</a:t>
              </a:r>
              <a:endParaRPr lang="en-US" sz="1200" dirty="0"/>
            </a:p>
          </p:txBody>
        </p:sp>
        <p:sp>
          <p:nvSpPr>
            <p:cNvPr id="73" name="Text 62">
              <a:extLst>
                <a:ext uri="{FF2B5EF4-FFF2-40B4-BE49-F238E27FC236}">
                  <a16:creationId xmlns:a16="http://schemas.microsoft.com/office/drawing/2014/main" id="{4DF770FF-3BC3-2391-6E10-69893D2794FD}"/>
                </a:ext>
              </a:extLst>
            </p:cNvPr>
            <p:cNvSpPr txBox="1"/>
            <p:nvPr/>
          </p:nvSpPr>
          <p:spPr>
            <a:xfrm>
              <a:off x="8588045" y="3962095"/>
              <a:ext cx="1144829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금액: 약 2억 원</a:t>
              </a:r>
              <a:endParaRPr lang="en-US" sz="1200" dirty="0"/>
            </a:p>
          </p:txBody>
        </p:sp>
        <p:sp>
          <p:nvSpPr>
            <p:cNvPr id="74" name="Text 63">
              <a:extLst>
                <a:ext uri="{FF2B5EF4-FFF2-40B4-BE49-F238E27FC236}">
                  <a16:creationId xmlns:a16="http://schemas.microsoft.com/office/drawing/2014/main" id="{A87A6016-B1A1-1457-531A-82AAF517D9B8}"/>
                </a:ext>
              </a:extLst>
            </p:cNvPr>
            <p:cNvSpPr txBox="1"/>
            <p:nvPr/>
          </p:nvSpPr>
          <p:spPr>
            <a:xfrm>
              <a:off x="10379354" y="3962095"/>
              <a:ext cx="113568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기타 운영 자금</a:t>
              </a:r>
              <a:endParaRPr lang="en-US" sz="1200" dirty="0"/>
            </a:p>
          </p:txBody>
        </p:sp>
        <p:sp>
          <p:nvSpPr>
            <p:cNvPr id="75" name="Shape 64">
              <a:extLst>
                <a:ext uri="{FF2B5EF4-FFF2-40B4-BE49-F238E27FC236}">
                  <a16:creationId xmlns:a16="http://schemas.microsoft.com/office/drawing/2014/main" id="{6FB6C873-C731-035B-4D29-870F7D882FDF}"/>
                </a:ext>
              </a:extLst>
            </p:cNvPr>
            <p:cNvSpPr/>
            <p:nvPr/>
          </p:nvSpPr>
          <p:spPr>
            <a:xfrm>
              <a:off x="5335524" y="4886554"/>
              <a:ext cx="6048756" cy="9144"/>
            </a:xfrm>
            <a:prstGeom prst="rect">
              <a:avLst/>
            </a:prstGeom>
            <a:solidFill>
              <a:srgbClr val="374151"/>
            </a:solidFill>
            <a:ln w="12700">
              <a:solidFill>
                <a:srgbClr val="374151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6" name="Text 65">
              <a:extLst>
                <a:ext uri="{FF2B5EF4-FFF2-40B4-BE49-F238E27FC236}">
                  <a16:creationId xmlns:a16="http://schemas.microsoft.com/office/drawing/2014/main" id="{DE605F94-9D05-D72B-B190-EA347E7ECAE1}"/>
                </a:ext>
              </a:extLst>
            </p:cNvPr>
            <p:cNvSpPr txBox="1"/>
            <p:nvPr/>
          </p:nvSpPr>
          <p:spPr>
            <a:xfrm>
              <a:off x="5335524" y="5086807"/>
              <a:ext cx="2868473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보유 비중 현황 vs Target Band (Option 2 기준)</a:t>
              </a:r>
              <a:endParaRPr lang="en-US" sz="900" dirty="0"/>
            </a:p>
          </p:txBody>
        </p:sp>
        <p:pic>
          <p:nvPicPr>
            <p:cNvPr id="77" name="Image 9" descr="preencoded.png">
              <a:extLst>
                <a:ext uri="{FF2B5EF4-FFF2-40B4-BE49-F238E27FC236}">
                  <a16:creationId xmlns:a16="http://schemas.microsoft.com/office/drawing/2014/main" id="{674174E8-ED6C-28A2-0C26-37661CD9C3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alphaModFix amt="59000"/>
            </a:blip>
            <a:srcRect/>
            <a:stretch/>
          </p:blipFill>
          <p:spPr>
            <a:xfrm>
              <a:off x="10265054" y="5057546"/>
              <a:ext cx="152705" cy="152705"/>
            </a:xfrm>
            <a:prstGeom prst="rect">
              <a:avLst/>
            </a:prstGeom>
          </p:spPr>
        </p:pic>
        <p:sp>
          <p:nvSpPr>
            <p:cNvPr id="78" name="Text 66">
              <a:extLst>
                <a:ext uri="{FF2B5EF4-FFF2-40B4-BE49-F238E27FC236}">
                  <a16:creationId xmlns:a16="http://schemas.microsoft.com/office/drawing/2014/main" id="{29B7FF1B-4EED-CA4F-CDAD-ED8B93A22E6A}"/>
                </a:ext>
              </a:extLst>
            </p:cNvPr>
            <p:cNvSpPr txBox="1"/>
            <p:nvPr/>
          </p:nvSpPr>
          <p:spPr>
            <a:xfrm>
              <a:off x="10456164" y="5009998"/>
              <a:ext cx="117134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87171">
                      <a:alpha val="59000"/>
                    </a:srgbClr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한도 상단 도달</a:t>
              </a:r>
              <a:endParaRPr lang="en-US" sz="1200" dirty="0"/>
            </a:p>
          </p:txBody>
        </p:sp>
        <p:sp>
          <p:nvSpPr>
            <p:cNvPr id="79" name="Shape 67">
              <a:extLst>
                <a:ext uri="{FF2B5EF4-FFF2-40B4-BE49-F238E27FC236}">
                  <a16:creationId xmlns:a16="http://schemas.microsoft.com/office/drawing/2014/main" id="{5726181F-A9D1-5EFA-B7D8-5CF51FF9421C}"/>
                </a:ext>
              </a:extLst>
            </p:cNvPr>
            <p:cNvSpPr/>
            <p:nvPr/>
          </p:nvSpPr>
          <p:spPr>
            <a:xfrm>
              <a:off x="5335524" y="5315407"/>
              <a:ext cx="6048756" cy="286207"/>
            </a:xfrm>
            <a:prstGeom prst="roundRect">
              <a:avLst>
                <a:gd name="adj" fmla="val 319489"/>
              </a:avLst>
            </a:prstGeom>
            <a:solidFill>
              <a:srgbClr val="1E293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0" name="Shape 68">
              <a:extLst>
                <a:ext uri="{FF2B5EF4-FFF2-40B4-BE49-F238E27FC236}">
                  <a16:creationId xmlns:a16="http://schemas.microsoft.com/office/drawing/2014/main" id="{4A66304C-663A-8346-0FE4-445454362EF3}"/>
                </a:ext>
              </a:extLst>
            </p:cNvPr>
            <p:cNvSpPr/>
            <p:nvPr/>
          </p:nvSpPr>
          <p:spPr>
            <a:xfrm>
              <a:off x="5335524" y="5315407"/>
              <a:ext cx="3029407" cy="286207"/>
            </a:xfrm>
            <a:prstGeom prst="rect">
              <a:avLst/>
            </a:prstGeom>
            <a:solidFill>
              <a:srgbClr val="0070C0"/>
            </a:solidFill>
            <a:ln/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81" name="Shape 69">
              <a:extLst>
                <a:ext uri="{FF2B5EF4-FFF2-40B4-BE49-F238E27FC236}">
                  <a16:creationId xmlns:a16="http://schemas.microsoft.com/office/drawing/2014/main" id="{A2640D06-AA81-A178-527A-3FFEA5F56BF3}"/>
                </a:ext>
              </a:extLst>
            </p:cNvPr>
            <p:cNvSpPr/>
            <p:nvPr/>
          </p:nvSpPr>
          <p:spPr>
            <a:xfrm>
              <a:off x="8355787" y="5315407"/>
              <a:ext cx="9144" cy="286207"/>
            </a:xfrm>
            <a:prstGeom prst="rect">
              <a:avLst/>
            </a:prstGeom>
            <a:solidFill>
              <a:srgbClr val="334155"/>
            </a:solidFill>
            <a:ln w="12700">
              <a:solidFill>
                <a:srgbClr val="334155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2" name="Shape 70">
              <a:extLst>
                <a:ext uri="{FF2B5EF4-FFF2-40B4-BE49-F238E27FC236}">
                  <a16:creationId xmlns:a16="http://schemas.microsoft.com/office/drawing/2014/main" id="{D4C4AF8C-548D-8F3B-C688-91DC1F59C4BA}"/>
                </a:ext>
              </a:extLst>
            </p:cNvPr>
            <p:cNvSpPr/>
            <p:nvPr/>
          </p:nvSpPr>
          <p:spPr>
            <a:xfrm>
              <a:off x="8359445" y="5315407"/>
              <a:ext cx="761695" cy="286207"/>
            </a:xfrm>
            <a:prstGeom prst="rect">
              <a:avLst/>
            </a:prstGeom>
            <a:solidFill>
              <a:srgbClr val="064E3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3" name="Shape 71">
              <a:extLst>
                <a:ext uri="{FF2B5EF4-FFF2-40B4-BE49-F238E27FC236}">
                  <a16:creationId xmlns:a16="http://schemas.microsoft.com/office/drawing/2014/main" id="{F13D4020-6533-013D-A038-B9B9286E2001}"/>
                </a:ext>
              </a:extLst>
            </p:cNvPr>
            <p:cNvSpPr/>
            <p:nvPr/>
          </p:nvSpPr>
          <p:spPr>
            <a:xfrm>
              <a:off x="9111996" y="5315407"/>
              <a:ext cx="9144" cy="286207"/>
            </a:xfrm>
            <a:prstGeom prst="rect">
              <a:avLst/>
            </a:prstGeom>
            <a:solidFill>
              <a:srgbClr val="334155"/>
            </a:solidFill>
            <a:ln w="12700">
              <a:solidFill>
                <a:srgbClr val="334155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4" name="Shape 72">
              <a:extLst>
                <a:ext uri="{FF2B5EF4-FFF2-40B4-BE49-F238E27FC236}">
                  <a16:creationId xmlns:a16="http://schemas.microsoft.com/office/drawing/2014/main" id="{6C6A7688-A593-3B08-B0D9-153A3348187A}"/>
                </a:ext>
              </a:extLst>
            </p:cNvPr>
            <p:cNvSpPr/>
            <p:nvPr/>
          </p:nvSpPr>
          <p:spPr>
            <a:xfrm>
              <a:off x="9114739" y="5315407"/>
              <a:ext cx="2276856" cy="286207"/>
            </a:xfrm>
            <a:prstGeom prst="rect">
              <a:avLst/>
            </a:prstGeom>
            <a:solidFill>
              <a:srgbClr val="450A0A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5" name="Text 73">
              <a:extLst>
                <a:ext uri="{FF2B5EF4-FFF2-40B4-BE49-F238E27FC236}">
                  <a16:creationId xmlns:a16="http://schemas.microsoft.com/office/drawing/2014/main" id="{46FE55F5-F854-7230-58CD-DA565A8F6690}"/>
                </a:ext>
              </a:extLst>
            </p:cNvPr>
            <p:cNvSpPr txBox="1"/>
            <p:nvPr/>
          </p:nvSpPr>
          <p:spPr>
            <a:xfrm>
              <a:off x="5373929" y="5619902"/>
              <a:ext cx="30541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0%</a:t>
              </a:r>
              <a:endParaRPr lang="en-US" sz="1200" dirty="0"/>
            </a:p>
          </p:txBody>
        </p:sp>
        <p:sp>
          <p:nvSpPr>
            <p:cNvPr id="86" name="Text 74">
              <a:extLst>
                <a:ext uri="{FF2B5EF4-FFF2-40B4-BE49-F238E27FC236}">
                  <a16:creationId xmlns:a16="http://schemas.microsoft.com/office/drawing/2014/main" id="{4E96E264-7B8C-D6B5-C6F2-8D6B274BD1B6}"/>
                </a:ext>
              </a:extLst>
            </p:cNvPr>
            <p:cNvSpPr txBox="1"/>
            <p:nvPr/>
          </p:nvSpPr>
          <p:spPr>
            <a:xfrm>
              <a:off x="7141464" y="5619902"/>
              <a:ext cx="39136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20%</a:t>
              </a:r>
              <a:endParaRPr lang="en-US" sz="1200" dirty="0"/>
            </a:p>
          </p:txBody>
        </p:sp>
        <p:sp>
          <p:nvSpPr>
            <p:cNvPr id="87" name="Text 75">
              <a:extLst>
                <a:ext uri="{FF2B5EF4-FFF2-40B4-BE49-F238E27FC236}">
                  <a16:creationId xmlns:a16="http://schemas.microsoft.com/office/drawing/2014/main" id="{527C21EC-3D29-B1CC-FE73-57FE0D3A9B71}"/>
                </a:ext>
              </a:extLst>
            </p:cNvPr>
            <p:cNvSpPr txBox="1"/>
            <p:nvPr/>
          </p:nvSpPr>
          <p:spPr>
            <a:xfrm>
              <a:off x="9183319" y="5619902"/>
              <a:ext cx="39136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25%</a:t>
              </a:r>
              <a:endParaRPr lang="en-US" sz="1200" dirty="0"/>
            </a:p>
          </p:txBody>
        </p:sp>
        <p:sp>
          <p:nvSpPr>
            <p:cNvPr id="88" name="Text 76">
              <a:extLst>
                <a:ext uri="{FF2B5EF4-FFF2-40B4-BE49-F238E27FC236}">
                  <a16:creationId xmlns:a16="http://schemas.microsoft.com/office/drawing/2014/main" id="{648AE928-0D75-0A51-1059-FD4C37913FED}"/>
                </a:ext>
              </a:extLst>
            </p:cNvPr>
            <p:cNvSpPr txBox="1"/>
            <p:nvPr/>
          </p:nvSpPr>
          <p:spPr>
            <a:xfrm>
              <a:off x="11034979" y="5619902"/>
              <a:ext cx="39136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40%</a:t>
              </a:r>
              <a:endParaRPr lang="en-US" sz="1200" dirty="0"/>
            </a:p>
          </p:txBody>
        </p:sp>
        <p:sp>
          <p:nvSpPr>
            <p:cNvPr id="89" name="Text 79">
              <a:extLst>
                <a:ext uri="{FF2B5EF4-FFF2-40B4-BE49-F238E27FC236}">
                  <a16:creationId xmlns:a16="http://schemas.microsoft.com/office/drawing/2014/main" id="{3AE1DEDE-B961-F10A-4991-72E2022F22A0}"/>
                </a:ext>
              </a:extLst>
            </p:cNvPr>
            <p:cNvSpPr txBox="1"/>
            <p:nvPr/>
          </p:nvSpPr>
          <p:spPr>
            <a:xfrm>
              <a:off x="6430975" y="5386730"/>
              <a:ext cx="978408" cy="143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FFFFFF">
                      <a:alpha val="70000"/>
                    </a:srgbClr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Safe Zone (~20%)</a:t>
              </a:r>
              <a:endParaRPr lang="en-US" sz="800" dirty="0"/>
            </a:p>
          </p:txBody>
        </p:sp>
        <p:sp>
          <p:nvSpPr>
            <p:cNvPr id="90" name="Text 80">
              <a:extLst>
                <a:ext uri="{FF2B5EF4-FFF2-40B4-BE49-F238E27FC236}">
                  <a16:creationId xmlns:a16="http://schemas.microsoft.com/office/drawing/2014/main" id="{9E210D53-2C0E-8621-45FE-3C8771CB5A40}"/>
                </a:ext>
              </a:extLst>
            </p:cNvPr>
            <p:cNvSpPr txBox="1"/>
            <p:nvPr/>
          </p:nvSpPr>
          <p:spPr>
            <a:xfrm>
              <a:off x="8359445" y="5315407"/>
              <a:ext cx="505663" cy="2862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6EE7B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Target (20~25%)</a:t>
              </a:r>
              <a:endParaRPr lang="en-US" sz="800" dirty="0"/>
            </a:p>
          </p:txBody>
        </p:sp>
        <p:sp>
          <p:nvSpPr>
            <p:cNvPr id="91" name="Text 81">
              <a:extLst>
                <a:ext uri="{FF2B5EF4-FFF2-40B4-BE49-F238E27FC236}">
                  <a16:creationId xmlns:a16="http://schemas.microsoft.com/office/drawing/2014/main" id="{A3445988-9378-A2AD-B919-38636C2BF625}"/>
                </a:ext>
              </a:extLst>
            </p:cNvPr>
            <p:cNvSpPr txBox="1"/>
            <p:nvPr/>
          </p:nvSpPr>
          <p:spPr>
            <a:xfrm>
              <a:off x="9799625" y="5386730"/>
              <a:ext cx="1077163" cy="143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FCA5A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Excess Area (25%+)</a:t>
              </a:r>
              <a:endParaRPr lang="en-US" sz="800" dirty="0"/>
            </a:p>
          </p:txBody>
        </p:sp>
        <p:sp>
          <p:nvSpPr>
            <p:cNvPr id="92" name="Shape 82">
              <a:extLst>
                <a:ext uri="{FF2B5EF4-FFF2-40B4-BE49-F238E27FC236}">
                  <a16:creationId xmlns:a16="http://schemas.microsoft.com/office/drawing/2014/main" id="{4503C57C-5A2A-899C-3C1E-3FA5204768B0}"/>
                </a:ext>
              </a:extLst>
            </p:cNvPr>
            <p:cNvSpPr/>
            <p:nvPr/>
          </p:nvSpPr>
          <p:spPr>
            <a:xfrm>
              <a:off x="9114739" y="5266944"/>
              <a:ext cx="38405" cy="381305"/>
            </a:xfrm>
            <a:prstGeom prst="roundRect">
              <a:avLst>
                <a:gd name="adj" fmla="val 1190470"/>
              </a:avLst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101600" dist="12700" dir="16200000" algn="bl" rotWithShape="0">
                <a:srgbClr val="FFFFFF">
                  <a:alpha val="8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3" name="Shape 83">
              <a:extLst>
                <a:ext uri="{FF2B5EF4-FFF2-40B4-BE49-F238E27FC236}">
                  <a16:creationId xmlns:a16="http://schemas.microsoft.com/office/drawing/2014/main" id="{1DA0D5E4-7D12-B147-D9F6-73A0E1D11EBA}"/>
                </a:ext>
              </a:extLst>
            </p:cNvPr>
            <p:cNvSpPr/>
            <p:nvPr/>
          </p:nvSpPr>
          <p:spPr>
            <a:xfrm>
              <a:off x="8877910" y="5029200"/>
              <a:ext cx="476402" cy="323698"/>
            </a:xfrm>
            <a:prstGeom prst="roundRect">
              <a:avLst>
                <a:gd name="adj" fmla="val 33234"/>
              </a:avLst>
            </a:prstGeom>
            <a:solidFill>
              <a:srgbClr val="EF4444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4" name="Text 84">
              <a:extLst>
                <a:ext uri="{FF2B5EF4-FFF2-40B4-BE49-F238E27FC236}">
                  <a16:creationId xmlns:a16="http://schemas.microsoft.com/office/drawing/2014/main" id="{2F41775E-0AF8-0B37-16BD-4BB41CE1225C}"/>
                </a:ext>
              </a:extLst>
            </p:cNvPr>
            <p:cNvSpPr txBox="1"/>
            <p:nvPr/>
          </p:nvSpPr>
          <p:spPr>
            <a:xfrm>
              <a:off x="8934602" y="5048402"/>
              <a:ext cx="419710" cy="2862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Current 25%</a:t>
              </a:r>
              <a:endParaRPr lang="en-US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518842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C7494-54B3-99BD-0923-474923E28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63494FA-DA00-EF48-6D27-820BA76893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/>
              <a:t>외화 자산 관리 </a:t>
            </a:r>
            <a:r>
              <a:rPr lang="en-US" altLang="ko-KR"/>
              <a:t>(</a:t>
            </a:r>
            <a:r>
              <a:rPr lang="ko-KR" altLang="en-US"/>
              <a:t>안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550EFDD-84A4-5B43-623E-555477454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외화자금 보유 비중 추이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5D0A95-FE84-C152-D513-B8EB196F808B}"/>
              </a:ext>
            </a:extLst>
          </p:cNvPr>
          <p:cNvSpPr txBox="1"/>
          <p:nvPr/>
        </p:nvSpPr>
        <p:spPr>
          <a:xfrm>
            <a:off x="482047" y="950187"/>
            <a:ext cx="11227906" cy="579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US" altLang="ko-KR" sz="2400" b="1">
                <a:solidFill>
                  <a:srgbClr val="002060"/>
                </a:solidFill>
                <a:latin typeface="Freesentation 6 SemiBold" pitchFamily="2" charset="-127"/>
                <a:ea typeface="Freesentation 6 SemiBold" pitchFamily="2" charset="-127"/>
              </a:rPr>
              <a:t>2025</a:t>
            </a:r>
            <a:r>
              <a:rPr lang="ko-KR" altLang="en-US" sz="2400" b="1">
                <a:solidFill>
                  <a:srgbClr val="002060"/>
                </a:solidFill>
                <a:latin typeface="Freesentation 6 SemiBold" pitchFamily="2" charset="-127"/>
                <a:ea typeface="Freesentation 6 SemiBold" pitchFamily="2" charset="-127"/>
              </a:rPr>
              <a:t>년 외화자금 평균 보유 비중 </a:t>
            </a:r>
            <a:r>
              <a:rPr lang="en-US" altLang="ko-KR" sz="2400" b="1">
                <a:solidFill>
                  <a:schemeClr val="accent6">
                    <a:lumMod val="50000"/>
                  </a:schemeClr>
                </a:solidFill>
                <a:latin typeface="Freesentation 6 SemiBold" pitchFamily="2" charset="-127"/>
                <a:ea typeface="Freesentation 6 SemiBold" pitchFamily="2" charset="-127"/>
              </a:rPr>
              <a:t>27.5%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4D9B5FB6-8A17-59EA-93C2-D05F482543FC}"/>
              </a:ext>
            </a:extLst>
          </p:cNvPr>
          <p:cNvGraphicFramePr>
            <a:graphicFrameLocks noGrp="1"/>
          </p:cNvGraphicFramePr>
          <p:nvPr/>
        </p:nvGraphicFramePr>
        <p:xfrm>
          <a:off x="609599" y="4654041"/>
          <a:ext cx="11227905" cy="12665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3685">
                  <a:extLst>
                    <a:ext uri="{9D8B030D-6E8A-4147-A177-3AD203B41FA5}">
                      <a16:colId xmlns:a16="http://schemas.microsoft.com/office/drawing/2014/main" val="2071471845"/>
                    </a:ext>
                  </a:extLst>
                </a:gridCol>
                <a:gridCol w="863685">
                  <a:extLst>
                    <a:ext uri="{9D8B030D-6E8A-4147-A177-3AD203B41FA5}">
                      <a16:colId xmlns:a16="http://schemas.microsoft.com/office/drawing/2014/main" val="930590302"/>
                    </a:ext>
                  </a:extLst>
                </a:gridCol>
                <a:gridCol w="863685">
                  <a:extLst>
                    <a:ext uri="{9D8B030D-6E8A-4147-A177-3AD203B41FA5}">
                      <a16:colId xmlns:a16="http://schemas.microsoft.com/office/drawing/2014/main" val="2980460656"/>
                    </a:ext>
                  </a:extLst>
                </a:gridCol>
                <a:gridCol w="863685">
                  <a:extLst>
                    <a:ext uri="{9D8B030D-6E8A-4147-A177-3AD203B41FA5}">
                      <a16:colId xmlns:a16="http://schemas.microsoft.com/office/drawing/2014/main" val="4257967796"/>
                    </a:ext>
                  </a:extLst>
                </a:gridCol>
                <a:gridCol w="863685">
                  <a:extLst>
                    <a:ext uri="{9D8B030D-6E8A-4147-A177-3AD203B41FA5}">
                      <a16:colId xmlns:a16="http://schemas.microsoft.com/office/drawing/2014/main" val="1862606698"/>
                    </a:ext>
                  </a:extLst>
                </a:gridCol>
                <a:gridCol w="863685">
                  <a:extLst>
                    <a:ext uri="{9D8B030D-6E8A-4147-A177-3AD203B41FA5}">
                      <a16:colId xmlns:a16="http://schemas.microsoft.com/office/drawing/2014/main" val="258922387"/>
                    </a:ext>
                  </a:extLst>
                </a:gridCol>
                <a:gridCol w="863685">
                  <a:extLst>
                    <a:ext uri="{9D8B030D-6E8A-4147-A177-3AD203B41FA5}">
                      <a16:colId xmlns:a16="http://schemas.microsoft.com/office/drawing/2014/main" val="3474944178"/>
                    </a:ext>
                  </a:extLst>
                </a:gridCol>
                <a:gridCol w="863685">
                  <a:extLst>
                    <a:ext uri="{9D8B030D-6E8A-4147-A177-3AD203B41FA5}">
                      <a16:colId xmlns:a16="http://schemas.microsoft.com/office/drawing/2014/main" val="3378564818"/>
                    </a:ext>
                  </a:extLst>
                </a:gridCol>
                <a:gridCol w="863685">
                  <a:extLst>
                    <a:ext uri="{9D8B030D-6E8A-4147-A177-3AD203B41FA5}">
                      <a16:colId xmlns:a16="http://schemas.microsoft.com/office/drawing/2014/main" val="780305781"/>
                    </a:ext>
                  </a:extLst>
                </a:gridCol>
                <a:gridCol w="863685">
                  <a:extLst>
                    <a:ext uri="{9D8B030D-6E8A-4147-A177-3AD203B41FA5}">
                      <a16:colId xmlns:a16="http://schemas.microsoft.com/office/drawing/2014/main" val="1154283214"/>
                    </a:ext>
                  </a:extLst>
                </a:gridCol>
                <a:gridCol w="863685">
                  <a:extLst>
                    <a:ext uri="{9D8B030D-6E8A-4147-A177-3AD203B41FA5}">
                      <a16:colId xmlns:a16="http://schemas.microsoft.com/office/drawing/2014/main" val="1510751837"/>
                    </a:ext>
                  </a:extLst>
                </a:gridCol>
                <a:gridCol w="863685">
                  <a:extLst>
                    <a:ext uri="{9D8B030D-6E8A-4147-A177-3AD203B41FA5}">
                      <a16:colId xmlns:a16="http://schemas.microsoft.com/office/drawing/2014/main" val="4022057989"/>
                    </a:ext>
                  </a:extLst>
                </a:gridCol>
                <a:gridCol w="863685">
                  <a:extLst>
                    <a:ext uri="{9D8B030D-6E8A-4147-A177-3AD203B41FA5}">
                      <a16:colId xmlns:a16="http://schemas.microsoft.com/office/drawing/2014/main" val="2792959367"/>
                    </a:ext>
                  </a:extLst>
                </a:gridCol>
              </a:tblGrid>
              <a:tr h="316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  <a:endParaRPr lang="en-US" altLang="ko-KR" sz="1000" b="1" i="0" u="none" strike="noStrike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r>
                        <a:rPr lang="ko-KR" altLang="en-US" sz="1000" u="none" strike="noStrike">
                          <a:solidFill>
                            <a:schemeClr val="bg1"/>
                          </a:solidFill>
                          <a:effectLst/>
                        </a:rPr>
                        <a:t>월</a:t>
                      </a:r>
                      <a:endParaRPr lang="ko-KR" altLang="en-US" sz="1000" b="1" i="0" u="none" strike="noStrike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r>
                        <a:rPr lang="ko-KR" altLang="en-US" sz="1000" u="none" strike="noStrike">
                          <a:solidFill>
                            <a:schemeClr val="bg1"/>
                          </a:solidFill>
                          <a:effectLst/>
                        </a:rPr>
                        <a:t>월</a:t>
                      </a:r>
                      <a:endParaRPr lang="ko-KR" altLang="en-US" sz="1000" b="1" i="0" u="none" strike="noStrike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r>
                        <a:rPr lang="ko-KR" altLang="en-US" sz="1000" u="none" strike="noStrike">
                          <a:solidFill>
                            <a:schemeClr val="bg1"/>
                          </a:solidFill>
                          <a:effectLst/>
                        </a:rPr>
                        <a:t>월</a:t>
                      </a:r>
                      <a:endParaRPr lang="ko-KR" altLang="en-US" sz="1000" b="1" i="0" u="none" strike="noStrike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r>
                        <a:rPr lang="ko-KR" altLang="en-US" sz="1000" u="none" strike="noStrike">
                          <a:solidFill>
                            <a:schemeClr val="bg1"/>
                          </a:solidFill>
                          <a:effectLst/>
                        </a:rPr>
                        <a:t>월</a:t>
                      </a:r>
                      <a:endParaRPr lang="ko-KR" altLang="en-US" sz="1000" b="1" i="0" u="none" strike="noStrike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  <a:r>
                        <a:rPr lang="ko-KR" altLang="en-US" sz="1000" u="none" strike="noStrike">
                          <a:solidFill>
                            <a:schemeClr val="bg1"/>
                          </a:solidFill>
                          <a:effectLst/>
                        </a:rPr>
                        <a:t>월</a:t>
                      </a:r>
                      <a:endParaRPr lang="ko-KR" altLang="en-US" sz="1000" b="1" i="0" u="none" strike="noStrike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  <a:r>
                        <a:rPr lang="ko-KR" altLang="en-US" sz="1000" u="none" strike="noStrike">
                          <a:solidFill>
                            <a:schemeClr val="bg1"/>
                          </a:solidFill>
                          <a:effectLst/>
                        </a:rPr>
                        <a:t>월</a:t>
                      </a:r>
                      <a:endParaRPr lang="ko-KR" altLang="en-US" sz="1000" b="1" i="0" u="none" strike="noStrike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solidFill>
                            <a:schemeClr val="bg1"/>
                          </a:solidFill>
                          <a:effectLst/>
                        </a:rPr>
                        <a:t>7</a:t>
                      </a:r>
                      <a:r>
                        <a:rPr lang="ko-KR" altLang="en-US" sz="1000" u="none" strike="noStrike">
                          <a:solidFill>
                            <a:schemeClr val="bg1"/>
                          </a:solidFill>
                          <a:effectLst/>
                        </a:rPr>
                        <a:t>월</a:t>
                      </a:r>
                      <a:endParaRPr lang="ko-KR" altLang="en-US" sz="1000" b="1" i="0" u="none" strike="noStrike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solidFill>
                            <a:schemeClr val="bg1"/>
                          </a:solidFill>
                          <a:effectLst/>
                        </a:rPr>
                        <a:t>8</a:t>
                      </a:r>
                      <a:r>
                        <a:rPr lang="ko-KR" altLang="en-US" sz="1000" u="none" strike="noStrike">
                          <a:solidFill>
                            <a:schemeClr val="bg1"/>
                          </a:solidFill>
                          <a:effectLst/>
                        </a:rPr>
                        <a:t>월</a:t>
                      </a:r>
                      <a:endParaRPr lang="ko-KR" altLang="en-US" sz="1000" b="1" i="0" u="none" strike="noStrike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solidFill>
                            <a:schemeClr val="bg1"/>
                          </a:solidFill>
                          <a:effectLst/>
                        </a:rPr>
                        <a:t>9</a:t>
                      </a:r>
                      <a:r>
                        <a:rPr lang="ko-KR" altLang="en-US" sz="1000" u="none" strike="noStrike">
                          <a:solidFill>
                            <a:schemeClr val="bg1"/>
                          </a:solidFill>
                          <a:effectLst/>
                        </a:rPr>
                        <a:t>월</a:t>
                      </a:r>
                      <a:endParaRPr lang="ko-KR" altLang="en-US" sz="1000" b="1" i="0" u="none" strike="noStrike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solidFill>
                            <a:schemeClr val="bg1"/>
                          </a:solidFill>
                          <a:effectLst/>
                        </a:rPr>
                        <a:t>10</a:t>
                      </a:r>
                      <a:r>
                        <a:rPr lang="ko-KR" altLang="en-US" sz="1000" u="none" strike="noStrike">
                          <a:solidFill>
                            <a:schemeClr val="bg1"/>
                          </a:solidFill>
                          <a:effectLst/>
                        </a:rPr>
                        <a:t>월</a:t>
                      </a:r>
                      <a:endParaRPr lang="ko-KR" altLang="en-US" sz="1000" b="1" i="0" u="none" strike="noStrike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solidFill>
                            <a:schemeClr val="bg1"/>
                          </a:solidFill>
                          <a:effectLst/>
                        </a:rPr>
                        <a:t>11</a:t>
                      </a:r>
                      <a:r>
                        <a:rPr lang="ko-KR" altLang="en-US" sz="1000" u="none" strike="noStrike">
                          <a:solidFill>
                            <a:schemeClr val="bg1"/>
                          </a:solidFill>
                          <a:effectLst/>
                        </a:rPr>
                        <a:t>월</a:t>
                      </a:r>
                      <a:endParaRPr lang="ko-KR" altLang="en-US" sz="1000" b="1" i="0" u="none" strike="noStrike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solidFill>
                            <a:schemeClr val="bg1"/>
                          </a:solidFill>
                          <a:effectLst/>
                        </a:rPr>
                        <a:t>12</a:t>
                      </a:r>
                      <a:r>
                        <a:rPr lang="ko-KR" altLang="en-US" sz="1000" u="none" strike="noStrike">
                          <a:solidFill>
                            <a:schemeClr val="bg1"/>
                          </a:solidFill>
                          <a:effectLst/>
                        </a:rPr>
                        <a:t>월</a:t>
                      </a:r>
                      <a:endParaRPr lang="ko-KR" altLang="en-US" sz="1000" b="1" i="0" u="none" strike="noStrike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838385"/>
                  </a:ext>
                </a:extLst>
              </a:tr>
              <a:tr h="316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u="none" strike="noStrike">
                          <a:effectLst/>
                        </a:rPr>
                        <a:t>운영자금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859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903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923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922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931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908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911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923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902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895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917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911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119696"/>
                  </a:ext>
                </a:extLst>
              </a:tr>
              <a:tr h="316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u="none" strike="noStrike">
                          <a:effectLst/>
                        </a:rPr>
                        <a:t>외화자금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297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347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281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313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332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328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208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208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135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161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184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212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078243"/>
                  </a:ext>
                </a:extLst>
              </a:tr>
              <a:tr h="316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u="none" strike="noStrike">
                          <a:effectLst/>
                        </a:rPr>
                        <a:t>비율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34.58%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38.43%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30.44%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33.95%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35.66%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36.12%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22.83%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22.54%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14.97%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17.99%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20.07%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23.27%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732759"/>
                  </a:ext>
                </a:extLst>
              </a:tr>
            </a:tbl>
          </a:graphicData>
        </a:graphic>
      </p:graphicFrame>
      <p:graphicFrame>
        <p:nvGraphicFramePr>
          <p:cNvPr id="10" name="차트 9">
            <a:extLst>
              <a:ext uri="{FF2B5EF4-FFF2-40B4-BE49-F238E27FC236}">
                <a16:creationId xmlns:a16="http://schemas.microsoft.com/office/drawing/2014/main" id="{4CB8EA4A-6410-46D5-9262-D495FB13DF62}"/>
              </a:ext>
            </a:extLst>
          </p:cNvPr>
          <p:cNvGraphicFramePr>
            <a:graphicFrameLocks/>
          </p:cNvGraphicFramePr>
          <p:nvPr/>
        </p:nvGraphicFramePr>
        <p:xfrm>
          <a:off x="1107786" y="1660115"/>
          <a:ext cx="10729717" cy="2744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72ADC30C-A703-5FBC-F32C-BD2215D635CB}"/>
              </a:ext>
            </a:extLst>
          </p:cNvPr>
          <p:cNvSpPr txBox="1"/>
          <p:nvPr/>
        </p:nvSpPr>
        <p:spPr>
          <a:xfrm>
            <a:off x="10277476" y="4413817"/>
            <a:ext cx="17695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ctr">
              <a:buNone/>
            </a:pPr>
            <a:r>
              <a:rPr lang="ko-KR" altLang="en-US" sz="900" i="0">
                <a:latin typeface="맑은 고딕" panose="020B0503020000020004" pitchFamily="50" charset="-127"/>
                <a:ea typeface="맑은 고딕" panose="020B0503020000020004" pitchFamily="50" charset="-127"/>
              </a:rPr>
              <a:t>      단위 </a:t>
            </a:r>
            <a:r>
              <a:rPr lang="en-US" altLang="ko-KR" sz="900" i="0">
                <a:latin typeface="맑은 고딕" panose="020B0503020000020004" pitchFamily="50" charset="-127"/>
                <a:ea typeface="맑은 고딕" panose="020B0503020000020004" pitchFamily="50" charset="-127"/>
              </a:rPr>
              <a:t>:  </a:t>
            </a:r>
            <a:r>
              <a:rPr lang="ko-KR" altLang="en-US" sz="900" i="0">
                <a:latin typeface="맑은 고딕" panose="020B0503020000020004" pitchFamily="50" charset="-127"/>
                <a:ea typeface="맑은 고딕" panose="020B0503020000020004" pitchFamily="50" charset="-127"/>
              </a:rPr>
              <a:t>억원</a:t>
            </a:r>
            <a:r>
              <a:rPr lang="en-US" altLang="ko-KR" sz="900" i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i="0">
                <a:latin typeface="맑은 고딕" panose="020B0503020000020004" pitchFamily="50" charset="-127"/>
                <a:ea typeface="맑은 고딕" panose="020B0503020000020004" pitchFamily="50" charset="-127"/>
              </a:rPr>
              <a:t>월말 기준</a:t>
            </a:r>
            <a:endParaRPr lang="ko-KR" altLang="en-US" sz="900" i="0" u="none" strike="noStrike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6D6FC4A3-53C3-5979-58C4-F53EC5F1AE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732167"/>
              </p:ext>
            </p:extLst>
          </p:nvPr>
        </p:nvGraphicFramePr>
        <p:xfrm>
          <a:off x="609599" y="6009698"/>
          <a:ext cx="11227905" cy="78508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3685">
                  <a:extLst>
                    <a:ext uri="{9D8B030D-6E8A-4147-A177-3AD203B41FA5}">
                      <a16:colId xmlns:a16="http://schemas.microsoft.com/office/drawing/2014/main" val="1852944955"/>
                    </a:ext>
                  </a:extLst>
                </a:gridCol>
                <a:gridCol w="863685">
                  <a:extLst>
                    <a:ext uri="{9D8B030D-6E8A-4147-A177-3AD203B41FA5}">
                      <a16:colId xmlns:a16="http://schemas.microsoft.com/office/drawing/2014/main" val="4225500593"/>
                    </a:ext>
                  </a:extLst>
                </a:gridCol>
                <a:gridCol w="863685">
                  <a:extLst>
                    <a:ext uri="{9D8B030D-6E8A-4147-A177-3AD203B41FA5}">
                      <a16:colId xmlns:a16="http://schemas.microsoft.com/office/drawing/2014/main" val="1192959435"/>
                    </a:ext>
                  </a:extLst>
                </a:gridCol>
                <a:gridCol w="863685">
                  <a:extLst>
                    <a:ext uri="{9D8B030D-6E8A-4147-A177-3AD203B41FA5}">
                      <a16:colId xmlns:a16="http://schemas.microsoft.com/office/drawing/2014/main" val="1791625722"/>
                    </a:ext>
                  </a:extLst>
                </a:gridCol>
                <a:gridCol w="863685">
                  <a:extLst>
                    <a:ext uri="{9D8B030D-6E8A-4147-A177-3AD203B41FA5}">
                      <a16:colId xmlns:a16="http://schemas.microsoft.com/office/drawing/2014/main" val="872087586"/>
                    </a:ext>
                  </a:extLst>
                </a:gridCol>
                <a:gridCol w="863685">
                  <a:extLst>
                    <a:ext uri="{9D8B030D-6E8A-4147-A177-3AD203B41FA5}">
                      <a16:colId xmlns:a16="http://schemas.microsoft.com/office/drawing/2014/main" val="2496439312"/>
                    </a:ext>
                  </a:extLst>
                </a:gridCol>
                <a:gridCol w="863685">
                  <a:extLst>
                    <a:ext uri="{9D8B030D-6E8A-4147-A177-3AD203B41FA5}">
                      <a16:colId xmlns:a16="http://schemas.microsoft.com/office/drawing/2014/main" val="3351322408"/>
                    </a:ext>
                  </a:extLst>
                </a:gridCol>
                <a:gridCol w="863685">
                  <a:extLst>
                    <a:ext uri="{9D8B030D-6E8A-4147-A177-3AD203B41FA5}">
                      <a16:colId xmlns:a16="http://schemas.microsoft.com/office/drawing/2014/main" val="31449192"/>
                    </a:ext>
                  </a:extLst>
                </a:gridCol>
                <a:gridCol w="863685">
                  <a:extLst>
                    <a:ext uri="{9D8B030D-6E8A-4147-A177-3AD203B41FA5}">
                      <a16:colId xmlns:a16="http://schemas.microsoft.com/office/drawing/2014/main" val="1556629083"/>
                    </a:ext>
                  </a:extLst>
                </a:gridCol>
                <a:gridCol w="863685">
                  <a:extLst>
                    <a:ext uri="{9D8B030D-6E8A-4147-A177-3AD203B41FA5}">
                      <a16:colId xmlns:a16="http://schemas.microsoft.com/office/drawing/2014/main" val="285395940"/>
                    </a:ext>
                  </a:extLst>
                </a:gridCol>
                <a:gridCol w="863685">
                  <a:extLst>
                    <a:ext uri="{9D8B030D-6E8A-4147-A177-3AD203B41FA5}">
                      <a16:colId xmlns:a16="http://schemas.microsoft.com/office/drawing/2014/main" val="2036690937"/>
                    </a:ext>
                  </a:extLst>
                </a:gridCol>
                <a:gridCol w="863685">
                  <a:extLst>
                    <a:ext uri="{9D8B030D-6E8A-4147-A177-3AD203B41FA5}">
                      <a16:colId xmlns:a16="http://schemas.microsoft.com/office/drawing/2014/main" val="837475911"/>
                    </a:ext>
                  </a:extLst>
                </a:gridCol>
                <a:gridCol w="863685">
                  <a:extLst>
                    <a:ext uri="{9D8B030D-6E8A-4147-A177-3AD203B41FA5}">
                      <a16:colId xmlns:a16="http://schemas.microsoft.com/office/drawing/2014/main" val="2253880923"/>
                    </a:ext>
                  </a:extLst>
                </a:gridCol>
              </a:tblGrid>
              <a:tr h="2897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USD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73" marR="6073" marT="607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17,104,031.24 </a:t>
                      </a:r>
                      <a:endParaRPr lang="en-US" altLang="ko-KR" sz="8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73" marR="6073" marT="607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      </a:t>
                      </a:r>
                      <a:r>
                        <a:rPr lang="en-US" altLang="ko-KR" sz="800" u="none" strike="noStrike" dirty="0">
                          <a:effectLst/>
                        </a:rPr>
                        <a:t>20,127,954.31 </a:t>
                      </a:r>
                      <a:endParaRPr lang="en-US" altLang="ko-KR" sz="8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73" marR="6073" marT="607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   </a:t>
                      </a:r>
                      <a:r>
                        <a:rPr lang="en-US" altLang="ko-KR" sz="800" u="none" strike="noStrike" dirty="0">
                          <a:effectLst/>
                        </a:rPr>
                        <a:t>17,084,661.01 </a:t>
                      </a:r>
                      <a:endParaRPr lang="en-US" altLang="ko-KR" sz="8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73" marR="6073" marT="607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   </a:t>
                      </a:r>
                      <a:r>
                        <a:rPr lang="en-US" altLang="ko-KR" sz="800" u="none" strike="noStrike">
                          <a:effectLst/>
                        </a:rPr>
                        <a:t>18,864,381.87 </a:t>
                      </a:r>
                      <a:endParaRPr lang="en-US" altLang="ko-KR" sz="8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73" marR="6073" marT="607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   </a:t>
                      </a:r>
                      <a:r>
                        <a:rPr lang="en-US" altLang="ko-KR" sz="800" u="none" strike="noStrike">
                          <a:effectLst/>
                        </a:rPr>
                        <a:t>19,924,303.08 </a:t>
                      </a:r>
                      <a:endParaRPr lang="en-US" altLang="ko-KR" sz="8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73" marR="6073" marT="607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   </a:t>
                      </a:r>
                      <a:r>
                        <a:rPr lang="en-US" altLang="ko-KR" sz="800" u="none" strike="noStrike">
                          <a:effectLst/>
                        </a:rPr>
                        <a:t>20,423,028.62 </a:t>
                      </a:r>
                      <a:endParaRPr lang="en-US" altLang="ko-KR" sz="8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73" marR="6073" marT="607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   </a:t>
                      </a:r>
                      <a:r>
                        <a:rPr lang="en-US" altLang="ko-KR" sz="800" u="none" strike="noStrike">
                          <a:effectLst/>
                        </a:rPr>
                        <a:t>13,666,500.86 </a:t>
                      </a:r>
                      <a:endParaRPr lang="en-US" altLang="ko-KR" sz="8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73" marR="6073" marT="607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   </a:t>
                      </a:r>
                      <a:r>
                        <a:rPr lang="en-US" altLang="ko-KR" sz="800" u="none" strike="noStrike">
                          <a:effectLst/>
                        </a:rPr>
                        <a:t>10,666,500.86 </a:t>
                      </a:r>
                      <a:endParaRPr lang="en-US" altLang="ko-KR" sz="8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73" marR="6073" marT="607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    </a:t>
                      </a:r>
                      <a:r>
                        <a:rPr lang="en-US" altLang="ko-KR" sz="800" u="none" strike="noStrike">
                          <a:effectLst/>
                        </a:rPr>
                        <a:t>7,507,219.20 </a:t>
                      </a:r>
                      <a:endParaRPr lang="en-US" altLang="ko-KR" sz="8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73" marR="6073" marT="607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    </a:t>
                      </a:r>
                      <a:r>
                        <a:rPr lang="en-US" altLang="ko-KR" sz="800" u="none" strike="noStrike">
                          <a:effectLst/>
                        </a:rPr>
                        <a:t>8,844,658.30 </a:t>
                      </a:r>
                      <a:endParaRPr lang="en-US" altLang="ko-KR" sz="8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73" marR="6073" marT="607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   </a:t>
                      </a:r>
                      <a:r>
                        <a:rPr lang="en-US" altLang="ko-KR" sz="800" u="none" strike="noStrike">
                          <a:effectLst/>
                        </a:rPr>
                        <a:t>10,246,627.24 </a:t>
                      </a:r>
                      <a:endParaRPr lang="en-US" altLang="ko-KR" sz="8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73" marR="6073" marT="607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   </a:t>
                      </a:r>
                      <a:r>
                        <a:rPr lang="en-US" altLang="ko-KR" sz="800" u="none" strike="noStrike">
                          <a:effectLst/>
                        </a:rPr>
                        <a:t>11,898,340.67 </a:t>
                      </a:r>
                      <a:endParaRPr lang="en-US" altLang="ko-KR" sz="8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73" marR="6073" marT="607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8026576"/>
                  </a:ext>
                </a:extLst>
              </a:tr>
              <a:tr h="24766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EUR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73" marR="6073" marT="607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>
                          <a:effectLst/>
                        </a:rPr>
                        <a:t>2,853,739.34 </a:t>
                      </a:r>
                      <a:endParaRPr lang="en-US" altLang="ko-KR" sz="8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73" marR="6073" marT="607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>
                          <a:effectLst/>
                        </a:rPr>
                        <a:t>3,208,926.29 </a:t>
                      </a:r>
                      <a:endParaRPr lang="en-US" altLang="ko-KR" sz="8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73" marR="6073" marT="607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    </a:t>
                      </a:r>
                      <a:r>
                        <a:rPr lang="en-US" altLang="ko-KR" sz="800" u="none" strike="noStrike">
                          <a:effectLst/>
                        </a:rPr>
                        <a:t>1,819,921.97 </a:t>
                      </a:r>
                      <a:endParaRPr lang="en-US" altLang="ko-KR" sz="8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73" marR="6073" marT="607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    </a:t>
                      </a:r>
                      <a:r>
                        <a:rPr lang="en-US" altLang="ko-KR" sz="800" u="none" strike="noStrike">
                          <a:effectLst/>
                        </a:rPr>
                        <a:t>2,215,828.26 </a:t>
                      </a:r>
                      <a:endParaRPr lang="en-US" altLang="ko-KR" sz="8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73" marR="6073" marT="607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</a:rPr>
                        <a:t>2,534,459.87 </a:t>
                      </a:r>
                      <a:endParaRPr lang="en-US" altLang="ko-KR" sz="8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73" marR="6073" marT="607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</a:rPr>
                        <a:t>1,839,149.68 </a:t>
                      </a:r>
                      <a:endParaRPr lang="en-US" altLang="ko-KR" sz="8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73" marR="6073" marT="607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      </a:t>
                      </a:r>
                      <a:r>
                        <a:rPr lang="en-US" altLang="ko-KR" sz="800" u="none" strike="noStrike" dirty="0">
                          <a:effectLst/>
                        </a:rPr>
                        <a:t>523,690.82 </a:t>
                      </a:r>
                      <a:endParaRPr lang="en-US" altLang="ko-KR" sz="8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73" marR="6073" marT="607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      </a:t>
                      </a:r>
                      <a:r>
                        <a:rPr lang="en-US" altLang="ko-KR" sz="800" u="none" strike="noStrike" dirty="0">
                          <a:effectLst/>
                        </a:rPr>
                        <a:t>817,351.06 </a:t>
                      </a:r>
                      <a:endParaRPr lang="en-US" altLang="ko-KR" sz="8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73" marR="6073" marT="607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</a:rPr>
                        <a:t>1,504,721.94 </a:t>
                      </a:r>
                      <a:endParaRPr lang="en-US" altLang="ko-KR" sz="8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73" marR="6073" marT="607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    </a:t>
                      </a:r>
                      <a:r>
                        <a:rPr lang="en-US" altLang="ko-KR" sz="800" u="none" strike="noStrike">
                          <a:effectLst/>
                        </a:rPr>
                        <a:t>1,981,154.74 </a:t>
                      </a:r>
                      <a:endParaRPr lang="en-US" altLang="ko-KR" sz="8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73" marR="6073" marT="607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    </a:t>
                      </a:r>
                      <a:r>
                        <a:rPr lang="en-US" altLang="ko-KR" sz="800" u="none" strike="noStrike">
                          <a:effectLst/>
                        </a:rPr>
                        <a:t>2,069,451.94 </a:t>
                      </a:r>
                      <a:endParaRPr lang="en-US" altLang="ko-KR" sz="8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73" marR="6073" marT="607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    </a:t>
                      </a:r>
                      <a:r>
                        <a:rPr lang="en-US" altLang="ko-KR" sz="800" u="none" strike="noStrike">
                          <a:effectLst/>
                        </a:rPr>
                        <a:t>2,314,422.38 </a:t>
                      </a:r>
                      <a:endParaRPr lang="en-US" altLang="ko-KR" sz="8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73" marR="6073" marT="607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8260533"/>
                  </a:ext>
                </a:extLst>
              </a:tr>
              <a:tr h="24766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JPY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73" marR="6073" marT="607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>
                          <a:effectLst/>
                        </a:rPr>
                        <a:t>32,572,180.00 </a:t>
                      </a:r>
                      <a:endParaRPr lang="en-US" altLang="ko-KR" sz="8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73" marR="6073" marT="607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      </a:t>
                      </a:r>
                      <a:r>
                        <a:rPr lang="en-US" altLang="ko-KR" sz="800" u="none" strike="noStrike">
                          <a:effectLst/>
                        </a:rPr>
                        <a:t>30,422,180.00 </a:t>
                      </a:r>
                      <a:endParaRPr lang="en-US" altLang="ko-KR" sz="8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73" marR="6073" marT="607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   </a:t>
                      </a:r>
                      <a:r>
                        <a:rPr lang="en-US" altLang="ko-KR" sz="800" u="none" strike="noStrike">
                          <a:effectLst/>
                        </a:rPr>
                        <a:t>29,922,252.00 </a:t>
                      </a:r>
                      <a:endParaRPr lang="en-US" altLang="ko-KR" sz="8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73" marR="6073" marT="607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   </a:t>
                      </a:r>
                      <a:r>
                        <a:rPr lang="en-US" altLang="ko-KR" sz="800" u="none" strike="noStrike">
                          <a:effectLst/>
                        </a:rPr>
                        <a:t>29,818,252.00 </a:t>
                      </a:r>
                      <a:endParaRPr lang="en-US" altLang="ko-KR" sz="8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73" marR="6073" marT="607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   </a:t>
                      </a:r>
                      <a:r>
                        <a:rPr lang="en-US" altLang="ko-KR" sz="800" u="none" strike="noStrike">
                          <a:effectLst/>
                        </a:rPr>
                        <a:t>29,924,303.08 </a:t>
                      </a:r>
                      <a:endParaRPr lang="en-US" altLang="ko-KR" sz="8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73" marR="6073" marT="607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   </a:t>
                      </a:r>
                      <a:r>
                        <a:rPr lang="en-US" altLang="ko-KR" sz="800" u="none" strike="noStrike">
                          <a:effectLst/>
                        </a:rPr>
                        <a:t>29,363,588.00 </a:t>
                      </a:r>
                      <a:endParaRPr lang="en-US" altLang="ko-KR" sz="8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73" marR="6073" marT="607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   </a:t>
                      </a:r>
                      <a:r>
                        <a:rPr lang="en-US" altLang="ko-KR" sz="800" u="none" strike="noStrike">
                          <a:effectLst/>
                        </a:rPr>
                        <a:t>29,060,388.00 </a:t>
                      </a:r>
                      <a:endParaRPr lang="en-US" altLang="ko-KR" sz="8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73" marR="6073" marT="607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   </a:t>
                      </a:r>
                      <a:r>
                        <a:rPr lang="en-US" altLang="ko-KR" sz="800" u="none" strike="noStrike">
                          <a:effectLst/>
                        </a:rPr>
                        <a:t>28,600,248.00 </a:t>
                      </a:r>
                      <a:endParaRPr lang="en-US" altLang="ko-KR" sz="8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73" marR="6073" marT="607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   </a:t>
                      </a:r>
                      <a:r>
                        <a:rPr lang="en-US" altLang="ko-KR" sz="800" u="none" strike="noStrike" dirty="0">
                          <a:effectLst/>
                        </a:rPr>
                        <a:t>27,761,419.00 </a:t>
                      </a:r>
                      <a:endParaRPr lang="en-US" altLang="ko-KR" sz="8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73" marR="6073" marT="607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   </a:t>
                      </a:r>
                      <a:r>
                        <a:rPr lang="en-US" altLang="ko-KR" sz="800" u="none" strike="noStrike" dirty="0">
                          <a:effectLst/>
                        </a:rPr>
                        <a:t>21,951,484.00 </a:t>
                      </a:r>
                      <a:endParaRPr lang="en-US" altLang="ko-KR" sz="8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73" marR="6073" marT="607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   </a:t>
                      </a:r>
                      <a:r>
                        <a:rPr lang="en-US" altLang="ko-KR" sz="800" u="none" strike="noStrike" dirty="0">
                          <a:effectLst/>
                        </a:rPr>
                        <a:t>21,451,484.00 </a:t>
                      </a:r>
                      <a:endParaRPr lang="en-US" altLang="ko-KR" sz="8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73" marR="6073" marT="607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   </a:t>
                      </a:r>
                      <a:r>
                        <a:rPr lang="en-US" altLang="ko-KR" sz="800" u="none" strike="noStrike" dirty="0">
                          <a:effectLst/>
                        </a:rPr>
                        <a:t>20,926,738.00 </a:t>
                      </a:r>
                      <a:endParaRPr lang="en-US" altLang="ko-KR" sz="8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73" marR="6073" marT="607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203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5890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93DDD-6567-6F2F-D3EC-00D569A27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D8616BC-7ED0-C3CC-6648-43D181CDD8AF}"/>
              </a:ext>
            </a:extLst>
          </p:cNvPr>
          <p:cNvSpPr/>
          <p:nvPr/>
        </p:nvSpPr>
        <p:spPr>
          <a:xfrm>
            <a:off x="7915275" y="5010149"/>
            <a:ext cx="466725" cy="1131605"/>
          </a:xfrm>
          <a:prstGeom prst="roundRect">
            <a:avLst>
              <a:gd name="adj" fmla="val 4519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  <a:alpha val="3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kern="1200"/>
          </a:p>
        </p:txBody>
      </p:sp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44F77B2E-3564-C29C-35D2-F53B0011793E}"/>
              </a:ext>
            </a:extLst>
          </p:cNvPr>
          <p:cNvGraphicFramePr>
            <a:graphicFrameLocks/>
          </p:cNvGraphicFramePr>
          <p:nvPr/>
        </p:nvGraphicFramePr>
        <p:xfrm>
          <a:off x="4010026" y="1943101"/>
          <a:ext cx="6667499" cy="52006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5175695-9354-F1BC-78C1-BAAC9C18EF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/>
              <a:t>외화 자산 관리 </a:t>
            </a:r>
            <a:r>
              <a:rPr lang="en-US" altLang="ko-KR"/>
              <a:t>(</a:t>
            </a:r>
            <a:r>
              <a:rPr lang="ko-KR" altLang="en-US"/>
              <a:t>안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A6360DD-AE2B-C2AE-3852-EF6D5CB3B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자산 구성 </a:t>
            </a:r>
            <a:r>
              <a:rPr lang="en-US" altLang="ko-KR"/>
              <a:t>– </a:t>
            </a:r>
            <a:r>
              <a:rPr lang="ko-KR" altLang="en-US"/>
              <a:t>환율 </a:t>
            </a:r>
            <a:r>
              <a:rPr lang="en-US" altLang="ko-KR"/>
              <a:t>– </a:t>
            </a:r>
            <a:r>
              <a:rPr lang="ko-KR" altLang="en-US"/>
              <a:t>기준금리 추이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F9816A-F677-C510-30B4-7D9636192637}"/>
              </a:ext>
            </a:extLst>
          </p:cNvPr>
          <p:cNvSpPr txBox="1"/>
          <p:nvPr/>
        </p:nvSpPr>
        <p:spPr>
          <a:xfrm>
            <a:off x="710647" y="5772422"/>
            <a:ext cx="65006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/>
              <a:t> </a:t>
            </a:r>
            <a:endParaRPr lang="en-US" altLang="ko-KR"/>
          </a:p>
        </p:txBody>
      </p:sp>
      <p:sp>
        <p:nvSpPr>
          <p:cNvPr id="8" name="설명선: 굽은 선 7">
            <a:extLst>
              <a:ext uri="{FF2B5EF4-FFF2-40B4-BE49-F238E27FC236}">
                <a16:creationId xmlns:a16="http://schemas.microsoft.com/office/drawing/2014/main" id="{365D239A-730C-5642-3AC5-AA967BE2D824}"/>
              </a:ext>
            </a:extLst>
          </p:cNvPr>
          <p:cNvSpPr/>
          <p:nvPr/>
        </p:nvSpPr>
        <p:spPr>
          <a:xfrm>
            <a:off x="10951969" y="5353050"/>
            <a:ext cx="978450" cy="788704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51924"/>
              <a:gd name="adj6" fmla="val -266369"/>
            </a:avLst>
          </a:prstGeom>
          <a:solidFill>
            <a:schemeClr val="tx2">
              <a:lumMod val="25000"/>
              <a:lumOff val="75000"/>
            </a:schemeClr>
          </a:solidFill>
          <a:ln w="95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10000"/>
                  </a:schemeClr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KB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10000"/>
                  </a:schemeClr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증권 국채 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10000"/>
                </a:schemeClr>
              </a:solidFill>
              <a:effectLst/>
              <a:uLnTx/>
              <a:uFillTx/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10000"/>
                  </a:schemeClr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100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10000"/>
                  </a:schemeClr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억원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10000"/>
                  </a:schemeClr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(25.08.13)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94402A-33AA-7F60-8D9A-3553C5667786}"/>
              </a:ext>
            </a:extLst>
          </p:cNvPr>
          <p:cNvSpPr txBox="1"/>
          <p:nvPr/>
        </p:nvSpPr>
        <p:spPr>
          <a:xfrm>
            <a:off x="482047" y="950187"/>
            <a:ext cx="11227906" cy="579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eesentation 6 SemiBold" pitchFamily="2" charset="-127"/>
                <a:ea typeface="Freesentation 6 SemiBold" pitchFamily="2" charset="-127"/>
                <a:cs typeface="+mn-cs"/>
                <a:sym typeface="Wingdings" panose="05000000000000000000" pitchFamily="2" charset="2"/>
              </a:rPr>
              <a:t>원 달러 환율 </a:t>
            </a:r>
            <a:r>
              <a:rPr kumimoji="0" lang="en-US" altLang="ko-KR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eesentation 6 SemiBold" pitchFamily="2" charset="-127"/>
                <a:ea typeface="Freesentation 6 SemiBold" pitchFamily="2" charset="-127"/>
                <a:cs typeface="+mn-cs"/>
                <a:sym typeface="Wingdings" panose="05000000000000000000" pitchFamily="2" charset="2"/>
              </a:rPr>
              <a:t>– </a:t>
            </a: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eesentation 6 SemiBold" pitchFamily="2" charset="-127"/>
                <a:ea typeface="Freesentation 6 SemiBold" pitchFamily="2" charset="-127"/>
                <a:cs typeface="+mn-cs"/>
                <a:sym typeface="Wingdings" panose="05000000000000000000" pitchFamily="2" charset="2"/>
              </a:rPr>
              <a:t>기준금리 추이 </a:t>
            </a:r>
            <a:r>
              <a:rPr kumimoji="0" lang="en-US" altLang="ko-KR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eesentation 6 SemiBold" pitchFamily="2" charset="-127"/>
                <a:ea typeface="Freesentation 6 SemiBold" pitchFamily="2" charset="-127"/>
                <a:cs typeface="+mn-cs"/>
                <a:sym typeface="Wingdings" panose="05000000000000000000" pitchFamily="2" charset="2"/>
              </a:rPr>
              <a:t>(</a:t>
            </a: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eesentation 6 SemiBold" pitchFamily="2" charset="-127"/>
                <a:ea typeface="Freesentation 6 SemiBold" pitchFamily="2" charset="-127"/>
                <a:cs typeface="+mn-cs"/>
                <a:sym typeface="Wingdings" panose="05000000000000000000" pitchFamily="2" charset="2"/>
              </a:rPr>
              <a:t>최근 </a:t>
            </a:r>
            <a:r>
              <a:rPr kumimoji="0" lang="en-US" altLang="ko-KR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eesentation 6 SemiBold" pitchFamily="2" charset="-127"/>
                <a:ea typeface="Freesentation 6 SemiBold" pitchFamily="2" charset="-127"/>
                <a:cs typeface="+mn-cs"/>
                <a:sym typeface="Wingdings" panose="05000000000000000000" pitchFamily="2" charset="2"/>
              </a:rPr>
              <a:t>1.5</a:t>
            </a: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eesentation 6 SemiBold" pitchFamily="2" charset="-127"/>
                <a:ea typeface="Freesentation 6 SemiBold" pitchFamily="2" charset="-127"/>
                <a:cs typeface="+mn-cs"/>
                <a:sym typeface="Wingdings" panose="05000000000000000000" pitchFamily="2" charset="2"/>
              </a:rPr>
              <a:t>개년</a:t>
            </a:r>
            <a:r>
              <a:rPr kumimoji="0" lang="en-US" altLang="ko-KR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eesentation 6 SemiBold" pitchFamily="2" charset="-127"/>
                <a:ea typeface="Freesentation 6 SemiBold" pitchFamily="2" charset="-127"/>
                <a:cs typeface="+mn-cs"/>
                <a:sym typeface="Wingdings" panose="05000000000000000000" pitchFamily="2" charset="2"/>
              </a:rPr>
              <a:t>)</a:t>
            </a:r>
            <a:endParaRPr kumimoji="0" lang="en-US" altLang="ko-KR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eesentation 6 SemiBold" pitchFamily="2" charset="-127"/>
              <a:ea typeface="Freesentation 6 SemiBold" pitchFamily="2" charset="-127"/>
              <a:cs typeface="+mn-cs"/>
            </a:endParaRPr>
          </a:p>
        </p:txBody>
      </p:sp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B75CC351-48A2-4AE2-AB3E-4EF68335B676}"/>
              </a:ext>
            </a:extLst>
          </p:cNvPr>
          <p:cNvGraphicFramePr>
            <a:graphicFrameLocks/>
          </p:cNvGraphicFramePr>
          <p:nvPr/>
        </p:nvGraphicFramePr>
        <p:xfrm>
          <a:off x="865413" y="2320871"/>
          <a:ext cx="9931790" cy="40936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151056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21122-FB4C-C360-D8C5-4A090E2A9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A0B6263-D450-111E-1F8D-FC6D26A4D7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/>
              <a:t>외화 자산 관리 </a:t>
            </a:r>
            <a:r>
              <a:rPr lang="en-US" altLang="ko-KR"/>
              <a:t>(</a:t>
            </a:r>
            <a:r>
              <a:rPr lang="ko-KR" altLang="en-US"/>
              <a:t>안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F70F852-610A-5128-25BA-415782855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외화 자산 비중별 리스크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366349-AFC6-28E2-32F5-08295606729A}"/>
              </a:ext>
            </a:extLst>
          </p:cNvPr>
          <p:cNvSpPr txBox="1"/>
          <p:nvPr/>
        </p:nvSpPr>
        <p:spPr>
          <a:xfrm>
            <a:off x="482047" y="950187"/>
            <a:ext cx="10834882" cy="579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ko-KR" altLang="en-US" sz="2400" b="1">
                <a:solidFill>
                  <a:srgbClr val="002060"/>
                </a:solidFill>
                <a:latin typeface="Freesentation 6 SemiBold" pitchFamily="2" charset="-127"/>
                <a:ea typeface="Freesentation 6 SemiBold" pitchFamily="2" charset="-127"/>
              </a:rPr>
              <a:t>외화 자산 비중 변화에 따른 환율 민감도 및 재무 영향</a:t>
            </a:r>
            <a:endParaRPr kumimoji="0" lang="en-US" altLang="ko-KR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eesentation 6 SemiBold" pitchFamily="2" charset="-127"/>
              <a:ea typeface="Freesentation 6 SemiBold" pitchFamily="2" charset="-127"/>
              <a:cs typeface="+mn-cs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BB036ED-500E-50D8-9F19-75DEB55E3F67}"/>
              </a:ext>
            </a:extLst>
          </p:cNvPr>
          <p:cNvGraphicFramePr>
            <a:graphicFrameLocks noGrp="1"/>
          </p:cNvGraphicFramePr>
          <p:nvPr/>
        </p:nvGraphicFramePr>
        <p:xfrm>
          <a:off x="1666874" y="4027754"/>
          <a:ext cx="8858252" cy="240096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19151">
                  <a:extLst>
                    <a:ext uri="{9D8B030D-6E8A-4147-A177-3AD203B41FA5}">
                      <a16:colId xmlns:a16="http://schemas.microsoft.com/office/drawing/2014/main" val="1924204901"/>
                    </a:ext>
                  </a:extLst>
                </a:gridCol>
                <a:gridCol w="1395412">
                  <a:extLst>
                    <a:ext uri="{9D8B030D-6E8A-4147-A177-3AD203B41FA5}">
                      <a16:colId xmlns:a16="http://schemas.microsoft.com/office/drawing/2014/main" val="311447735"/>
                    </a:ext>
                  </a:extLst>
                </a:gridCol>
                <a:gridCol w="2214563">
                  <a:extLst>
                    <a:ext uri="{9D8B030D-6E8A-4147-A177-3AD203B41FA5}">
                      <a16:colId xmlns:a16="http://schemas.microsoft.com/office/drawing/2014/main" val="3056375871"/>
                    </a:ext>
                  </a:extLst>
                </a:gridCol>
                <a:gridCol w="2214563">
                  <a:extLst>
                    <a:ext uri="{9D8B030D-6E8A-4147-A177-3AD203B41FA5}">
                      <a16:colId xmlns:a16="http://schemas.microsoft.com/office/drawing/2014/main" val="15873492"/>
                    </a:ext>
                  </a:extLst>
                </a:gridCol>
                <a:gridCol w="2214563">
                  <a:extLst>
                    <a:ext uri="{9D8B030D-6E8A-4147-A177-3AD203B41FA5}">
                      <a16:colId xmlns:a16="http://schemas.microsoft.com/office/drawing/2014/main" val="1248080540"/>
                    </a:ext>
                  </a:extLst>
                </a:gridCol>
              </a:tblGrid>
              <a:tr h="393427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u="none" strike="noStrike">
                          <a:solidFill>
                            <a:schemeClr val="bg1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구분</a:t>
                      </a:r>
                      <a:endParaRPr lang="ko-KR" altLang="en-US" sz="1200" b="1" i="0" u="none" strike="noStrike">
                        <a:solidFill>
                          <a:schemeClr val="bg1"/>
                        </a:solidFill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u="none" strike="noStrike">
                          <a:solidFill>
                            <a:schemeClr val="bg1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시나리오 </a:t>
                      </a:r>
                      <a: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A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u="none" strike="noStrike">
                          <a:solidFill>
                            <a:schemeClr val="bg1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시나리오 </a:t>
                      </a:r>
                      <a: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B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u="none" strike="noStrike">
                          <a:solidFill>
                            <a:schemeClr val="bg1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시나리오 </a:t>
                      </a:r>
                      <a: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C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159077"/>
                  </a:ext>
                </a:extLst>
              </a:tr>
              <a:tr h="393427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전체 운영 자금</a:t>
                      </a:r>
                      <a:endParaRPr lang="en-US" sz="1200" b="1" i="0" u="none" strike="noStrike"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1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900 </a:t>
                      </a:r>
                      <a:r>
                        <a:rPr lang="ko-KR" altLang="en-US" sz="1200" b="1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억 원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200" b="0" i="0" u="none" strike="noStrike"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200" b="0" i="0" u="none" strike="noStrike"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7478223"/>
                  </a:ext>
                </a:extLst>
              </a:tr>
              <a:tr h="393427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외화</a:t>
                      </a:r>
                      <a:endParaRPr lang="en-US" sz="1200" b="1" i="0" u="none" strike="noStrike"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비중</a:t>
                      </a:r>
                      <a:endParaRPr lang="ko-KR" altLang="en-US" sz="1200" b="1" i="0" u="none" strike="noStrike"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1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25%</a:t>
                      </a:r>
                      <a:endParaRPr lang="en-US" altLang="ko-KR" sz="1200" b="1" i="0" u="none" strike="noStrike"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1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30%</a:t>
                      </a:r>
                      <a:endParaRPr lang="en-US" altLang="ko-KR" sz="1200" b="1" i="0" u="none" strike="noStrike"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1" u="none" strike="noStrike" dirty="0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35%</a:t>
                      </a:r>
                      <a:endParaRPr lang="en-US" altLang="ko-KR" sz="1200" b="1" i="0" u="none" strike="noStrike" dirty="0"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361582"/>
                  </a:ext>
                </a:extLst>
              </a:tr>
              <a:tr h="39342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금액 </a:t>
                      </a:r>
                      <a:r>
                        <a:rPr lang="en-US" altLang="ko-KR" sz="1200" b="1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(USD)</a:t>
                      </a:r>
                      <a:endParaRPr lang="en-US" sz="1200" b="1" i="0" u="none" strike="noStrike"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1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$ 16</a:t>
                      </a:r>
                      <a:r>
                        <a:rPr lang="ko-KR" altLang="en-US" sz="1200" b="1" u="none" strike="noStrike" err="1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백만불</a:t>
                      </a:r>
                      <a:endParaRPr lang="ko-KR" altLang="en-US" sz="1200" b="1" i="0" u="none" strike="noStrike"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1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$ 19</a:t>
                      </a:r>
                      <a:r>
                        <a:rPr lang="ko-KR" altLang="en-US" sz="1200" b="1" u="none" strike="noStrike" err="1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백만불</a:t>
                      </a:r>
                      <a:endParaRPr lang="ko-KR" altLang="en-US" sz="1200" b="1" i="0" u="none" strike="noStrike"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1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$ 22</a:t>
                      </a:r>
                      <a:r>
                        <a:rPr lang="ko-KR" altLang="en-US" sz="1200" b="1" u="none" strike="noStrike" err="1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백만불</a:t>
                      </a:r>
                      <a:endParaRPr lang="ko-KR" altLang="en-US" sz="1200" b="1" i="0" u="none" strike="noStrike"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1051219"/>
                  </a:ext>
                </a:extLst>
              </a:tr>
              <a:tr h="433832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원화 환산 금액</a:t>
                      </a:r>
                      <a:endParaRPr lang="en-US" altLang="ko-KR" sz="1200" b="1" i="0" u="none" strike="noStrike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ko-KR" sz="1200" b="1" i="0" u="none" strike="noStrike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(KRW)</a:t>
                      </a:r>
                      <a:endParaRPr lang="en-US" sz="1200" b="1" i="0" u="none" strike="noStrike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1" u="none" strike="noStrike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225</a:t>
                      </a:r>
                      <a:r>
                        <a:rPr lang="ko-KR" altLang="en-US" sz="1200" b="1" u="none" strike="noStrike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억원</a:t>
                      </a:r>
                      <a:endParaRPr lang="ko-KR" altLang="en-US" sz="1200" b="1" i="0" u="none" strike="noStrike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1" u="none" strike="noStrike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270</a:t>
                      </a:r>
                      <a:r>
                        <a:rPr lang="ko-KR" altLang="en-US" sz="1200" b="1" u="none" strike="noStrike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억원</a:t>
                      </a:r>
                      <a:endParaRPr lang="ko-KR" altLang="en-US" sz="1200" b="1" i="0" u="none" strike="noStrike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1" u="none" strike="noStrike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315</a:t>
                      </a:r>
                      <a:r>
                        <a:rPr lang="ko-KR" altLang="en-US" sz="1200" b="1" u="none" strike="noStrike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억원</a:t>
                      </a:r>
                      <a:endParaRPr lang="ko-KR" altLang="en-US" sz="1200" b="1" i="0" u="none" strike="noStrike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605417"/>
                  </a:ext>
                </a:extLst>
              </a:tr>
              <a:tr h="393427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예상 </a:t>
                      </a:r>
                      <a:r>
                        <a:rPr lang="ko-KR" altLang="en-US" sz="1200" b="1" u="none" strike="noStrike" err="1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영업외손익</a:t>
                      </a:r>
                      <a:r>
                        <a:rPr lang="ko-KR" altLang="en-US" sz="1200" b="1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 영향</a:t>
                      </a:r>
                      <a:endParaRPr lang="ko-KR" altLang="en-US" sz="1200" b="1" i="0" u="none" strike="noStrike"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1" u="none" strike="noStrike">
                          <a:solidFill>
                            <a:srgbClr val="FF0000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± 5</a:t>
                      </a:r>
                      <a:r>
                        <a:rPr lang="ko-KR" altLang="en-US" sz="1200" b="1" u="none" strike="noStrike">
                          <a:solidFill>
                            <a:srgbClr val="FF0000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억원</a:t>
                      </a:r>
                      <a:endParaRPr lang="ko-KR" altLang="en-US" sz="1200" b="1" i="0" u="none" strike="noStrike">
                        <a:solidFill>
                          <a:srgbClr val="FF0000"/>
                        </a:solidFill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1" u="none" strike="noStrike">
                          <a:solidFill>
                            <a:srgbClr val="FF0000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± 10</a:t>
                      </a:r>
                      <a:r>
                        <a:rPr lang="ko-KR" altLang="en-US" sz="1200" b="1" u="none" strike="noStrike">
                          <a:solidFill>
                            <a:srgbClr val="FF0000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억원</a:t>
                      </a:r>
                      <a:endParaRPr lang="ko-KR" altLang="en-US" sz="1200" b="1" i="0" u="none" strike="noStrike">
                        <a:solidFill>
                          <a:srgbClr val="FF0000"/>
                        </a:solidFill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1" u="none" strike="noStrike" dirty="0">
                          <a:solidFill>
                            <a:srgbClr val="FF0000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± 15</a:t>
                      </a:r>
                      <a:r>
                        <a:rPr lang="ko-KR" altLang="en-US" sz="1200" b="1" u="none" strike="noStrike" dirty="0">
                          <a:solidFill>
                            <a:srgbClr val="FF0000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억원</a:t>
                      </a:r>
                      <a:endParaRPr lang="ko-KR" alt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30212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6467567-75B0-2870-14B6-0B364990598E}"/>
              </a:ext>
            </a:extLst>
          </p:cNvPr>
          <p:cNvSpPr txBox="1"/>
          <p:nvPr/>
        </p:nvSpPr>
        <p:spPr>
          <a:xfrm>
            <a:off x="1666874" y="1547518"/>
            <a:ext cx="7857756" cy="1947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>
              <a:buNone/>
            </a:pPr>
            <a:r>
              <a:rPr lang="ko-KR" altLang="en-US" b="1">
                <a:solidFill>
                  <a:srgbClr val="002060"/>
                </a:solidFill>
                <a:latin typeface="Freesentation 6 SemiBold" pitchFamily="2" charset="-127"/>
                <a:ea typeface="Freesentation 6 SemiBold" pitchFamily="2" charset="-127"/>
              </a:rPr>
              <a:t>주요 가정</a:t>
            </a:r>
            <a:endParaRPr lang="en-US" altLang="ko-KR" b="1">
              <a:solidFill>
                <a:srgbClr val="002060"/>
              </a:solidFill>
              <a:latin typeface="Freesentation 6 SemiBold" pitchFamily="2" charset="-127"/>
              <a:ea typeface="Freesentation 6 SemiBold" pitchFamily="2" charset="-127"/>
            </a:endParaRPr>
          </a:p>
          <a:p>
            <a:pPr marL="266700" indent="0">
              <a:lnSpc>
                <a:spcPct val="150000"/>
              </a:lnSpc>
              <a:buNone/>
            </a:pPr>
            <a:r>
              <a:rPr lang="ko-KR" altLang="en-US" sz="1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외화 비중에 따른</a:t>
            </a:r>
            <a:r>
              <a:rPr lang="en-US" altLang="ko-KR" sz="1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ko-KR" altLang="en-US" sz="1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환율 증감 시 발생하는 </a:t>
            </a:r>
            <a:r>
              <a:rPr lang="ko-KR" altLang="en-US" sz="140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영업외</a:t>
            </a:r>
            <a:r>
              <a:rPr lang="ko-KR" altLang="en-US" sz="1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손익 영향도 시뮬레이션</a:t>
            </a:r>
            <a:endParaRPr lang="en-US" altLang="ko-KR" sz="14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266700" inden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전체 운영 자금</a:t>
            </a:r>
            <a:r>
              <a:rPr lang="en-US" altLang="ko-KR" sz="1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: 900</a:t>
            </a:r>
            <a:r>
              <a:rPr lang="ko-KR" altLang="en-US" sz="1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억원</a:t>
            </a:r>
            <a:endParaRPr lang="en-US" altLang="ko-KR" sz="14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266700" inden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기준 환율</a:t>
            </a:r>
            <a:r>
              <a:rPr lang="en-US" altLang="ko-KR" sz="1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: 1,430</a:t>
            </a:r>
            <a:r>
              <a:rPr lang="ko-KR" altLang="en-US" sz="1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원</a:t>
            </a:r>
          </a:p>
          <a:p>
            <a:pPr marL="266700" inden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환율 변동 시나리오</a:t>
            </a:r>
            <a:r>
              <a:rPr lang="en-US" altLang="ko-KR" sz="1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: </a:t>
            </a:r>
            <a:r>
              <a:rPr lang="ko-KR" altLang="en-US" sz="1400">
                <a:highlight>
                  <a:srgbClr val="FFFF00"/>
                </a:highligh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환율 </a:t>
            </a:r>
            <a:r>
              <a:rPr lang="en-US" altLang="ko-KR" sz="1400">
                <a:highlight>
                  <a:srgbClr val="FFFF00"/>
                </a:highligh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±50</a:t>
            </a:r>
            <a:r>
              <a:rPr lang="ko-KR" altLang="en-US" sz="1400">
                <a:highlight>
                  <a:srgbClr val="FFFF00"/>
                </a:highligh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원 가정</a:t>
            </a:r>
            <a:r>
              <a:rPr lang="ko-KR" altLang="en-US" sz="1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en-US" altLang="ko-KR" sz="1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</a:t>
            </a:r>
            <a:r>
              <a:rPr lang="ko-KR" altLang="en-US" sz="1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변동 후 환율 </a:t>
            </a:r>
            <a:r>
              <a:rPr lang="en-US" altLang="ko-KR" sz="1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1,380</a:t>
            </a:r>
            <a:r>
              <a:rPr lang="ko-KR" altLang="en-US" sz="1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원</a:t>
            </a:r>
            <a:r>
              <a:rPr lang="en-US" altLang="ko-KR" sz="1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)</a:t>
            </a:r>
          </a:p>
          <a:p>
            <a:pPr marL="266700" inden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ko-KR" altLang="en-US" sz="1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단</a:t>
            </a:r>
            <a:r>
              <a:rPr lang="en-US" altLang="ko-KR" sz="1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1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외화 비중에 따라 감내 가능한 손익 한도 초과 가능성 존재</a:t>
            </a:r>
            <a:endParaRPr lang="en-US" altLang="ko-KR" sz="140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174FB9-329E-C9D6-CAB2-BE056A4C1E8D}"/>
              </a:ext>
            </a:extLst>
          </p:cNvPr>
          <p:cNvSpPr txBox="1"/>
          <p:nvPr/>
        </p:nvSpPr>
        <p:spPr>
          <a:xfrm>
            <a:off x="1666874" y="3658422"/>
            <a:ext cx="6743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>
                <a:solidFill>
                  <a:srgbClr val="002060"/>
                </a:solidFill>
                <a:latin typeface="Freesentation 6 SemiBold" pitchFamily="2" charset="-127"/>
                <a:ea typeface="Freesentation 6 SemiBold" pitchFamily="2" charset="-127"/>
              </a:rPr>
              <a:t>외화 비중 </a:t>
            </a:r>
            <a:r>
              <a:rPr lang="en-US" altLang="ko-KR" sz="1800" b="1">
                <a:solidFill>
                  <a:srgbClr val="002060"/>
                </a:solidFill>
                <a:latin typeface="Freesentation 6 SemiBold" pitchFamily="2" charset="-127"/>
                <a:ea typeface="Freesentation 6 SemiBold" pitchFamily="2" charset="-127"/>
              </a:rPr>
              <a:t>5%p </a:t>
            </a:r>
            <a:r>
              <a:rPr lang="ko-KR" altLang="en-US" sz="1800" b="1">
                <a:solidFill>
                  <a:srgbClr val="002060"/>
                </a:solidFill>
                <a:latin typeface="Freesentation 6 SemiBold" pitchFamily="2" charset="-127"/>
                <a:ea typeface="Freesentation 6 SemiBold" pitchFamily="2" charset="-127"/>
              </a:rPr>
              <a:t>증가 시</a:t>
            </a:r>
            <a:r>
              <a:rPr lang="en-US" altLang="ko-KR" sz="1800" b="1">
                <a:solidFill>
                  <a:srgbClr val="002060"/>
                </a:solidFill>
                <a:latin typeface="Freesentation 6 SemiBold" pitchFamily="2" charset="-127"/>
                <a:ea typeface="Freesentation 6 SemiBold" pitchFamily="2" charset="-127"/>
              </a:rPr>
              <a:t>,</a:t>
            </a:r>
            <a:r>
              <a:rPr lang="ko-KR" altLang="en-US" sz="1800" b="1">
                <a:solidFill>
                  <a:srgbClr val="002060"/>
                </a:solidFill>
                <a:latin typeface="Freesentation 6 SemiBold" pitchFamily="2" charset="-127"/>
                <a:ea typeface="Freesentation 6 SemiBold" pitchFamily="2" charset="-127"/>
              </a:rPr>
              <a:t> 환율 변동 리스크 노출액</a:t>
            </a:r>
            <a:r>
              <a:rPr lang="ko-KR" altLang="en-US" b="1">
                <a:solidFill>
                  <a:srgbClr val="002060"/>
                </a:solidFill>
                <a:latin typeface="Freesentation 6 SemiBold" pitchFamily="2" charset="-127"/>
                <a:ea typeface="Freesentation 6 SemiBold" pitchFamily="2" charset="-127"/>
              </a:rPr>
              <a:t>이 </a:t>
            </a:r>
            <a:r>
              <a:rPr lang="en-US" altLang="ko-KR" b="1">
                <a:solidFill>
                  <a:srgbClr val="002060"/>
                </a:solidFill>
                <a:latin typeface="Freesentation 6 SemiBold" pitchFamily="2" charset="-127"/>
                <a:ea typeface="Freesentation 6 SemiBold" pitchFamily="2" charset="-127"/>
              </a:rPr>
              <a:t>50</a:t>
            </a:r>
            <a:r>
              <a:rPr lang="ko-KR" altLang="en-US" b="1">
                <a:solidFill>
                  <a:srgbClr val="002060"/>
                </a:solidFill>
                <a:latin typeface="Freesentation 6 SemiBold" pitchFamily="2" charset="-127"/>
                <a:ea typeface="Freesentation 6 SemiBold" pitchFamily="2" charset="-127"/>
              </a:rPr>
              <a:t>원 변동 기준 </a:t>
            </a:r>
            <a:r>
              <a:rPr lang="en-US" altLang="ko-KR" b="1">
                <a:solidFill>
                  <a:srgbClr val="002060"/>
                </a:solidFill>
                <a:latin typeface="Freesentation 6 SemiBold" pitchFamily="2" charset="-127"/>
                <a:ea typeface="Freesentation 6 SemiBold" pitchFamily="2" charset="-127"/>
              </a:rPr>
              <a:t>±5</a:t>
            </a:r>
            <a:r>
              <a:rPr lang="ko-KR" altLang="en-US" b="1">
                <a:solidFill>
                  <a:srgbClr val="002060"/>
                </a:solidFill>
                <a:latin typeface="Freesentation 6 SemiBold" pitchFamily="2" charset="-127"/>
                <a:ea typeface="Freesentation 6 SemiBold" pitchFamily="2" charset="-127"/>
              </a:rPr>
              <a:t>억 원 증감</a:t>
            </a:r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42B2C9-AD66-FF20-9AD6-8E508E862274}"/>
              </a:ext>
            </a:extLst>
          </p:cNvPr>
          <p:cNvSpPr txBox="1"/>
          <p:nvPr/>
        </p:nvSpPr>
        <p:spPr>
          <a:xfrm>
            <a:off x="1666874" y="6428724"/>
            <a:ext cx="67437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rgbClr val="002060"/>
                </a:solidFill>
                <a:latin typeface="Freesentation 6 SemiBold" pitchFamily="2" charset="-127"/>
                <a:ea typeface="Freesentation 6 SemiBold" pitchFamily="2" charset="-127"/>
              </a:rPr>
              <a:t>외화 </a:t>
            </a:r>
            <a:r>
              <a:rPr lang="en-US" altLang="ko-KR" sz="1200" b="1" dirty="0">
                <a:solidFill>
                  <a:srgbClr val="002060"/>
                </a:solidFill>
                <a:latin typeface="Freesentation 6 SemiBold" pitchFamily="2" charset="-127"/>
                <a:ea typeface="Freesentation 6 SemiBold" pitchFamily="2" charset="-127"/>
              </a:rPr>
              <a:t>$4</a:t>
            </a:r>
            <a:r>
              <a:rPr lang="ko-KR" altLang="en-US" sz="1200" b="1" dirty="0" err="1">
                <a:solidFill>
                  <a:srgbClr val="002060"/>
                </a:solidFill>
                <a:latin typeface="Freesentation 6 SemiBold" pitchFamily="2" charset="-127"/>
                <a:ea typeface="Freesentation 6 SemiBold" pitchFamily="2" charset="-127"/>
              </a:rPr>
              <a:t>백만불</a:t>
            </a:r>
            <a:r>
              <a:rPr lang="ko-KR" altLang="en-US" sz="1200" b="1" dirty="0">
                <a:solidFill>
                  <a:srgbClr val="002060"/>
                </a:solidFill>
                <a:latin typeface="Freesentation 6 SemiBold" pitchFamily="2" charset="-127"/>
                <a:ea typeface="Freesentation 6 SemiBold" pitchFamily="2" charset="-127"/>
              </a:rPr>
              <a:t> 누적 </a:t>
            </a:r>
            <a:r>
              <a:rPr lang="ko-KR" altLang="en-US" sz="1200" b="1" dirty="0" err="1">
                <a:solidFill>
                  <a:srgbClr val="002060"/>
                </a:solidFill>
                <a:latin typeface="Freesentation 6 SemiBold" pitchFamily="2" charset="-127"/>
                <a:ea typeface="Freesentation 6 SemiBold" pitchFamily="2" charset="-127"/>
              </a:rPr>
              <a:t>고려시</a:t>
            </a:r>
            <a:r>
              <a:rPr lang="en-US" altLang="ko-KR" sz="1200" b="1" dirty="0">
                <a:solidFill>
                  <a:srgbClr val="002060"/>
                </a:solidFill>
                <a:latin typeface="Freesentation 6 SemiBold" pitchFamily="2" charset="-127"/>
                <a:ea typeface="Freesentation 6 SemiBold" pitchFamily="2" charset="-127"/>
              </a:rPr>
              <a:t>, </a:t>
            </a:r>
            <a:r>
              <a:rPr lang="ko-KR" altLang="en-US" sz="1200" b="1" dirty="0">
                <a:solidFill>
                  <a:srgbClr val="002060"/>
                </a:solidFill>
                <a:latin typeface="Freesentation 6 SemiBold" pitchFamily="2" charset="-127"/>
                <a:ea typeface="Freesentation 6 SemiBold" pitchFamily="2" charset="-127"/>
              </a:rPr>
              <a:t>필요기간</a:t>
            </a:r>
            <a:r>
              <a:rPr lang="en-US" altLang="ko-KR" sz="1200" b="1" dirty="0">
                <a:solidFill>
                  <a:srgbClr val="002060"/>
                </a:solidFill>
                <a:latin typeface="Freesentation 6 SemiBold" pitchFamily="2" charset="-127"/>
                <a:ea typeface="Freesentation 6 SemiBold" pitchFamily="2" charset="-127"/>
              </a:rPr>
              <a:t>(</a:t>
            </a:r>
            <a:r>
              <a:rPr lang="ko-KR" altLang="en-US" sz="1200" b="1" dirty="0">
                <a:solidFill>
                  <a:srgbClr val="002060"/>
                </a:solidFill>
                <a:latin typeface="Freesentation 6 SemiBold" pitchFamily="2" charset="-127"/>
                <a:ea typeface="Freesentation 6 SemiBold" pitchFamily="2" charset="-127"/>
              </a:rPr>
              <a:t>외화 </a:t>
            </a:r>
            <a:r>
              <a:rPr lang="en-US" altLang="ko-KR" sz="1200" b="1" dirty="0">
                <a:solidFill>
                  <a:srgbClr val="002060"/>
                </a:solidFill>
                <a:latin typeface="Freesentation 6 SemiBold" pitchFamily="2" charset="-127"/>
                <a:ea typeface="Freesentation 6 SemiBold" pitchFamily="2" charset="-127"/>
              </a:rPr>
              <a:t>In, Out </a:t>
            </a:r>
            <a:r>
              <a:rPr lang="ko-KR" altLang="en-US" sz="1200" b="1" dirty="0">
                <a:solidFill>
                  <a:srgbClr val="002060"/>
                </a:solidFill>
                <a:latin typeface="Freesentation 6 SemiBold" pitchFamily="2" charset="-127"/>
                <a:ea typeface="Freesentation 6 SemiBold" pitchFamily="2" charset="-127"/>
              </a:rPr>
              <a:t>고려</a:t>
            </a:r>
            <a:r>
              <a:rPr lang="en-US" altLang="ko-KR" sz="1200" b="1" dirty="0">
                <a:solidFill>
                  <a:srgbClr val="002060"/>
                </a:solidFill>
                <a:latin typeface="Freesentation 6 SemiBold" pitchFamily="2" charset="-127"/>
                <a:ea typeface="Freesentation 6 SemiBold" pitchFamily="2" charset="-127"/>
              </a:rPr>
              <a:t>)</a:t>
            </a:r>
            <a:r>
              <a:rPr lang="ko-KR" altLang="en-US" sz="1200" b="1" dirty="0">
                <a:solidFill>
                  <a:srgbClr val="002060"/>
                </a:solidFill>
                <a:latin typeface="Freesentation 6 SemiBold" pitchFamily="2" charset="-127"/>
                <a:ea typeface="Freesentation 6 SemiBold" pitchFamily="2" charset="-127"/>
              </a:rPr>
              <a:t>약 </a:t>
            </a:r>
            <a:r>
              <a:rPr lang="en-US" altLang="ko-KR" sz="1200" b="1" dirty="0">
                <a:solidFill>
                  <a:srgbClr val="002060"/>
                </a:solidFill>
                <a:latin typeface="Freesentation 6 SemiBold" pitchFamily="2" charset="-127"/>
                <a:ea typeface="Freesentation 6 SemiBold" pitchFamily="2" charset="-127"/>
              </a:rPr>
              <a:t>3 </a:t>
            </a:r>
            <a:r>
              <a:rPr lang="ko-KR" altLang="en-US" sz="1200" b="1" dirty="0">
                <a:solidFill>
                  <a:srgbClr val="002060"/>
                </a:solidFill>
                <a:latin typeface="Freesentation 6 SemiBold" pitchFamily="2" charset="-127"/>
                <a:ea typeface="Freesentation 6 SemiBold" pitchFamily="2" charset="-127"/>
              </a:rPr>
              <a:t>개월 소요 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451689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457200"/>
            <a:ext cx="597926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56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메디아나 FX: 초과분 처리방안 및 운용상품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09905" y="952805"/>
            <a:ext cx="457200" cy="38405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81405" y="875995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5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Excess Management &amp; Investment Products</a:t>
            </a:r>
            <a:endParaRPr lang="en-US" sz="1000" dirty="0"/>
          </a:p>
        </p:txBody>
      </p:sp>
      <p:sp>
        <p:nvSpPr>
          <p:cNvPr id="67" name="Shape 45"/>
          <p:cNvSpPr/>
          <p:nvPr/>
        </p:nvSpPr>
        <p:spPr>
          <a:xfrm>
            <a:off x="516786" y="6549561"/>
            <a:ext cx="10972800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46"/>
          <p:cNvSpPr txBox="1"/>
          <p:nvPr/>
        </p:nvSpPr>
        <p:spPr>
          <a:xfrm>
            <a:off x="495605" y="8020202"/>
            <a:ext cx="110871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Selvas Group Treasury Policy 2026</a:t>
            </a:r>
            <a:endParaRPr lang="en-US" sz="900" dirty="0"/>
          </a:p>
        </p:txBody>
      </p: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AEEF9C83-3822-B41B-21BA-034B1DEACF27}"/>
              </a:ext>
            </a:extLst>
          </p:cNvPr>
          <p:cNvGrpSpPr/>
          <p:nvPr/>
        </p:nvGrpSpPr>
        <p:grpSpPr>
          <a:xfrm>
            <a:off x="6493278" y="1295705"/>
            <a:ext cx="5094000" cy="2347799"/>
            <a:chOff x="6739714" y="1295705"/>
            <a:chExt cx="4847563" cy="2941649"/>
          </a:xfrm>
        </p:grpSpPr>
        <p:pic>
          <p:nvPicPr>
            <p:cNvPr id="29" name="Image 12" descr="preencoded.png"/>
            <p:cNvPicPr>
              <a:picLocks noChangeAspect="1"/>
            </p:cNvPicPr>
            <p:nvPr/>
          </p:nvPicPr>
          <p:blipFill>
            <a:blip r:embed="rId3"/>
            <a:srcRect l="-1" r="-1"/>
            <a:stretch/>
          </p:blipFill>
          <p:spPr>
            <a:xfrm>
              <a:off x="6739714" y="1295705"/>
              <a:ext cx="4847563" cy="2941649"/>
            </a:xfrm>
            <a:prstGeom prst="rect">
              <a:avLst/>
            </a:prstGeom>
          </p:spPr>
        </p:pic>
        <p:sp>
          <p:nvSpPr>
            <p:cNvPr id="30" name="Text 15"/>
            <p:cNvSpPr txBox="1"/>
            <p:nvPr/>
          </p:nvSpPr>
          <p:spPr>
            <a:xfrm>
              <a:off x="7263079" y="1495044"/>
              <a:ext cx="2515514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통화별 운용 상품 및 만기 제한 </a:t>
              </a:r>
              <a:endParaRPr lang="en-US" sz="1300" dirty="0"/>
            </a:p>
          </p:txBody>
        </p:sp>
        <p:pic>
          <p:nvPicPr>
            <p:cNvPr id="31" name="Image 13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7015277" y="1543507"/>
              <a:ext cx="171907" cy="171907"/>
            </a:xfrm>
            <a:prstGeom prst="rect">
              <a:avLst/>
            </a:prstGeom>
          </p:spPr>
        </p:pic>
        <p:sp>
          <p:nvSpPr>
            <p:cNvPr id="32" name="Shape 16"/>
            <p:cNvSpPr/>
            <p:nvPr/>
          </p:nvSpPr>
          <p:spPr>
            <a:xfrm>
              <a:off x="7015277" y="2022163"/>
              <a:ext cx="2115007" cy="38405"/>
            </a:xfrm>
            <a:prstGeom prst="rect">
              <a:avLst/>
            </a:prstGeom>
            <a:solidFill>
              <a:srgbClr val="3B82F6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Text 17"/>
            <p:cNvSpPr txBox="1"/>
            <p:nvPr/>
          </p:nvSpPr>
          <p:spPr>
            <a:xfrm>
              <a:off x="7167982" y="2231559"/>
              <a:ext cx="105704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60A5F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USD (미달러)</a:t>
              </a:r>
              <a:endParaRPr lang="en-US" sz="1200" dirty="0"/>
            </a:p>
          </p:txBody>
        </p:sp>
        <p:sp>
          <p:nvSpPr>
            <p:cNvPr id="34" name="Shape 18"/>
            <p:cNvSpPr/>
            <p:nvPr/>
          </p:nvSpPr>
          <p:spPr>
            <a:xfrm>
              <a:off x="8184794" y="2212358"/>
              <a:ext cx="790956" cy="267005"/>
            </a:xfrm>
            <a:prstGeom prst="roundRect">
              <a:avLst>
                <a:gd name="adj" fmla="val 48924"/>
              </a:avLst>
            </a:prstGeom>
            <a:solidFill>
              <a:srgbClr val="1E3A8A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Shape 19"/>
            <p:cNvSpPr/>
            <p:nvPr/>
          </p:nvSpPr>
          <p:spPr>
            <a:xfrm>
              <a:off x="8428939" y="2657623"/>
              <a:ext cx="466344" cy="181051"/>
            </a:xfrm>
            <a:prstGeom prst="roundRect">
              <a:avLst>
                <a:gd name="adj" fmla="val 106327"/>
              </a:avLst>
            </a:prstGeom>
            <a:solidFill>
              <a:srgbClr val="064E3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Shape 20"/>
            <p:cNvSpPr/>
            <p:nvPr/>
          </p:nvSpPr>
          <p:spPr>
            <a:xfrm>
              <a:off x="8311896" y="3067274"/>
              <a:ext cx="590702" cy="181051"/>
            </a:xfrm>
            <a:prstGeom prst="roundRect">
              <a:avLst>
                <a:gd name="adj" fmla="val 106327"/>
              </a:avLst>
            </a:prstGeom>
            <a:solidFill>
              <a:srgbClr val="1E3A8A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Shape 21"/>
            <p:cNvSpPr/>
            <p:nvPr/>
          </p:nvSpPr>
          <p:spPr>
            <a:xfrm>
              <a:off x="8224114" y="3476925"/>
              <a:ext cx="676656" cy="181051"/>
            </a:xfrm>
            <a:prstGeom prst="roundRect">
              <a:avLst>
                <a:gd name="adj" fmla="val 106327"/>
              </a:avLst>
            </a:prstGeom>
            <a:solidFill>
              <a:srgbClr val="78350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Shape 22"/>
            <p:cNvSpPr/>
            <p:nvPr/>
          </p:nvSpPr>
          <p:spPr>
            <a:xfrm>
              <a:off x="9274759" y="2022163"/>
              <a:ext cx="2115007" cy="38405"/>
            </a:xfrm>
            <a:prstGeom prst="rect">
              <a:avLst/>
            </a:prstGeom>
            <a:solidFill>
              <a:srgbClr val="8B5CF6"/>
            </a:solidFill>
            <a:ln w="12700">
              <a:solidFill>
                <a:srgbClr val="8B5CF6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Text 23"/>
            <p:cNvSpPr txBox="1"/>
            <p:nvPr/>
          </p:nvSpPr>
          <p:spPr>
            <a:xfrm>
              <a:off x="9427464" y="2231559"/>
              <a:ext cx="89611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A78BF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EUR (유로)</a:t>
              </a:r>
              <a:endParaRPr lang="en-US" sz="1200" dirty="0"/>
            </a:p>
          </p:txBody>
        </p:sp>
        <p:sp>
          <p:nvSpPr>
            <p:cNvPr id="40" name="Shape 24"/>
            <p:cNvSpPr/>
            <p:nvPr/>
          </p:nvSpPr>
          <p:spPr>
            <a:xfrm>
              <a:off x="10445191" y="2212358"/>
              <a:ext cx="790956" cy="267005"/>
            </a:xfrm>
            <a:prstGeom prst="roundRect">
              <a:avLst>
                <a:gd name="adj" fmla="val 48924"/>
              </a:avLst>
            </a:prstGeom>
            <a:solidFill>
              <a:srgbClr val="4C1D95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Shape 25"/>
            <p:cNvSpPr/>
            <p:nvPr/>
          </p:nvSpPr>
          <p:spPr>
            <a:xfrm>
              <a:off x="10688422" y="2657623"/>
              <a:ext cx="466344" cy="181051"/>
            </a:xfrm>
            <a:prstGeom prst="roundRect">
              <a:avLst>
                <a:gd name="adj" fmla="val 106327"/>
              </a:avLst>
            </a:prstGeom>
            <a:solidFill>
              <a:srgbClr val="064E3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" name="Shape 26"/>
            <p:cNvSpPr/>
            <p:nvPr/>
          </p:nvSpPr>
          <p:spPr>
            <a:xfrm>
              <a:off x="10483596" y="3476925"/>
              <a:ext cx="676656" cy="181051"/>
            </a:xfrm>
            <a:prstGeom prst="roundRect">
              <a:avLst>
                <a:gd name="adj" fmla="val 106327"/>
              </a:avLst>
            </a:prstGeom>
            <a:solidFill>
              <a:srgbClr val="78350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1" name="Text 59"/>
            <p:cNvSpPr txBox="1"/>
            <p:nvPr/>
          </p:nvSpPr>
          <p:spPr>
            <a:xfrm>
              <a:off x="8261604" y="2231559"/>
              <a:ext cx="71506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BFDBFE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비중 81%</a:t>
              </a:r>
              <a:endParaRPr lang="en-US" sz="1200" dirty="0"/>
            </a:p>
          </p:txBody>
        </p:sp>
        <p:sp>
          <p:nvSpPr>
            <p:cNvPr id="82" name="Text 60"/>
            <p:cNvSpPr txBox="1"/>
            <p:nvPr/>
          </p:nvSpPr>
          <p:spPr>
            <a:xfrm>
              <a:off x="7243877" y="2674130"/>
              <a:ext cx="65745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달러 MMDA</a:t>
              </a:r>
              <a:endParaRPr lang="en-US" sz="900" dirty="0"/>
            </a:p>
          </p:txBody>
        </p:sp>
        <p:sp>
          <p:nvSpPr>
            <p:cNvPr id="83" name="Text 61"/>
            <p:cNvSpPr txBox="1"/>
            <p:nvPr/>
          </p:nvSpPr>
          <p:spPr>
            <a:xfrm>
              <a:off x="8486546" y="2688759"/>
              <a:ext cx="428854" cy="143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6EE7B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수시입출</a:t>
              </a:r>
              <a:endParaRPr lang="en-US" sz="800" dirty="0"/>
            </a:p>
          </p:txBody>
        </p:sp>
        <p:sp>
          <p:nvSpPr>
            <p:cNvPr id="84" name="Text 62"/>
            <p:cNvSpPr txBox="1"/>
            <p:nvPr/>
          </p:nvSpPr>
          <p:spPr>
            <a:xfrm>
              <a:off x="7243877" y="3083781"/>
              <a:ext cx="73975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단기국채 ETF</a:t>
              </a:r>
              <a:endParaRPr lang="en-US" sz="900" dirty="0"/>
            </a:p>
          </p:txBody>
        </p:sp>
        <p:sp>
          <p:nvSpPr>
            <p:cNvPr id="85" name="Text 63"/>
            <p:cNvSpPr txBox="1"/>
            <p:nvPr/>
          </p:nvSpPr>
          <p:spPr>
            <a:xfrm>
              <a:off x="8369503" y="3098410"/>
              <a:ext cx="553212" cy="143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93C5FD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만기 ≤ 1년</a:t>
              </a:r>
              <a:endParaRPr lang="en-US" sz="800" dirty="0"/>
            </a:p>
          </p:txBody>
        </p:sp>
        <p:sp>
          <p:nvSpPr>
            <p:cNvPr id="86" name="Text 64"/>
            <p:cNvSpPr txBox="1"/>
            <p:nvPr/>
          </p:nvSpPr>
          <p:spPr>
            <a:xfrm>
              <a:off x="7243877" y="3493431"/>
              <a:ext cx="544068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정기 예금</a:t>
              </a:r>
              <a:endParaRPr lang="en-US" sz="900" dirty="0"/>
            </a:p>
          </p:txBody>
        </p:sp>
        <p:sp>
          <p:nvSpPr>
            <p:cNvPr id="87" name="Text 65"/>
            <p:cNvSpPr txBox="1"/>
            <p:nvPr/>
          </p:nvSpPr>
          <p:spPr>
            <a:xfrm>
              <a:off x="8281721" y="3508062"/>
              <a:ext cx="638251" cy="143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FCD34D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만기 ≤ 6개월</a:t>
              </a:r>
              <a:endParaRPr lang="en-US" sz="800" dirty="0"/>
            </a:p>
          </p:txBody>
        </p:sp>
        <p:sp>
          <p:nvSpPr>
            <p:cNvPr id="88" name="Text 66"/>
            <p:cNvSpPr txBox="1"/>
            <p:nvPr/>
          </p:nvSpPr>
          <p:spPr>
            <a:xfrm>
              <a:off x="10521086" y="2231559"/>
              <a:ext cx="71506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DDD6FE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비중 18%</a:t>
              </a:r>
              <a:endParaRPr lang="en-US" sz="1200" dirty="0"/>
            </a:p>
          </p:txBody>
        </p:sp>
        <p:sp>
          <p:nvSpPr>
            <p:cNvPr id="89" name="Text 67"/>
            <p:cNvSpPr txBox="1"/>
            <p:nvPr/>
          </p:nvSpPr>
          <p:spPr>
            <a:xfrm>
              <a:off x="9503359" y="2674130"/>
              <a:ext cx="65745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유로 MMDA</a:t>
              </a:r>
              <a:endParaRPr lang="en-US" sz="900" dirty="0"/>
            </a:p>
          </p:txBody>
        </p:sp>
        <p:sp>
          <p:nvSpPr>
            <p:cNvPr id="90" name="Text 68"/>
            <p:cNvSpPr txBox="1"/>
            <p:nvPr/>
          </p:nvSpPr>
          <p:spPr>
            <a:xfrm>
              <a:off x="10746029" y="2688759"/>
              <a:ext cx="428854" cy="143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6EE7B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수시입출</a:t>
              </a:r>
              <a:endParaRPr lang="en-US" sz="800" dirty="0"/>
            </a:p>
          </p:txBody>
        </p:sp>
        <p:sp>
          <p:nvSpPr>
            <p:cNvPr id="91" name="Text 69"/>
            <p:cNvSpPr txBox="1"/>
            <p:nvPr/>
          </p:nvSpPr>
          <p:spPr>
            <a:xfrm>
              <a:off x="9503359" y="3493431"/>
              <a:ext cx="544068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정기 예금</a:t>
              </a:r>
              <a:endParaRPr lang="en-US" sz="900" dirty="0"/>
            </a:p>
          </p:txBody>
        </p:sp>
        <p:sp>
          <p:nvSpPr>
            <p:cNvPr id="92" name="Text 70"/>
            <p:cNvSpPr txBox="1"/>
            <p:nvPr/>
          </p:nvSpPr>
          <p:spPr>
            <a:xfrm>
              <a:off x="10541203" y="3508062"/>
              <a:ext cx="638251" cy="143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FCD34D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만기 ≤ 3개월</a:t>
              </a:r>
              <a:endParaRPr lang="en-US" sz="800" dirty="0"/>
            </a:p>
          </p:txBody>
        </p:sp>
        <p:sp>
          <p:nvSpPr>
            <p:cNvPr id="98" name="Shape 76"/>
            <p:cNvSpPr/>
            <p:nvPr/>
          </p:nvSpPr>
          <p:spPr>
            <a:xfrm>
              <a:off x="10863986" y="3067274"/>
              <a:ext cx="295351" cy="181051"/>
            </a:xfrm>
            <a:prstGeom prst="roundRect">
              <a:avLst>
                <a:gd name="adj" fmla="val 106327"/>
              </a:avLst>
            </a:prstGeom>
            <a:solidFill>
              <a:srgbClr val="374151">
                <a:alpha val="5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9" name="Text 77"/>
            <p:cNvSpPr txBox="1"/>
            <p:nvPr/>
          </p:nvSpPr>
          <p:spPr>
            <a:xfrm>
              <a:off x="9503359" y="3083781"/>
              <a:ext cx="544068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>
                      <a:alpha val="50000"/>
                    </a:srgbClr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국채 투자</a:t>
              </a:r>
              <a:endParaRPr lang="en-US" sz="900" dirty="0"/>
            </a:p>
          </p:txBody>
        </p:sp>
        <p:sp>
          <p:nvSpPr>
            <p:cNvPr id="100" name="Text 78"/>
            <p:cNvSpPr txBox="1"/>
            <p:nvPr/>
          </p:nvSpPr>
          <p:spPr>
            <a:xfrm>
              <a:off x="10921594" y="3098410"/>
              <a:ext cx="257861" cy="143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9CA3AF">
                      <a:alpha val="50000"/>
                    </a:srgbClr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불허</a:t>
              </a:r>
              <a:endParaRPr lang="en-US" sz="800" dirty="0"/>
            </a:p>
          </p:txBody>
        </p:sp>
      </p:grpSp>
      <p:pic>
        <p:nvPicPr>
          <p:cNvPr id="103" name="Image 12" descr="preencoded.png">
            <a:extLst>
              <a:ext uri="{FF2B5EF4-FFF2-40B4-BE49-F238E27FC236}">
                <a16:creationId xmlns:a16="http://schemas.microsoft.com/office/drawing/2014/main" id="{E1BFFF3A-BF28-3F72-64A7-BBE810A030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468465" y="1295704"/>
            <a:ext cx="5789034" cy="5163470"/>
          </a:xfrm>
          <a:prstGeom prst="rect">
            <a:avLst/>
          </a:prstGeom>
        </p:spPr>
      </p:pic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28CD3799-F932-97BE-DDC1-29878FCF0692}"/>
              </a:ext>
            </a:extLst>
          </p:cNvPr>
          <p:cNvGrpSpPr/>
          <p:nvPr/>
        </p:nvGrpSpPr>
        <p:grpSpPr>
          <a:xfrm>
            <a:off x="562071" y="1451687"/>
            <a:ext cx="5681453" cy="3191256"/>
            <a:chOff x="792499" y="1495044"/>
            <a:chExt cx="5681453" cy="3191256"/>
          </a:xfrm>
        </p:grpSpPr>
        <p:sp>
          <p:nvSpPr>
            <p:cNvPr id="8" name="Shape 5"/>
            <p:cNvSpPr/>
            <p:nvPr/>
          </p:nvSpPr>
          <p:spPr>
            <a:xfrm>
              <a:off x="809244" y="1837944"/>
              <a:ext cx="5581498" cy="9144"/>
            </a:xfrm>
            <a:prstGeom prst="rect">
              <a:avLst/>
            </a:prstGeom>
            <a:solidFill>
              <a:srgbClr val="374151"/>
            </a:solidFill>
            <a:ln w="12700">
              <a:solidFill>
                <a:srgbClr val="374151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 6"/>
            <p:cNvSpPr txBox="1"/>
            <p:nvPr/>
          </p:nvSpPr>
          <p:spPr>
            <a:xfrm>
              <a:off x="1104595" y="1495044"/>
              <a:ext cx="2025396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Target Band 초과분 처리 </a:t>
              </a:r>
              <a:endParaRPr lang="en-US" sz="1300" dirty="0"/>
            </a:p>
          </p:txBody>
        </p:sp>
        <p:pic>
          <p:nvPicPr>
            <p:cNvPr id="10" name="Image 1" descr="preencoded.png"/>
            <p:cNvPicPr>
              <a:picLocks noChangeAspect="1"/>
            </p:cNvPicPr>
            <p:nvPr/>
          </p:nvPicPr>
          <p:blipFill>
            <a:blip r:embed="rId5"/>
            <a:srcRect l="-1064" r="-1064"/>
            <a:stretch/>
          </p:blipFill>
          <p:spPr>
            <a:xfrm>
              <a:off x="809244" y="1543507"/>
              <a:ext cx="219456" cy="171907"/>
            </a:xfrm>
            <a:prstGeom prst="rect">
              <a:avLst/>
            </a:prstGeom>
          </p:spPr>
        </p:pic>
        <p:pic>
          <p:nvPicPr>
            <p:cNvPr id="11" name="Image 2" descr="preencoded.png"/>
            <p:cNvPicPr>
              <a:picLocks noChangeAspect="1"/>
            </p:cNvPicPr>
            <p:nvPr/>
          </p:nvPicPr>
          <p:blipFill>
            <a:blip r:embed="rId6"/>
            <a:srcRect t="-1" b="-1"/>
            <a:stretch/>
          </p:blipFill>
          <p:spPr>
            <a:xfrm>
              <a:off x="809244" y="2000707"/>
              <a:ext cx="5581498" cy="1143000"/>
            </a:xfrm>
            <a:prstGeom prst="rect">
              <a:avLst/>
            </a:prstGeom>
          </p:spPr>
        </p:pic>
        <p:sp>
          <p:nvSpPr>
            <p:cNvPr id="12" name="Text 7"/>
            <p:cNvSpPr txBox="1"/>
            <p:nvPr/>
          </p:nvSpPr>
          <p:spPr>
            <a:xfrm>
              <a:off x="972007" y="2162556"/>
              <a:ext cx="243779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Option A: 월 분할 환전 (Spot)</a:t>
              </a:r>
              <a:endParaRPr lang="en-US" sz="1200" dirty="0"/>
            </a:p>
          </p:txBody>
        </p:sp>
        <p:sp>
          <p:nvSpPr>
            <p:cNvPr id="13" name="Text 8"/>
            <p:cNvSpPr txBox="1"/>
            <p:nvPr/>
          </p:nvSpPr>
          <p:spPr>
            <a:xfrm>
              <a:off x="972007" y="2391156"/>
              <a:ext cx="222199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3C5FD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시장 충격 최소화 및 원화 유동성 확보</a:t>
              </a:r>
              <a:endParaRPr lang="en-US" sz="900" dirty="0"/>
            </a:p>
          </p:txBody>
        </p:sp>
        <p:sp>
          <p:nvSpPr>
            <p:cNvPr id="14" name="Shape 9"/>
            <p:cNvSpPr/>
            <p:nvPr/>
          </p:nvSpPr>
          <p:spPr>
            <a:xfrm>
              <a:off x="5919826" y="2162556"/>
              <a:ext cx="304495" cy="304495"/>
            </a:xfrm>
            <a:prstGeom prst="ellipse">
              <a:avLst/>
            </a:prstGeom>
            <a:solidFill>
              <a:srgbClr val="1E3A8A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5" name="Image 3" descr="preencoded.png"/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6005779" y="2247595"/>
              <a:ext cx="133502" cy="133502"/>
            </a:xfrm>
            <a:prstGeom prst="rect">
              <a:avLst/>
            </a:prstGeom>
          </p:spPr>
        </p:pic>
        <p:pic>
          <p:nvPicPr>
            <p:cNvPr id="16" name="Image 4" descr="preencoded.png"/>
            <p:cNvPicPr>
              <a:picLocks noChangeAspect="1"/>
            </p:cNvPicPr>
            <p:nvPr/>
          </p:nvPicPr>
          <p:blipFill>
            <a:blip r:embed="rId8"/>
            <a:srcRect l="-2571" r="-2571"/>
            <a:stretch/>
          </p:blipFill>
          <p:spPr>
            <a:xfrm>
              <a:off x="1009498" y="2638044"/>
              <a:ext cx="105156" cy="114300"/>
            </a:xfrm>
            <a:prstGeom prst="rect">
              <a:avLst/>
            </a:prstGeom>
          </p:spPr>
        </p:pic>
        <p:pic>
          <p:nvPicPr>
            <p:cNvPr id="17" name="Image 5" descr="preencoded.png"/>
            <p:cNvPicPr>
              <a:picLocks noChangeAspect="1"/>
            </p:cNvPicPr>
            <p:nvPr/>
          </p:nvPicPr>
          <p:blipFill>
            <a:blip r:embed="rId8"/>
            <a:srcRect l="-2571" r="-2571"/>
            <a:stretch/>
          </p:blipFill>
          <p:spPr>
            <a:xfrm>
              <a:off x="1009498" y="2848356"/>
              <a:ext cx="105156" cy="114300"/>
            </a:xfrm>
            <a:prstGeom prst="rect">
              <a:avLst/>
            </a:prstGeom>
          </p:spPr>
        </p:pic>
        <p:pic>
          <p:nvPicPr>
            <p:cNvPr id="18" name="Image 6" descr="preencoded.png"/>
            <p:cNvPicPr>
              <a:picLocks noChangeAspect="1"/>
            </p:cNvPicPr>
            <p:nvPr/>
          </p:nvPicPr>
          <p:blipFill>
            <a:blip r:embed="rId6"/>
            <a:srcRect t="-1" b="-1"/>
            <a:stretch/>
          </p:blipFill>
          <p:spPr>
            <a:xfrm>
              <a:off x="792499" y="3543300"/>
              <a:ext cx="5581498" cy="1143000"/>
            </a:xfrm>
            <a:prstGeom prst="rect">
              <a:avLst/>
            </a:prstGeom>
          </p:spPr>
        </p:pic>
        <p:sp>
          <p:nvSpPr>
            <p:cNvPr id="19" name="Text 10"/>
            <p:cNvSpPr txBox="1"/>
            <p:nvPr/>
          </p:nvSpPr>
          <p:spPr>
            <a:xfrm>
              <a:off x="955262" y="3705148"/>
              <a:ext cx="27203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Option B: 선물환 롤링 (Forward)</a:t>
              </a:r>
              <a:endParaRPr lang="en-US" sz="1200" dirty="0"/>
            </a:p>
          </p:txBody>
        </p:sp>
        <p:sp>
          <p:nvSpPr>
            <p:cNvPr id="20" name="Text 11"/>
            <p:cNvSpPr txBox="1"/>
            <p:nvPr/>
          </p:nvSpPr>
          <p:spPr>
            <a:xfrm>
              <a:off x="955262" y="3933748"/>
              <a:ext cx="246888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C4B5FD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환율 고정 및 포지션 이연</a:t>
              </a:r>
              <a:endParaRPr lang="en-US" sz="900" dirty="0"/>
            </a:p>
          </p:txBody>
        </p:sp>
        <p:sp>
          <p:nvSpPr>
            <p:cNvPr id="21" name="Shape 12"/>
            <p:cNvSpPr/>
            <p:nvPr/>
          </p:nvSpPr>
          <p:spPr>
            <a:xfrm>
              <a:off x="5903081" y="3705148"/>
              <a:ext cx="304495" cy="304495"/>
            </a:xfrm>
            <a:prstGeom prst="ellipse">
              <a:avLst/>
            </a:prstGeom>
            <a:solidFill>
              <a:srgbClr val="4C1D95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2" name="Image 7" descr="preencoded.png"/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5989034" y="3791102"/>
              <a:ext cx="133502" cy="133502"/>
            </a:xfrm>
            <a:prstGeom prst="rect">
              <a:avLst/>
            </a:prstGeom>
          </p:spPr>
        </p:pic>
        <p:pic>
          <p:nvPicPr>
            <p:cNvPr id="23" name="Image 8" descr="preencoded.png"/>
            <p:cNvPicPr>
              <a:picLocks noChangeAspect="1"/>
            </p:cNvPicPr>
            <p:nvPr/>
          </p:nvPicPr>
          <p:blipFill>
            <a:blip r:embed="rId8"/>
            <a:srcRect l="-2571" r="-2571"/>
            <a:stretch/>
          </p:blipFill>
          <p:spPr>
            <a:xfrm>
              <a:off x="992753" y="4181551"/>
              <a:ext cx="105156" cy="114300"/>
            </a:xfrm>
            <a:prstGeom prst="rect">
              <a:avLst/>
            </a:prstGeom>
          </p:spPr>
        </p:pic>
        <p:pic>
          <p:nvPicPr>
            <p:cNvPr id="24" name="Image 9" descr="preencoded.png"/>
            <p:cNvPicPr>
              <a:picLocks noChangeAspect="1"/>
            </p:cNvPicPr>
            <p:nvPr/>
          </p:nvPicPr>
          <p:blipFill>
            <a:blip r:embed="rId8"/>
            <a:srcRect l="-2571" r="-2571"/>
            <a:stretch/>
          </p:blipFill>
          <p:spPr>
            <a:xfrm>
              <a:off x="992753" y="4390948"/>
              <a:ext cx="105156" cy="114300"/>
            </a:xfrm>
            <a:prstGeom prst="rect">
              <a:avLst/>
            </a:prstGeom>
          </p:spPr>
        </p:pic>
        <p:sp>
          <p:nvSpPr>
            <p:cNvPr id="70" name="Text 48"/>
            <p:cNvSpPr txBox="1"/>
            <p:nvPr/>
          </p:nvSpPr>
          <p:spPr>
            <a:xfrm>
              <a:off x="1190549" y="2609698"/>
              <a:ext cx="635508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실행 기준:</a:t>
              </a:r>
              <a:endParaRPr lang="en-US" sz="900" dirty="0"/>
            </a:p>
          </p:txBody>
        </p:sp>
        <p:sp>
          <p:nvSpPr>
            <p:cNvPr id="71" name="Text 49"/>
            <p:cNvSpPr txBox="1"/>
            <p:nvPr/>
          </p:nvSpPr>
          <p:spPr>
            <a:xfrm>
              <a:off x="1680667" y="2609698"/>
              <a:ext cx="169621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월 평균 USD 유입액 고려하여</a:t>
              </a:r>
              <a:endParaRPr lang="en-US" sz="900" dirty="0"/>
            </a:p>
          </p:txBody>
        </p:sp>
        <p:sp>
          <p:nvSpPr>
            <p:cNvPr id="72" name="Text 50"/>
            <p:cNvSpPr txBox="1"/>
            <p:nvPr/>
          </p:nvSpPr>
          <p:spPr>
            <a:xfrm>
              <a:off x="3151937" y="2609698"/>
              <a:ext cx="80924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3C5FD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N회 분할 매도</a:t>
              </a:r>
              <a:endParaRPr lang="en-US" sz="900" dirty="0"/>
            </a:p>
          </p:txBody>
        </p:sp>
        <p:sp>
          <p:nvSpPr>
            <p:cNvPr id="73" name="Text 51"/>
            <p:cNvSpPr txBox="1"/>
            <p:nvPr/>
          </p:nvSpPr>
          <p:spPr>
            <a:xfrm>
              <a:off x="1190549" y="2819095"/>
              <a:ext cx="32461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장점:</a:t>
              </a:r>
              <a:endParaRPr lang="en-US" sz="900" dirty="0"/>
            </a:p>
          </p:txBody>
        </p:sp>
        <p:sp>
          <p:nvSpPr>
            <p:cNvPr id="74" name="Text 52"/>
            <p:cNvSpPr txBox="1"/>
            <p:nvPr/>
          </p:nvSpPr>
          <p:spPr>
            <a:xfrm>
              <a:off x="1438351" y="2819095"/>
              <a:ext cx="231617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평균단가 효과(Smoothing), 즉시 현금화</a:t>
              </a:r>
              <a:endParaRPr lang="en-US" sz="900" dirty="0"/>
            </a:p>
          </p:txBody>
        </p:sp>
        <p:sp>
          <p:nvSpPr>
            <p:cNvPr id="75" name="Text 53"/>
            <p:cNvSpPr txBox="1"/>
            <p:nvPr/>
          </p:nvSpPr>
          <p:spPr>
            <a:xfrm>
              <a:off x="1173804" y="4153204"/>
              <a:ext cx="635508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실행 기준:</a:t>
              </a:r>
              <a:endParaRPr lang="en-US" sz="900" dirty="0"/>
            </a:p>
          </p:txBody>
        </p:sp>
        <p:sp>
          <p:nvSpPr>
            <p:cNvPr id="76" name="Text 54"/>
            <p:cNvSpPr txBox="1"/>
            <p:nvPr/>
          </p:nvSpPr>
          <p:spPr>
            <a:xfrm>
              <a:off x="1663922" y="4153204"/>
              <a:ext cx="1046988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환율 상승 기대 시</a:t>
              </a:r>
              <a:endParaRPr lang="en-US" sz="900" dirty="0"/>
            </a:p>
          </p:txBody>
        </p:sp>
        <p:sp>
          <p:nvSpPr>
            <p:cNvPr id="77" name="Text 55"/>
            <p:cNvSpPr txBox="1"/>
            <p:nvPr/>
          </p:nvSpPr>
          <p:spPr>
            <a:xfrm>
              <a:off x="2560034" y="4153204"/>
              <a:ext cx="1190549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C4B5FD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1~3개월 선물환 매도</a:t>
              </a:r>
              <a:endParaRPr lang="en-US" sz="900" dirty="0"/>
            </a:p>
          </p:txBody>
        </p:sp>
        <p:sp>
          <p:nvSpPr>
            <p:cNvPr id="78" name="Text 56"/>
            <p:cNvSpPr txBox="1"/>
            <p:nvPr/>
          </p:nvSpPr>
          <p:spPr>
            <a:xfrm>
              <a:off x="3567074" y="4152643"/>
              <a:ext cx="45720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후 롤링</a:t>
              </a:r>
              <a:endParaRPr lang="en-US" sz="900" dirty="0"/>
            </a:p>
          </p:txBody>
        </p:sp>
        <p:sp>
          <p:nvSpPr>
            <p:cNvPr id="79" name="Text 57"/>
            <p:cNvSpPr txBox="1"/>
            <p:nvPr/>
          </p:nvSpPr>
          <p:spPr>
            <a:xfrm>
              <a:off x="1173804" y="4362602"/>
              <a:ext cx="32461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장점:</a:t>
              </a:r>
              <a:endParaRPr lang="en-US" sz="900" dirty="0"/>
            </a:p>
          </p:txBody>
        </p:sp>
        <p:sp>
          <p:nvSpPr>
            <p:cNvPr id="80" name="Text 58"/>
            <p:cNvSpPr txBox="1"/>
            <p:nvPr/>
          </p:nvSpPr>
          <p:spPr>
            <a:xfrm>
              <a:off x="1421606" y="4362602"/>
              <a:ext cx="2155241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환율 하락 방어, 보유 기간 연장 가능</a:t>
              </a:r>
              <a:endParaRPr lang="en-US" sz="900" dirty="0"/>
            </a:p>
          </p:txBody>
        </p:sp>
        <p:sp>
          <p:nvSpPr>
            <p:cNvPr id="97" name="Text 75"/>
            <p:cNvSpPr txBox="1"/>
            <p:nvPr/>
          </p:nvSpPr>
          <p:spPr>
            <a:xfrm>
              <a:off x="5929884" y="1543507"/>
              <a:ext cx="544068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87171">
                      <a:alpha val="60000"/>
                    </a:srgbClr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If &gt; 25%</a:t>
              </a:r>
              <a:endParaRPr lang="en-US" sz="900" dirty="0"/>
            </a:p>
          </p:txBody>
        </p:sp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B7FEF7DE-8067-B83D-679A-3F465F034E62}"/>
              </a:ext>
            </a:extLst>
          </p:cNvPr>
          <p:cNvGrpSpPr/>
          <p:nvPr/>
        </p:nvGrpSpPr>
        <p:grpSpPr>
          <a:xfrm>
            <a:off x="6493276" y="3764689"/>
            <a:ext cx="5089429" cy="2680554"/>
            <a:chOff x="10642725" y="1577014"/>
            <a:chExt cx="5089429" cy="2766453"/>
          </a:xfrm>
        </p:grpSpPr>
        <p:pic>
          <p:nvPicPr>
            <p:cNvPr id="109" name="Image 14" descr="preencoded.png">
              <a:extLst>
                <a:ext uri="{FF2B5EF4-FFF2-40B4-BE49-F238E27FC236}">
                  <a16:creationId xmlns:a16="http://schemas.microsoft.com/office/drawing/2014/main" id="{8829A92A-2A47-0C87-47F9-E1A77D3FC0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-6" r="-6"/>
            <a:stretch/>
          </p:blipFill>
          <p:spPr>
            <a:xfrm>
              <a:off x="10642727" y="1577014"/>
              <a:ext cx="5089427" cy="2601576"/>
            </a:xfrm>
            <a:prstGeom prst="rect">
              <a:avLst/>
            </a:prstGeom>
          </p:spPr>
        </p:pic>
        <p:pic>
          <p:nvPicPr>
            <p:cNvPr id="110" name="Image 14" descr="preencoded.png">
              <a:extLst>
                <a:ext uri="{FF2B5EF4-FFF2-40B4-BE49-F238E27FC236}">
                  <a16:creationId xmlns:a16="http://schemas.microsoft.com/office/drawing/2014/main" id="{DC668CAA-1BF2-63B9-89D9-450E36811C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-6" r="-6"/>
            <a:stretch/>
          </p:blipFill>
          <p:spPr>
            <a:xfrm rot="10800000">
              <a:off x="10642725" y="1662913"/>
              <a:ext cx="5089427" cy="2680554"/>
            </a:xfrm>
            <a:prstGeom prst="rect">
              <a:avLst/>
            </a:prstGeom>
          </p:spPr>
        </p:pic>
      </p:grpSp>
      <p:sp>
        <p:nvSpPr>
          <p:cNvPr id="108" name="Text 15">
            <a:extLst>
              <a:ext uri="{FF2B5EF4-FFF2-40B4-BE49-F238E27FC236}">
                <a16:creationId xmlns:a16="http://schemas.microsoft.com/office/drawing/2014/main" id="{35183D50-E364-BFF9-6A7B-318311494F79}"/>
              </a:ext>
            </a:extLst>
          </p:cNvPr>
          <p:cNvSpPr txBox="1"/>
          <p:nvPr/>
        </p:nvSpPr>
        <p:spPr>
          <a:xfrm>
            <a:off x="9417362" y="6610121"/>
            <a:ext cx="211759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Selvas Group Treasury Committee</a:t>
            </a:r>
            <a:endParaRPr lang="en-US" sz="900" dirty="0"/>
          </a:p>
        </p:txBody>
      </p: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003B172F-4D97-5452-FDA5-4911C6595FA5}"/>
              </a:ext>
            </a:extLst>
          </p:cNvPr>
          <p:cNvGrpSpPr/>
          <p:nvPr/>
        </p:nvGrpSpPr>
        <p:grpSpPr>
          <a:xfrm>
            <a:off x="6782976" y="3998562"/>
            <a:ext cx="4717910" cy="2460612"/>
            <a:chOff x="7015276" y="4762195"/>
            <a:chExt cx="4486961" cy="2460612"/>
          </a:xfrm>
        </p:grpSpPr>
        <p:sp>
          <p:nvSpPr>
            <p:cNvPr id="45" name="Text 28"/>
            <p:cNvSpPr txBox="1"/>
            <p:nvPr/>
          </p:nvSpPr>
          <p:spPr>
            <a:xfrm>
              <a:off x="7263079" y="4762195"/>
              <a:ext cx="4239158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FX 관리 KPI (Monthly Report) </a:t>
              </a:r>
              <a:endParaRPr lang="en-US" sz="1300" dirty="0"/>
            </a:p>
          </p:txBody>
        </p:sp>
        <p:pic>
          <p:nvPicPr>
            <p:cNvPr id="46" name="Image 15" descr="preencoded.png"/>
            <p:cNvPicPr>
              <a:picLocks noChangeAspect="1"/>
            </p:cNvPicPr>
            <p:nvPr/>
          </p:nvPicPr>
          <p:blipFill>
            <a:blip r:embed="rId11"/>
            <a:srcRect/>
            <a:stretch/>
          </p:blipFill>
          <p:spPr>
            <a:xfrm>
              <a:off x="7015277" y="4809744"/>
              <a:ext cx="171907" cy="171907"/>
            </a:xfrm>
            <a:prstGeom prst="rect">
              <a:avLst/>
            </a:prstGeom>
          </p:spPr>
        </p:pic>
        <p:sp>
          <p:nvSpPr>
            <p:cNvPr id="47" name="Shape 29"/>
            <p:cNvSpPr/>
            <p:nvPr/>
          </p:nvSpPr>
          <p:spPr>
            <a:xfrm>
              <a:off x="7015277" y="5181905"/>
              <a:ext cx="2133295" cy="889304"/>
            </a:xfrm>
            <a:prstGeom prst="roundRect">
              <a:avLst>
                <a:gd name="adj" fmla="val 2667"/>
              </a:avLst>
            </a:prstGeom>
            <a:solidFill>
              <a:srgbClr val="0F172A">
                <a:alpha val="6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" name="Shape 30"/>
            <p:cNvSpPr/>
            <p:nvPr/>
          </p:nvSpPr>
          <p:spPr>
            <a:xfrm>
              <a:off x="7015276" y="5181905"/>
              <a:ext cx="45719" cy="889304"/>
            </a:xfrm>
            <a:prstGeom prst="rect">
              <a:avLst/>
            </a:prstGeom>
            <a:solidFill>
              <a:srgbClr val="64748B"/>
            </a:solidFill>
            <a:ln w="12700">
              <a:solidFill>
                <a:srgbClr val="64748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9" name="Text 31"/>
            <p:cNvSpPr txBox="1"/>
            <p:nvPr/>
          </p:nvSpPr>
          <p:spPr>
            <a:xfrm>
              <a:off x="7157923" y="5296205"/>
              <a:ext cx="195315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kern="0" spc="6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Risk Metric</a:t>
              </a:r>
              <a:endParaRPr lang="en-US" sz="1200" dirty="0"/>
            </a:p>
          </p:txBody>
        </p:sp>
        <p:pic>
          <p:nvPicPr>
            <p:cNvPr id="50" name="Image 16" descr="preencoded.png"/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8875166" y="5562295"/>
              <a:ext cx="152705" cy="152705"/>
            </a:xfrm>
            <a:prstGeom prst="rect">
              <a:avLst/>
            </a:prstGeom>
          </p:spPr>
        </p:pic>
        <p:sp>
          <p:nvSpPr>
            <p:cNvPr id="51" name="Text 32"/>
            <p:cNvSpPr txBox="1"/>
            <p:nvPr/>
          </p:nvSpPr>
          <p:spPr>
            <a:xfrm>
              <a:off x="7157923" y="5753405"/>
              <a:ext cx="1952244" cy="2235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매출채권 잔액 - 매입채무 - 헤지분</a:t>
              </a:r>
              <a:endParaRPr lang="en-US" sz="1050" dirty="0"/>
            </a:p>
          </p:txBody>
        </p:sp>
        <p:sp>
          <p:nvSpPr>
            <p:cNvPr id="52" name="Shape 33"/>
            <p:cNvSpPr/>
            <p:nvPr/>
          </p:nvSpPr>
          <p:spPr>
            <a:xfrm>
              <a:off x="9256471" y="5181905"/>
              <a:ext cx="2133295" cy="889304"/>
            </a:xfrm>
            <a:prstGeom prst="roundRect">
              <a:avLst>
                <a:gd name="adj" fmla="val 2667"/>
              </a:avLst>
            </a:prstGeom>
            <a:solidFill>
              <a:srgbClr val="0F172A">
                <a:alpha val="6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3" name="Shape 34"/>
            <p:cNvSpPr/>
            <p:nvPr/>
          </p:nvSpPr>
          <p:spPr>
            <a:xfrm>
              <a:off x="9256470" y="5181905"/>
              <a:ext cx="45719" cy="889200"/>
            </a:xfrm>
            <a:prstGeom prst="rect">
              <a:avLst/>
            </a:prstGeom>
            <a:solidFill>
              <a:srgbClr val="64748B"/>
            </a:solidFill>
            <a:ln w="12700">
              <a:solidFill>
                <a:srgbClr val="64748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4" name="Text 35"/>
            <p:cNvSpPr txBox="1"/>
            <p:nvPr/>
          </p:nvSpPr>
          <p:spPr>
            <a:xfrm>
              <a:off x="9399118" y="5296205"/>
              <a:ext cx="195315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kern="0" spc="6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Compliance</a:t>
              </a:r>
              <a:endParaRPr lang="en-US" sz="1200" dirty="0"/>
            </a:p>
          </p:txBody>
        </p:sp>
        <p:pic>
          <p:nvPicPr>
            <p:cNvPr id="55" name="Image 17" descr="preencoded.png"/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11115446" y="5562295"/>
              <a:ext cx="152705" cy="152705"/>
            </a:xfrm>
            <a:prstGeom prst="rect">
              <a:avLst/>
            </a:prstGeom>
          </p:spPr>
        </p:pic>
        <p:sp>
          <p:nvSpPr>
            <p:cNvPr id="56" name="Text 36"/>
            <p:cNvSpPr txBox="1"/>
            <p:nvPr/>
          </p:nvSpPr>
          <p:spPr>
            <a:xfrm>
              <a:off x="9399118" y="5753405"/>
              <a:ext cx="1952244" cy="2235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목표 비중(20~25%) 이탈 일수 관리</a:t>
              </a:r>
              <a:endParaRPr lang="en-US" sz="1050" dirty="0"/>
            </a:p>
          </p:txBody>
        </p:sp>
        <p:sp>
          <p:nvSpPr>
            <p:cNvPr id="57" name="Shape 37"/>
            <p:cNvSpPr/>
            <p:nvPr/>
          </p:nvSpPr>
          <p:spPr>
            <a:xfrm>
              <a:off x="7038970" y="6210605"/>
              <a:ext cx="2133295" cy="889200"/>
            </a:xfrm>
            <a:prstGeom prst="roundRect">
              <a:avLst>
                <a:gd name="adj" fmla="val 2667"/>
              </a:avLst>
            </a:prstGeom>
            <a:solidFill>
              <a:srgbClr val="0F172A">
                <a:alpha val="6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" name="Shape 38"/>
            <p:cNvSpPr/>
            <p:nvPr/>
          </p:nvSpPr>
          <p:spPr>
            <a:xfrm>
              <a:off x="7015277" y="6210605"/>
              <a:ext cx="46800" cy="889200"/>
            </a:xfrm>
            <a:prstGeom prst="rect">
              <a:avLst/>
            </a:prstGeom>
            <a:solidFill>
              <a:srgbClr val="64748B"/>
            </a:solidFill>
            <a:ln w="12700">
              <a:solidFill>
                <a:srgbClr val="64748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9" name="Text 39"/>
            <p:cNvSpPr txBox="1"/>
            <p:nvPr/>
          </p:nvSpPr>
          <p:spPr>
            <a:xfrm>
              <a:off x="7157009" y="6267864"/>
              <a:ext cx="195315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kern="0" spc="6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Performance</a:t>
              </a:r>
              <a:endParaRPr lang="en-US" sz="1200" dirty="0"/>
            </a:p>
          </p:txBody>
        </p:sp>
        <p:pic>
          <p:nvPicPr>
            <p:cNvPr id="60" name="Image 18" descr="preencoded.png"/>
            <p:cNvPicPr>
              <a:picLocks noChangeAspect="1"/>
            </p:cNvPicPr>
            <p:nvPr/>
          </p:nvPicPr>
          <p:blipFill>
            <a:blip r:embed="rId14"/>
            <a:srcRect/>
            <a:stretch/>
          </p:blipFill>
          <p:spPr>
            <a:xfrm>
              <a:off x="8875166" y="6509687"/>
              <a:ext cx="152705" cy="152705"/>
            </a:xfrm>
            <a:prstGeom prst="rect">
              <a:avLst/>
            </a:prstGeom>
          </p:spPr>
        </p:pic>
        <p:sp>
          <p:nvSpPr>
            <p:cNvPr id="61" name="Text 40"/>
            <p:cNvSpPr txBox="1"/>
            <p:nvPr/>
          </p:nvSpPr>
          <p:spPr>
            <a:xfrm>
              <a:off x="7157923" y="6700797"/>
              <a:ext cx="20345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평가손익 및 처분손익 합계</a:t>
              </a:r>
              <a:endParaRPr lang="en-US" sz="1050" dirty="0"/>
            </a:p>
          </p:txBody>
        </p:sp>
        <p:sp>
          <p:nvSpPr>
            <p:cNvPr id="62" name="Shape 41"/>
            <p:cNvSpPr/>
            <p:nvPr/>
          </p:nvSpPr>
          <p:spPr>
            <a:xfrm>
              <a:off x="9256471" y="6181299"/>
              <a:ext cx="2133295" cy="889200"/>
            </a:xfrm>
            <a:prstGeom prst="roundRect">
              <a:avLst>
                <a:gd name="adj" fmla="val 2667"/>
              </a:avLst>
            </a:prstGeom>
            <a:solidFill>
              <a:srgbClr val="0F172A">
                <a:alpha val="6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3" name="Shape 42"/>
            <p:cNvSpPr/>
            <p:nvPr/>
          </p:nvSpPr>
          <p:spPr>
            <a:xfrm>
              <a:off x="9256471" y="6194107"/>
              <a:ext cx="46800" cy="889200"/>
            </a:xfrm>
            <a:prstGeom prst="rect">
              <a:avLst/>
            </a:prstGeom>
            <a:solidFill>
              <a:srgbClr val="64748B"/>
            </a:solidFill>
            <a:ln w="12700">
              <a:solidFill>
                <a:srgbClr val="64748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4" name="Text 43"/>
            <p:cNvSpPr txBox="1"/>
            <p:nvPr/>
          </p:nvSpPr>
          <p:spPr>
            <a:xfrm>
              <a:off x="9399118" y="6308407"/>
              <a:ext cx="195315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kern="0" spc="6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Activity</a:t>
              </a:r>
              <a:endParaRPr lang="en-US" sz="1200" dirty="0"/>
            </a:p>
          </p:txBody>
        </p:sp>
        <p:pic>
          <p:nvPicPr>
            <p:cNvPr id="65" name="Image 19" descr="preencoded.png"/>
            <p:cNvPicPr>
              <a:picLocks noChangeAspect="1"/>
            </p:cNvPicPr>
            <p:nvPr/>
          </p:nvPicPr>
          <p:blipFill>
            <a:blip r:embed="rId15"/>
            <a:srcRect/>
            <a:stretch/>
          </p:blipFill>
          <p:spPr>
            <a:xfrm>
              <a:off x="11115446" y="6574497"/>
              <a:ext cx="152705" cy="152705"/>
            </a:xfrm>
            <a:prstGeom prst="rect">
              <a:avLst/>
            </a:prstGeom>
          </p:spPr>
        </p:pic>
        <p:sp>
          <p:nvSpPr>
            <p:cNvPr id="66" name="Text 44"/>
            <p:cNvSpPr txBox="1"/>
            <p:nvPr/>
          </p:nvSpPr>
          <p:spPr>
            <a:xfrm>
              <a:off x="9399118" y="6765607"/>
              <a:ext cx="1952244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현물환 매도 금액 및 평균 환율</a:t>
              </a:r>
              <a:endParaRPr lang="en-US" sz="1200" dirty="0"/>
            </a:p>
          </p:txBody>
        </p:sp>
        <p:sp>
          <p:nvSpPr>
            <p:cNvPr id="93" name="Text 71"/>
            <p:cNvSpPr txBox="1"/>
            <p:nvPr/>
          </p:nvSpPr>
          <p:spPr>
            <a:xfrm>
              <a:off x="7157923" y="5524805"/>
              <a:ext cx="179131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환노출액 (Net Exposure)</a:t>
              </a:r>
              <a:endParaRPr lang="en-US" sz="1000" dirty="0"/>
            </a:p>
          </p:txBody>
        </p:sp>
        <p:sp>
          <p:nvSpPr>
            <p:cNvPr id="94" name="Text 72"/>
            <p:cNvSpPr txBox="1"/>
            <p:nvPr/>
          </p:nvSpPr>
          <p:spPr>
            <a:xfrm>
              <a:off x="9399118" y="5524805"/>
              <a:ext cx="840334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Band 준수율</a:t>
              </a:r>
              <a:endParaRPr lang="en-US" sz="1000" dirty="0"/>
            </a:p>
          </p:txBody>
        </p:sp>
        <p:sp>
          <p:nvSpPr>
            <p:cNvPr id="95" name="Text 73"/>
            <p:cNvSpPr txBox="1"/>
            <p:nvPr/>
          </p:nvSpPr>
          <p:spPr>
            <a:xfrm>
              <a:off x="7157923" y="6472197"/>
              <a:ext cx="1349654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환산 손익 (FX P&amp;L)</a:t>
              </a:r>
              <a:endParaRPr lang="en-US" sz="1000" dirty="0"/>
            </a:p>
          </p:txBody>
        </p:sp>
        <p:sp>
          <p:nvSpPr>
            <p:cNvPr id="96" name="Text 74"/>
            <p:cNvSpPr txBox="1"/>
            <p:nvPr/>
          </p:nvSpPr>
          <p:spPr>
            <a:xfrm>
              <a:off x="9399118" y="6537007"/>
              <a:ext cx="1025042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월별 환전 실적</a:t>
              </a:r>
              <a:endParaRPr lang="en-US" sz="1000" dirty="0"/>
            </a:p>
          </p:txBody>
        </p:sp>
      </p:grp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415B839D-A17D-8695-4371-99FF34C9011E}"/>
              </a:ext>
            </a:extLst>
          </p:cNvPr>
          <p:cNvGrpSpPr/>
          <p:nvPr/>
        </p:nvGrpSpPr>
        <p:grpSpPr>
          <a:xfrm>
            <a:off x="10834727" y="476859"/>
            <a:ext cx="752551" cy="228600"/>
            <a:chOff x="10834727" y="476859"/>
            <a:chExt cx="752551" cy="228600"/>
          </a:xfrm>
        </p:grpSpPr>
        <p:sp>
          <p:nvSpPr>
            <p:cNvPr id="69" name="Shape 47"/>
            <p:cNvSpPr/>
            <p:nvPr/>
          </p:nvSpPr>
          <p:spPr>
            <a:xfrm>
              <a:off x="10834727" y="476859"/>
              <a:ext cx="752551" cy="228600"/>
            </a:xfrm>
            <a:prstGeom prst="roundRect">
              <a:avLst>
                <a:gd name="adj" fmla="val 66667"/>
              </a:avLst>
            </a:prstGeom>
            <a:solidFill>
              <a:srgbClr val="1F2937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10872216" y="514807"/>
              <a:ext cx="600761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MEDIANA</a:t>
              </a:r>
              <a:endParaRPr lang="en-US" sz="900" dirty="0"/>
            </a:p>
          </p:txBody>
        </p:sp>
      </p:grp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0942F794-8854-5EC5-F90C-87FCC27DE040}"/>
              </a:ext>
            </a:extLst>
          </p:cNvPr>
          <p:cNvGrpSpPr/>
          <p:nvPr/>
        </p:nvGrpSpPr>
        <p:grpSpPr>
          <a:xfrm>
            <a:off x="562071" y="4916766"/>
            <a:ext cx="5583152" cy="1174929"/>
            <a:chOff x="578816" y="5120505"/>
            <a:chExt cx="5583152" cy="975939"/>
          </a:xfrm>
        </p:grpSpPr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36EB550C-B321-2938-43F8-36CECC8BDAE0}"/>
                </a:ext>
              </a:extLst>
            </p:cNvPr>
            <p:cNvGrpSpPr/>
            <p:nvPr/>
          </p:nvGrpSpPr>
          <p:grpSpPr>
            <a:xfrm>
              <a:off x="578816" y="5120505"/>
              <a:ext cx="5583152" cy="975939"/>
              <a:chOff x="1191178" y="6762874"/>
              <a:chExt cx="5583152" cy="756766"/>
            </a:xfrm>
          </p:grpSpPr>
          <p:pic>
            <p:nvPicPr>
              <p:cNvPr id="113" name="Image 10" descr="preencoded.png">
                <a:extLst>
                  <a:ext uri="{FF2B5EF4-FFF2-40B4-BE49-F238E27FC236}">
                    <a16:creationId xmlns:a16="http://schemas.microsoft.com/office/drawing/2014/main" id="{7577B6C8-2A7D-2F60-0B65-A95908CF50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rcRect l="-78" r="-78"/>
              <a:stretch/>
            </p:blipFill>
            <p:spPr>
              <a:xfrm>
                <a:off x="1191178" y="6762874"/>
                <a:ext cx="5583152" cy="378383"/>
              </a:xfrm>
              <a:prstGeom prst="rect">
                <a:avLst/>
              </a:prstGeom>
            </p:spPr>
          </p:pic>
          <p:pic>
            <p:nvPicPr>
              <p:cNvPr id="114" name="Image 10" descr="preencoded.png">
                <a:extLst>
                  <a:ext uri="{FF2B5EF4-FFF2-40B4-BE49-F238E27FC236}">
                    <a16:creationId xmlns:a16="http://schemas.microsoft.com/office/drawing/2014/main" id="{CB9F4959-C0A9-7D7C-8655-4240AF209A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rcRect l="-78" r="-78"/>
              <a:stretch/>
            </p:blipFill>
            <p:spPr>
              <a:xfrm rot="10800000">
                <a:off x="1191178" y="7141257"/>
                <a:ext cx="5583152" cy="378383"/>
              </a:xfrm>
              <a:prstGeom prst="rect">
                <a:avLst/>
              </a:prstGeom>
            </p:spPr>
          </p:pic>
        </p:grpSp>
        <p:sp>
          <p:nvSpPr>
            <p:cNvPr id="116" name="Text 13"/>
            <p:cNvSpPr txBox="1"/>
            <p:nvPr/>
          </p:nvSpPr>
          <p:spPr>
            <a:xfrm>
              <a:off x="985265" y="5289620"/>
              <a:ext cx="5162702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 err="1">
                  <a:solidFill>
                    <a:srgbClr val="34D39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권고</a:t>
              </a:r>
              <a:r>
                <a:rPr lang="en-US" sz="1100" b="1" dirty="0">
                  <a:solidFill>
                    <a:srgbClr val="34D39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: 혼합 전략 (Hybrid) </a:t>
              </a:r>
              <a:endParaRPr lang="en-US" sz="1100" dirty="0"/>
            </a:p>
          </p:txBody>
        </p:sp>
        <p:pic>
          <p:nvPicPr>
            <p:cNvPr id="117" name="Image 11" descr="preencoded.png"/>
            <p:cNvPicPr>
              <a:picLocks noChangeAspect="1"/>
            </p:cNvPicPr>
            <p:nvPr/>
          </p:nvPicPr>
          <p:blipFill>
            <a:blip r:embed="rId17"/>
            <a:srcRect/>
            <a:stretch/>
          </p:blipFill>
          <p:spPr>
            <a:xfrm>
              <a:off x="775867" y="5317966"/>
              <a:ext cx="133502" cy="133502"/>
            </a:xfrm>
            <a:prstGeom prst="rect">
              <a:avLst/>
            </a:prstGeom>
          </p:spPr>
        </p:pic>
        <p:sp>
          <p:nvSpPr>
            <p:cNvPr id="118" name="Text 14"/>
            <p:cNvSpPr txBox="1"/>
            <p:nvPr/>
          </p:nvSpPr>
          <p:spPr>
            <a:xfrm>
              <a:off x="775867" y="5565679"/>
              <a:ext cx="5369356" cy="3721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Target Band(25%) 초과 즉시 </a:t>
              </a:r>
              <a:r>
                <a:rPr lang="en-US" sz="9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Option A(50%)</a:t>
              </a:r>
              <a:r>
                <a:rPr lang="en-US" sz="900" dirty="0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실행하여 리스크 축소 후, 잔여 초과분은 시장 상황에 따라 </a:t>
              </a:r>
              <a:r>
                <a:rPr lang="en-US" sz="9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Option B</a:t>
              </a:r>
              <a:r>
                <a:rPr lang="en-US" sz="900" dirty="0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로 유연 대응. </a:t>
              </a:r>
              <a:endParaRPr lang="en-US" sz="900" dirty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09905" y="464754"/>
            <a:ext cx="538398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56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메디아나 30년 국채 FVPL 리스크 분석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09905" y="950235"/>
            <a:ext cx="457200" cy="38405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81405" y="874340"/>
            <a:ext cx="34619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5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Risk Analysis &amp; Management Scenarios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09905" y="1178835"/>
            <a:ext cx="4033418" cy="1971446"/>
          </a:xfrm>
          <a:prstGeom prst="roundRect">
            <a:avLst>
              <a:gd name="adj" fmla="val 2689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1061679" y="1320869"/>
            <a:ext cx="12234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투자 현황 (FVPL) </a:t>
            </a:r>
            <a:endParaRPr lang="en-US" sz="1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-100" b="-100"/>
          <a:stretch/>
        </p:blipFill>
        <p:spPr>
          <a:xfrm>
            <a:off x="871484" y="1359274"/>
            <a:ext cx="114300" cy="15270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856646" y="1292523"/>
            <a:ext cx="1200607" cy="286207"/>
          </a:xfrm>
          <a:prstGeom prst="roundRect">
            <a:avLst>
              <a:gd name="adj" fmla="val 42599"/>
            </a:avLst>
          </a:prstGeom>
          <a:noFill/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871484" y="1654625"/>
            <a:ext cx="1552651" cy="895198"/>
          </a:xfrm>
          <a:prstGeom prst="roundRect">
            <a:avLst>
              <a:gd name="adj" fmla="val 869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957437" y="1739664"/>
            <a:ext cx="14923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투자 원금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57437" y="1968264"/>
            <a:ext cx="14575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100억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57437" y="2235269"/>
            <a:ext cx="14575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국채 </a:t>
            </a:r>
            <a:r>
              <a:rPr lang="en-US" altLang="ko-KR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</a:t>
            </a:r>
            <a:r>
              <a:rPr lang="ko-KR" altLang="en-US" sz="120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년물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500030" y="1654625"/>
            <a:ext cx="1552651" cy="895198"/>
          </a:xfrm>
          <a:prstGeom prst="roundRect">
            <a:avLst>
              <a:gd name="adj" fmla="val 869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2585984" y="1739664"/>
            <a:ext cx="14923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평가액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2585984" y="1968264"/>
            <a:ext cx="14575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86억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2585984" y="2235269"/>
            <a:ext cx="16440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손실률 -14% (-14억)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71484" y="2816827"/>
            <a:ext cx="3181198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609905" y="3314924"/>
            <a:ext cx="4032020" cy="3086100"/>
          </a:xfrm>
          <a:prstGeom prst="roundRect">
            <a:avLst>
              <a:gd name="adj" fmla="val 1097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1029466" y="3535034"/>
            <a:ext cx="31629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핵심 리스크 요인 </a:t>
            </a:r>
            <a:endParaRPr lang="en-US" sz="14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20069" y="3544526"/>
            <a:ext cx="133502" cy="133502"/>
          </a:xfrm>
          <a:prstGeom prst="rect">
            <a:avLst/>
          </a:prstGeom>
        </p:spPr>
      </p:pic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 t="-100" b="-100"/>
          <a:stretch/>
        </p:blipFill>
        <p:spPr>
          <a:xfrm>
            <a:off x="877676" y="3868159"/>
            <a:ext cx="114300" cy="15270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124564" y="3868028"/>
            <a:ext cx="28008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초장기 듀레이션 리스크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1124564" y="4381921"/>
            <a:ext cx="351875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금리 1% 변동 시 채권 가격 약 20% 등락.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시장 변동성에 극도로 취약한 구조. </a:t>
            </a:r>
            <a:endParaRPr lang="en-US" sz="14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839271" y="5028488"/>
            <a:ext cx="190195" cy="15270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124564" y="5000076"/>
            <a:ext cx="236829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금리 민감도 (Sensitivity)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1124564" y="5228676"/>
            <a:ext cx="321615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금리 </a:t>
            </a:r>
            <a:r>
              <a:rPr lang="en-US" sz="14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+10bp</a:t>
            </a:r>
            <a:r>
              <a:rPr lang="en-US" sz="14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상승 시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평가손실 약 </a:t>
            </a:r>
            <a:r>
              <a:rPr lang="en-US" sz="14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-2억 원</a:t>
            </a:r>
            <a:r>
              <a:rPr lang="en-US" sz="14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추가 발생 추정. </a:t>
            </a:r>
            <a:endParaRPr lang="en-US" sz="1400" dirty="0"/>
          </a:p>
        </p:txBody>
      </p:sp>
      <p:sp>
        <p:nvSpPr>
          <p:cNvPr id="32" name="Text 26"/>
          <p:cNvSpPr txBox="1"/>
          <p:nvPr/>
        </p:nvSpPr>
        <p:spPr>
          <a:xfrm>
            <a:off x="2942600" y="1320869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ECAC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평가손실 진행중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871484" y="2616574"/>
            <a:ext cx="54406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회계 분류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2771607" y="2616574"/>
            <a:ext cx="152613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당기손익-공정가치 (FVPL)</a:t>
            </a:r>
            <a:endParaRPr lang="en-US" sz="900" dirty="0"/>
          </a:p>
        </p:txBody>
      </p:sp>
      <p:sp>
        <p:nvSpPr>
          <p:cNvPr id="35" name="Text 29"/>
          <p:cNvSpPr txBox="1"/>
          <p:nvPr/>
        </p:nvSpPr>
        <p:spPr>
          <a:xfrm>
            <a:off x="871484" y="2854318"/>
            <a:ext cx="54406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보유 목적</a:t>
            </a:r>
            <a:endParaRPr lang="en-US" sz="900" dirty="0"/>
          </a:p>
        </p:txBody>
      </p:sp>
      <p:sp>
        <p:nvSpPr>
          <p:cNvPr id="36" name="Text 30"/>
          <p:cNvSpPr txBox="1"/>
          <p:nvPr/>
        </p:nvSpPr>
        <p:spPr>
          <a:xfrm>
            <a:off x="3037697" y="2854318"/>
            <a:ext cx="130302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단기 매매 차익 (실패)</a:t>
            </a:r>
            <a:endParaRPr lang="en-US" sz="900" dirty="0"/>
          </a:p>
        </p:txBody>
      </p:sp>
      <p:sp>
        <p:nvSpPr>
          <p:cNvPr id="37" name="Text 31"/>
          <p:cNvSpPr txBox="1"/>
          <p:nvPr/>
        </p:nvSpPr>
        <p:spPr>
          <a:xfrm>
            <a:off x="1182171" y="4096628"/>
            <a:ext cx="13825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Duration ≈ 20년</a:t>
            </a:r>
            <a:endParaRPr lang="en-US" sz="1400" dirty="0"/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9F00A582-8A24-C9E3-1D9D-B41F61A340FA}"/>
              </a:ext>
            </a:extLst>
          </p:cNvPr>
          <p:cNvGrpSpPr/>
          <p:nvPr/>
        </p:nvGrpSpPr>
        <p:grpSpPr>
          <a:xfrm>
            <a:off x="5061486" y="1178835"/>
            <a:ext cx="6509439" cy="2547309"/>
            <a:chOff x="4190695" y="990295"/>
            <a:chExt cx="5076749" cy="2800807"/>
          </a:xfrm>
        </p:grpSpPr>
        <p:sp>
          <p:nvSpPr>
            <p:cNvPr id="38" name="Shape 32"/>
            <p:cNvSpPr/>
            <p:nvPr/>
          </p:nvSpPr>
          <p:spPr>
            <a:xfrm>
              <a:off x="4190695" y="990295"/>
              <a:ext cx="5076749" cy="2800807"/>
            </a:xfrm>
            <a:prstGeom prst="roundRect">
              <a:avLst>
                <a:gd name="adj" fmla="val 1333"/>
              </a:avLst>
            </a:prstGeom>
            <a:solidFill>
              <a:srgbClr val="1E293B">
                <a:alpha val="40000"/>
              </a:srgbClr>
            </a:solidFill>
            <a:ln w="12700">
              <a:solidFill>
                <a:srgbClr val="FFFFFF">
                  <a:alpha val="8000"/>
                </a:srgbClr>
              </a:solidFill>
              <a:prstDash val="solid"/>
            </a:ln>
            <a:effectLst>
              <a:outerShdw blurRad="63500" dist="38100" dir="162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9" name="Text 33"/>
            <p:cNvSpPr txBox="1"/>
            <p:nvPr/>
          </p:nvSpPr>
          <p:spPr>
            <a:xfrm>
              <a:off x="4542739" y="1114654"/>
              <a:ext cx="377464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ko-KR" altLang="en-US" sz="12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국채시세 형성 관련 향후 주요 이벤트</a:t>
              </a:r>
              <a:endParaRPr lang="en-US" sz="1200" dirty="0"/>
            </a:p>
          </p:txBody>
        </p:sp>
        <p:pic>
          <p:nvPicPr>
            <p:cNvPr id="40" name="Image 4" descr="preencoded.png"/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4314139" y="1152144"/>
              <a:ext cx="152705" cy="152705"/>
            </a:xfrm>
            <a:prstGeom prst="rect">
              <a:avLst/>
            </a:prstGeom>
          </p:spPr>
        </p:pic>
        <p:sp>
          <p:nvSpPr>
            <p:cNvPr id="44" name="Shape 36"/>
            <p:cNvSpPr/>
            <p:nvPr/>
          </p:nvSpPr>
          <p:spPr>
            <a:xfrm>
              <a:off x="6713298" y="1447010"/>
              <a:ext cx="9144" cy="2210105"/>
            </a:xfrm>
            <a:prstGeom prst="rect">
              <a:avLst/>
            </a:prstGeom>
            <a:solidFill>
              <a:srgbClr val="374151"/>
            </a:solidFill>
            <a:ln w="12700">
              <a:solidFill>
                <a:srgbClr val="374151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6" name="Text 38"/>
            <p:cNvSpPr txBox="1"/>
            <p:nvPr/>
          </p:nvSpPr>
          <p:spPr>
            <a:xfrm>
              <a:off x="4236818" y="1475214"/>
              <a:ext cx="772212" cy="2155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300" b="1" dirty="0">
                  <a:solidFill>
                    <a:srgbClr val="34D39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⬆UP SIDE</a:t>
              </a:r>
              <a:endParaRPr lang="en-US" sz="1300" dirty="0"/>
            </a:p>
          </p:txBody>
        </p:sp>
        <p:sp>
          <p:nvSpPr>
            <p:cNvPr id="50" name="Text 42"/>
            <p:cNvSpPr txBox="1"/>
            <p:nvPr/>
          </p:nvSpPr>
          <p:spPr>
            <a:xfrm>
              <a:off x="6862671" y="1497016"/>
              <a:ext cx="953866" cy="193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altLang="ko-KR" sz="1300" b="1" dirty="0">
                  <a:solidFill>
                    <a:srgbClr val="F87171"/>
                  </a:solidFill>
                  <a:latin typeface="Noto Sans KR" pitchFamily="34" charset="0"/>
                  <a:ea typeface="Noto Sans KR" pitchFamily="34" charset="-122"/>
                </a:rPr>
                <a:t>⬇</a:t>
              </a:r>
              <a:r>
                <a:rPr lang="en-US" sz="1300" b="1" dirty="0">
                  <a:solidFill>
                    <a:srgbClr val="F8717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DOWN SIDE</a:t>
              </a:r>
              <a:endParaRPr lang="en-US" sz="1300" dirty="0"/>
            </a:p>
          </p:txBody>
        </p: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05D5FD5E-43F0-9CF6-8218-0B27B8E26DCD}"/>
              </a:ext>
            </a:extLst>
          </p:cNvPr>
          <p:cNvGrpSpPr/>
          <p:nvPr/>
        </p:nvGrpSpPr>
        <p:grpSpPr>
          <a:xfrm>
            <a:off x="5061486" y="4559172"/>
            <a:ext cx="6552761" cy="1841851"/>
            <a:chOff x="4190695" y="3905402"/>
            <a:chExt cx="5121555" cy="2257654"/>
          </a:xfrm>
        </p:grpSpPr>
        <p:sp>
          <p:nvSpPr>
            <p:cNvPr id="51" name="Shape 43"/>
            <p:cNvSpPr/>
            <p:nvPr/>
          </p:nvSpPr>
          <p:spPr>
            <a:xfrm>
              <a:off x="4190695" y="3905402"/>
              <a:ext cx="5076749" cy="2257654"/>
            </a:xfrm>
            <a:prstGeom prst="roundRect">
              <a:avLst>
                <a:gd name="adj" fmla="val 2051"/>
              </a:avLst>
            </a:prstGeom>
            <a:solidFill>
              <a:srgbClr val="1E293B">
                <a:alpha val="40000"/>
              </a:srgbClr>
            </a:solidFill>
            <a:ln w="12700">
              <a:solidFill>
                <a:srgbClr val="FFFFFF">
                  <a:alpha val="8000"/>
                </a:srgbClr>
              </a:solidFill>
              <a:prstDash val="solid"/>
            </a:ln>
            <a:effectLst>
              <a:outerShdw blurRad="63500" dist="38100" dir="162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52" name="Image 6" descr="preencoded.png"/>
            <p:cNvPicPr>
              <a:picLocks noChangeAspect="1"/>
            </p:cNvPicPr>
            <p:nvPr/>
          </p:nvPicPr>
          <p:blipFill>
            <a:blip r:embed="rId8">
              <a:alphaModFix amt="10000"/>
            </a:blip>
            <a:srcRect/>
            <a:stretch/>
          </p:blipFill>
          <p:spPr>
            <a:xfrm>
              <a:off x="8609076" y="3991356"/>
              <a:ext cx="571500" cy="571500"/>
            </a:xfrm>
            <a:prstGeom prst="rect">
              <a:avLst/>
            </a:prstGeom>
          </p:spPr>
        </p:pic>
        <p:sp>
          <p:nvSpPr>
            <p:cNvPr id="53" name="Text 44"/>
            <p:cNvSpPr txBox="1"/>
            <p:nvPr/>
          </p:nvSpPr>
          <p:spPr>
            <a:xfrm>
              <a:off x="4462927" y="3997742"/>
              <a:ext cx="4782312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트리거 기반 리스크 관리 (Trigger-based Action Plan) </a:t>
              </a:r>
              <a:endParaRPr lang="en-US" sz="1050" dirty="0"/>
            </a:p>
          </p:txBody>
        </p:sp>
        <p:pic>
          <p:nvPicPr>
            <p:cNvPr id="54" name="Image 7" descr="preencoded.png"/>
            <p:cNvPicPr>
              <a:picLocks noChangeAspect="1"/>
            </p:cNvPicPr>
            <p:nvPr/>
          </p:nvPicPr>
          <p:blipFill>
            <a:blip r:embed="rId9"/>
            <a:srcRect l="-1507" r="-1507"/>
            <a:stretch/>
          </p:blipFill>
          <p:spPr>
            <a:xfrm>
              <a:off x="4314139" y="4058107"/>
              <a:ext cx="85954" cy="133502"/>
            </a:xfrm>
            <a:prstGeom prst="rect">
              <a:avLst/>
            </a:prstGeom>
          </p:spPr>
        </p:pic>
        <p:sp>
          <p:nvSpPr>
            <p:cNvPr id="55" name="Shape 45"/>
            <p:cNvSpPr/>
            <p:nvPr/>
          </p:nvSpPr>
          <p:spPr>
            <a:xfrm>
              <a:off x="4314139" y="5724144"/>
              <a:ext cx="4828946" cy="9144"/>
            </a:xfrm>
            <a:prstGeom prst="rect">
              <a:avLst/>
            </a:prstGeom>
            <a:solidFill>
              <a:srgbClr val="374151"/>
            </a:solidFill>
            <a:ln w="12700">
              <a:solidFill>
                <a:srgbClr val="374151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6" name="Shape 46"/>
            <p:cNvSpPr/>
            <p:nvPr/>
          </p:nvSpPr>
          <p:spPr>
            <a:xfrm>
              <a:off x="4314139" y="5896051"/>
              <a:ext cx="57607" cy="57607"/>
            </a:xfrm>
            <a:prstGeom prst="ellipse">
              <a:avLst/>
            </a:prstGeom>
            <a:solidFill>
              <a:srgbClr val="EF4444">
                <a:alpha val="59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" name="Text 47"/>
            <p:cNvSpPr txBox="1"/>
            <p:nvPr/>
          </p:nvSpPr>
          <p:spPr>
            <a:xfrm>
              <a:off x="4447642" y="5810098"/>
              <a:ext cx="384962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CA5A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Current Status: -14% (Approaching Level 1)</a:t>
              </a:r>
              <a:endParaRPr lang="en-US" sz="1200" dirty="0"/>
            </a:p>
          </p:txBody>
        </p:sp>
        <p:sp>
          <p:nvSpPr>
            <p:cNvPr id="58" name="Shape 48"/>
            <p:cNvSpPr/>
            <p:nvPr/>
          </p:nvSpPr>
          <p:spPr>
            <a:xfrm>
              <a:off x="4314139" y="4295851"/>
              <a:ext cx="1561795" cy="1352398"/>
            </a:xfrm>
            <a:prstGeom prst="roundRect">
              <a:avLst>
                <a:gd name="adj" fmla="val 3809"/>
              </a:avLst>
            </a:prstGeom>
            <a:noFill/>
            <a:ln w="1270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9" name="Shape 49"/>
            <p:cNvSpPr/>
            <p:nvPr/>
          </p:nvSpPr>
          <p:spPr>
            <a:xfrm>
              <a:off x="5853989" y="4962449"/>
              <a:ext cx="190195" cy="19202"/>
            </a:xfrm>
            <a:prstGeom prst="rect">
              <a:avLst/>
            </a:prstGeom>
            <a:solidFill>
              <a:srgbClr val="475569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0" name="Shape 50"/>
            <p:cNvSpPr/>
            <p:nvPr/>
          </p:nvSpPr>
          <p:spPr>
            <a:xfrm>
              <a:off x="4400093" y="4229100"/>
              <a:ext cx="609905" cy="267005"/>
            </a:xfrm>
            <a:prstGeom prst="roundRect">
              <a:avLst>
                <a:gd name="adj" fmla="val 48924"/>
              </a:avLst>
            </a:prstGeom>
            <a:solidFill>
              <a:srgbClr val="D9770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1" name="Text 51"/>
            <p:cNvSpPr txBox="1"/>
            <p:nvPr/>
          </p:nvSpPr>
          <p:spPr>
            <a:xfrm>
              <a:off x="4438498" y="4248302"/>
              <a:ext cx="63550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Level 1</a:t>
              </a:r>
              <a:endParaRPr lang="en-US" sz="1200" dirty="0"/>
            </a:p>
          </p:txBody>
        </p:sp>
        <p:sp>
          <p:nvSpPr>
            <p:cNvPr id="62" name="Text 52"/>
            <p:cNvSpPr txBox="1"/>
            <p:nvPr/>
          </p:nvSpPr>
          <p:spPr>
            <a:xfrm>
              <a:off x="4400093" y="4448556"/>
              <a:ext cx="514807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FBBF2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-15%</a:t>
              </a:r>
              <a:endParaRPr lang="en-US" sz="1300" dirty="0"/>
            </a:p>
          </p:txBody>
        </p:sp>
        <p:pic>
          <p:nvPicPr>
            <p:cNvPr id="63" name="Image 8" descr="preencoded.png"/>
            <p:cNvPicPr>
              <a:picLocks noChangeAspect="1"/>
            </p:cNvPicPr>
            <p:nvPr/>
          </p:nvPicPr>
          <p:blipFill>
            <a:blip r:embed="rId10"/>
            <a:srcRect l="-837" r="-837"/>
            <a:stretch/>
          </p:blipFill>
          <p:spPr>
            <a:xfrm>
              <a:off x="5634533" y="4572000"/>
              <a:ext cx="152705" cy="133502"/>
            </a:xfrm>
            <a:prstGeom prst="rect">
              <a:avLst/>
            </a:prstGeom>
          </p:spPr>
        </p:pic>
        <p:sp>
          <p:nvSpPr>
            <p:cNvPr id="64" name="Text 53"/>
            <p:cNvSpPr txBox="1"/>
            <p:nvPr/>
          </p:nvSpPr>
          <p:spPr>
            <a:xfrm>
              <a:off x="4400093" y="4743907"/>
              <a:ext cx="1502359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모니터링 강화</a:t>
              </a:r>
              <a:endParaRPr lang="en-US" sz="1200" dirty="0"/>
            </a:p>
          </p:txBody>
        </p:sp>
        <p:sp>
          <p:nvSpPr>
            <p:cNvPr id="65" name="Text 54"/>
            <p:cNvSpPr txBox="1"/>
            <p:nvPr/>
          </p:nvSpPr>
          <p:spPr>
            <a:xfrm>
              <a:off x="4400093" y="4990795"/>
              <a:ext cx="1448410" cy="571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일일 손익 보고 전환.</a:t>
              </a:r>
              <a:endParaRPr lang="en-US" sz="1200" dirty="0"/>
            </a:p>
            <a:p>
              <a:pPr marL="0" indent="0" algn="l">
                <a:buNone/>
              </a:pPr>
              <a:r>
                <a:rPr lang="en-US" sz="12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스프레드 실시간 추적. </a:t>
              </a:r>
              <a:endParaRPr lang="en-US" sz="1200" dirty="0"/>
            </a:p>
          </p:txBody>
        </p:sp>
        <p:sp>
          <p:nvSpPr>
            <p:cNvPr id="66" name="Shape 55"/>
            <p:cNvSpPr/>
            <p:nvPr/>
          </p:nvSpPr>
          <p:spPr>
            <a:xfrm>
              <a:off x="5949086" y="4295851"/>
              <a:ext cx="1561795" cy="1352398"/>
            </a:xfrm>
            <a:prstGeom prst="roundRect">
              <a:avLst>
                <a:gd name="adj" fmla="val 3809"/>
              </a:avLst>
            </a:prstGeom>
            <a:noFill/>
            <a:ln w="1270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7" name="Shape 56"/>
            <p:cNvSpPr/>
            <p:nvPr/>
          </p:nvSpPr>
          <p:spPr>
            <a:xfrm>
              <a:off x="7488022" y="4962449"/>
              <a:ext cx="190195" cy="19202"/>
            </a:xfrm>
            <a:prstGeom prst="rect">
              <a:avLst/>
            </a:prstGeom>
            <a:solidFill>
              <a:srgbClr val="475569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9" name="Text 58"/>
            <p:cNvSpPr txBox="1"/>
            <p:nvPr/>
          </p:nvSpPr>
          <p:spPr>
            <a:xfrm>
              <a:off x="6035040" y="4448556"/>
              <a:ext cx="514807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-18%</a:t>
              </a:r>
              <a:endParaRPr lang="en-US" sz="1300" dirty="0"/>
            </a:p>
          </p:txBody>
        </p:sp>
        <p:pic>
          <p:nvPicPr>
            <p:cNvPr id="70" name="Image 9" descr="preencoded.png"/>
            <p:cNvPicPr>
              <a:picLocks noChangeAspect="1"/>
            </p:cNvPicPr>
            <p:nvPr/>
          </p:nvPicPr>
          <p:blipFill>
            <a:blip r:embed="rId11"/>
            <a:srcRect l="-837" r="-837"/>
            <a:stretch/>
          </p:blipFill>
          <p:spPr>
            <a:xfrm>
              <a:off x="7269480" y="4572000"/>
              <a:ext cx="152705" cy="133502"/>
            </a:xfrm>
            <a:prstGeom prst="rect">
              <a:avLst/>
            </a:prstGeom>
          </p:spPr>
        </p:pic>
        <p:sp>
          <p:nvSpPr>
            <p:cNvPr id="71" name="Text 59"/>
            <p:cNvSpPr txBox="1"/>
            <p:nvPr/>
          </p:nvSpPr>
          <p:spPr>
            <a:xfrm>
              <a:off x="6035040" y="4743907"/>
              <a:ext cx="151150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부분 헤지 (Hedge)</a:t>
              </a:r>
              <a:endParaRPr lang="en-US" sz="1200" dirty="0"/>
            </a:p>
          </p:txBody>
        </p:sp>
        <p:sp>
          <p:nvSpPr>
            <p:cNvPr id="72" name="Text 60"/>
            <p:cNvSpPr txBox="1"/>
            <p:nvPr/>
          </p:nvSpPr>
          <p:spPr>
            <a:xfrm>
              <a:off x="6035040" y="4990795"/>
              <a:ext cx="1448410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선물 매도/IRS 페이.</a:t>
              </a:r>
              <a:endParaRPr lang="en-US" sz="1200" dirty="0"/>
            </a:p>
            <a:p>
              <a:pPr marL="0" indent="0" algn="l">
                <a:buNone/>
              </a:pPr>
              <a:r>
                <a:rPr lang="en-US" sz="12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추가 손실 50% 방어. </a:t>
              </a:r>
              <a:endParaRPr lang="en-US" sz="1200" dirty="0"/>
            </a:p>
          </p:txBody>
        </p:sp>
        <p:sp>
          <p:nvSpPr>
            <p:cNvPr id="73" name="Shape 61"/>
            <p:cNvSpPr/>
            <p:nvPr/>
          </p:nvSpPr>
          <p:spPr>
            <a:xfrm>
              <a:off x="7584034" y="4295851"/>
              <a:ext cx="1561795" cy="1352398"/>
            </a:xfrm>
            <a:prstGeom prst="roundRect">
              <a:avLst>
                <a:gd name="adj" fmla="val 3809"/>
              </a:avLst>
            </a:prstGeom>
            <a:noFill/>
            <a:ln w="1270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4" name="Shape 62"/>
            <p:cNvSpPr/>
            <p:nvPr/>
          </p:nvSpPr>
          <p:spPr>
            <a:xfrm>
              <a:off x="7584034" y="4772254"/>
              <a:ext cx="190195" cy="19202"/>
            </a:xfrm>
            <a:prstGeom prst="rect">
              <a:avLst/>
            </a:prstGeom>
            <a:solidFill>
              <a:srgbClr val="475569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5" name="Shape 63"/>
            <p:cNvSpPr/>
            <p:nvPr/>
          </p:nvSpPr>
          <p:spPr>
            <a:xfrm>
              <a:off x="7669073" y="4217440"/>
              <a:ext cx="609905" cy="267005"/>
            </a:xfrm>
            <a:prstGeom prst="roundRect">
              <a:avLst>
                <a:gd name="adj" fmla="val 48924"/>
              </a:avLst>
            </a:prstGeom>
            <a:solidFill>
              <a:srgbClr val="DC262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6" name="Text 64"/>
            <p:cNvSpPr txBox="1"/>
            <p:nvPr/>
          </p:nvSpPr>
          <p:spPr>
            <a:xfrm>
              <a:off x="7717766" y="4237790"/>
              <a:ext cx="63550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Level 3</a:t>
              </a:r>
              <a:endParaRPr lang="en-US" sz="1200" dirty="0"/>
            </a:p>
          </p:txBody>
        </p:sp>
        <p:sp>
          <p:nvSpPr>
            <p:cNvPr id="77" name="Text 65"/>
            <p:cNvSpPr txBox="1"/>
            <p:nvPr/>
          </p:nvSpPr>
          <p:spPr>
            <a:xfrm>
              <a:off x="7669073" y="4448556"/>
              <a:ext cx="514807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EF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-20%</a:t>
              </a:r>
              <a:endParaRPr lang="en-US" sz="1300" dirty="0"/>
            </a:p>
          </p:txBody>
        </p:sp>
        <p:pic>
          <p:nvPicPr>
            <p:cNvPr id="78" name="Image 10" descr="preencoded.png"/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8922715" y="4572000"/>
              <a:ext cx="133502" cy="133502"/>
            </a:xfrm>
            <a:prstGeom prst="rect">
              <a:avLst/>
            </a:prstGeom>
          </p:spPr>
        </p:pic>
        <p:sp>
          <p:nvSpPr>
            <p:cNvPr id="79" name="Text 66"/>
            <p:cNvSpPr txBox="1"/>
            <p:nvPr/>
          </p:nvSpPr>
          <p:spPr>
            <a:xfrm>
              <a:off x="7669073" y="4743907"/>
              <a:ext cx="164317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손절매 (Stop Loss)</a:t>
              </a:r>
              <a:endParaRPr lang="en-US" sz="1200" dirty="0"/>
            </a:p>
          </p:txBody>
        </p:sp>
        <p:sp>
          <p:nvSpPr>
            <p:cNvPr id="80" name="Text 67"/>
            <p:cNvSpPr txBox="1"/>
            <p:nvPr/>
          </p:nvSpPr>
          <p:spPr>
            <a:xfrm>
              <a:off x="7669073" y="4990795"/>
              <a:ext cx="1448410" cy="571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위원회 긴급 소집.</a:t>
              </a:r>
              <a:endParaRPr lang="en-US" sz="1200" dirty="0"/>
            </a:p>
            <a:p>
              <a:pPr marL="0" indent="0" algn="l">
                <a:buNone/>
              </a:pPr>
              <a:r>
                <a:rPr lang="en-US" sz="12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강제 청산/계정 재분류. </a:t>
              </a:r>
              <a:endParaRPr lang="en-US" sz="1200" dirty="0"/>
            </a:p>
          </p:txBody>
        </p:sp>
      </p:grpSp>
      <p:sp>
        <p:nvSpPr>
          <p:cNvPr id="83" name="Text 15">
            <a:extLst>
              <a:ext uri="{FF2B5EF4-FFF2-40B4-BE49-F238E27FC236}">
                <a16:creationId xmlns:a16="http://schemas.microsoft.com/office/drawing/2014/main" id="{AEF7D078-99D7-DD71-D768-BE70C6D03A86}"/>
              </a:ext>
            </a:extLst>
          </p:cNvPr>
          <p:cNvSpPr txBox="1"/>
          <p:nvPr/>
        </p:nvSpPr>
        <p:spPr>
          <a:xfrm>
            <a:off x="9417362" y="6610121"/>
            <a:ext cx="211759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Selvas Group Treasury Committee</a:t>
            </a:r>
            <a:endParaRPr lang="en-US" sz="900" dirty="0"/>
          </a:p>
        </p:txBody>
      </p:sp>
      <p:sp>
        <p:nvSpPr>
          <p:cNvPr id="84" name="Shape 45">
            <a:extLst>
              <a:ext uri="{FF2B5EF4-FFF2-40B4-BE49-F238E27FC236}">
                <a16:creationId xmlns:a16="http://schemas.microsoft.com/office/drawing/2014/main" id="{043461C8-257D-1644-E6C5-616D49E00902}"/>
              </a:ext>
            </a:extLst>
          </p:cNvPr>
          <p:cNvSpPr/>
          <p:nvPr/>
        </p:nvSpPr>
        <p:spPr>
          <a:xfrm>
            <a:off x="516786" y="6549561"/>
            <a:ext cx="10972800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Shape 50">
            <a:extLst>
              <a:ext uri="{FF2B5EF4-FFF2-40B4-BE49-F238E27FC236}">
                <a16:creationId xmlns:a16="http://schemas.microsoft.com/office/drawing/2014/main" id="{BB93DCB7-FA2B-AC39-9949-97DB95B815B9}"/>
              </a:ext>
            </a:extLst>
          </p:cNvPr>
          <p:cNvSpPr/>
          <p:nvPr/>
        </p:nvSpPr>
        <p:spPr>
          <a:xfrm>
            <a:off x="7421229" y="4815793"/>
            <a:ext cx="813600" cy="230400"/>
          </a:xfrm>
          <a:prstGeom prst="roundRect">
            <a:avLst>
              <a:gd name="adj" fmla="val 48924"/>
            </a:avLst>
          </a:prstGeom>
          <a:solidFill>
            <a:schemeClr val="accent2">
              <a:lumMod val="5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Text 51">
            <a:extLst>
              <a:ext uri="{FF2B5EF4-FFF2-40B4-BE49-F238E27FC236}">
                <a16:creationId xmlns:a16="http://schemas.microsoft.com/office/drawing/2014/main" id="{F17174C1-2DA4-2258-9565-76F35F0B36B1}"/>
              </a:ext>
            </a:extLst>
          </p:cNvPr>
          <p:cNvSpPr txBox="1"/>
          <p:nvPr/>
        </p:nvSpPr>
        <p:spPr>
          <a:xfrm>
            <a:off x="7497367" y="4814323"/>
            <a:ext cx="81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Level 2</a:t>
            </a:r>
            <a:endParaRPr lang="en-US" sz="1200" dirty="0"/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204672F1-DB33-1CE3-5584-821DF210BCC1}"/>
              </a:ext>
            </a:extLst>
          </p:cNvPr>
          <p:cNvGrpSpPr/>
          <p:nvPr/>
        </p:nvGrpSpPr>
        <p:grpSpPr>
          <a:xfrm>
            <a:off x="10834727" y="476859"/>
            <a:ext cx="752551" cy="228600"/>
            <a:chOff x="10834727" y="476859"/>
            <a:chExt cx="752551" cy="228600"/>
          </a:xfrm>
        </p:grpSpPr>
        <p:sp>
          <p:nvSpPr>
            <p:cNvPr id="97" name="Shape 47">
              <a:extLst>
                <a:ext uri="{FF2B5EF4-FFF2-40B4-BE49-F238E27FC236}">
                  <a16:creationId xmlns:a16="http://schemas.microsoft.com/office/drawing/2014/main" id="{42486D8B-DC02-C24F-90BB-9C8E366949DA}"/>
                </a:ext>
              </a:extLst>
            </p:cNvPr>
            <p:cNvSpPr/>
            <p:nvPr/>
          </p:nvSpPr>
          <p:spPr>
            <a:xfrm>
              <a:off x="10834727" y="476859"/>
              <a:ext cx="752551" cy="228600"/>
            </a:xfrm>
            <a:prstGeom prst="roundRect">
              <a:avLst>
                <a:gd name="adj" fmla="val 66667"/>
              </a:avLst>
            </a:prstGeom>
            <a:solidFill>
              <a:srgbClr val="1F2937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8" name="Text 4">
              <a:extLst>
                <a:ext uri="{FF2B5EF4-FFF2-40B4-BE49-F238E27FC236}">
                  <a16:creationId xmlns:a16="http://schemas.microsoft.com/office/drawing/2014/main" id="{C4C301D8-25F5-7718-BA03-19AE2434765F}"/>
                </a:ext>
              </a:extLst>
            </p:cNvPr>
            <p:cNvSpPr txBox="1"/>
            <p:nvPr/>
          </p:nvSpPr>
          <p:spPr>
            <a:xfrm>
              <a:off x="10872216" y="514807"/>
              <a:ext cx="600761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MEDIANA</a:t>
              </a:r>
              <a:endParaRPr lang="en-US" sz="900" dirty="0"/>
            </a:p>
          </p:txBody>
        </p:sp>
      </p:grpSp>
      <p:sp>
        <p:nvSpPr>
          <p:cNvPr id="99" name="Text 19">
            <a:extLst>
              <a:ext uri="{FF2B5EF4-FFF2-40B4-BE49-F238E27FC236}">
                <a16:creationId xmlns:a16="http://schemas.microsoft.com/office/drawing/2014/main" id="{1CCD7EB8-7E08-4B80-57F1-BAFEACE996A7}"/>
              </a:ext>
            </a:extLst>
          </p:cNvPr>
          <p:cNvSpPr txBox="1"/>
          <p:nvPr/>
        </p:nvSpPr>
        <p:spPr>
          <a:xfrm>
            <a:off x="5445499" y="2312202"/>
            <a:ext cx="2622675" cy="21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〮 </a:t>
            </a:r>
            <a:r>
              <a:rPr lang="ko-KR" alt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한국은행 금리인하 사이클 </a:t>
            </a:r>
            <a:r>
              <a:rPr lang="en-US" altLang="ko-KR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(4~5</a:t>
            </a:r>
            <a:r>
              <a:rPr lang="ko-KR" alt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중</a:t>
            </a:r>
            <a:r>
              <a:rPr lang="en-US" altLang="ko-KR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200" dirty="0"/>
          </a:p>
        </p:txBody>
      </p:sp>
      <p:sp>
        <p:nvSpPr>
          <p:cNvPr id="100" name="Text 19">
            <a:extLst>
              <a:ext uri="{FF2B5EF4-FFF2-40B4-BE49-F238E27FC236}">
                <a16:creationId xmlns:a16="http://schemas.microsoft.com/office/drawing/2014/main" id="{B22B5CDB-FB8F-520F-F5DE-BD1576ED9AE8}"/>
              </a:ext>
            </a:extLst>
          </p:cNvPr>
          <p:cNvSpPr txBox="1"/>
          <p:nvPr/>
        </p:nvSpPr>
        <p:spPr>
          <a:xfrm>
            <a:off x="5445499" y="2607369"/>
            <a:ext cx="2622675" cy="21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〮 </a:t>
            </a:r>
            <a:r>
              <a:rPr lang="ko-KR" altLang="en-US" sz="12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세계국채지수</a:t>
            </a:r>
            <a:r>
              <a:rPr lang="en-US" altLang="ko-KR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(WGBI) </a:t>
            </a:r>
            <a:r>
              <a:rPr lang="ko-KR" alt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편입 및 자금유입</a:t>
            </a:r>
            <a:endParaRPr lang="en-US" sz="1200" dirty="0"/>
          </a:p>
        </p:txBody>
      </p:sp>
      <p:sp>
        <p:nvSpPr>
          <p:cNvPr id="101" name="Text 19">
            <a:extLst>
              <a:ext uri="{FF2B5EF4-FFF2-40B4-BE49-F238E27FC236}">
                <a16:creationId xmlns:a16="http://schemas.microsoft.com/office/drawing/2014/main" id="{9BB70D14-493B-36D6-21B9-06B6B6CCE20B}"/>
              </a:ext>
            </a:extLst>
          </p:cNvPr>
          <p:cNvSpPr txBox="1"/>
          <p:nvPr/>
        </p:nvSpPr>
        <p:spPr>
          <a:xfrm>
            <a:off x="5445499" y="2011226"/>
            <a:ext cx="2622675" cy="21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〮 </a:t>
            </a:r>
            <a:r>
              <a:rPr lang="ko-KR" alt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미국금리 인하 재개</a:t>
            </a:r>
            <a:r>
              <a:rPr lang="en-US" altLang="ko-KR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</a:t>
            </a:r>
            <a:r>
              <a:rPr lang="ko-KR" alt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 이후</a:t>
            </a:r>
            <a:r>
              <a:rPr lang="en-US" altLang="ko-KR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200" dirty="0"/>
          </a:p>
        </p:txBody>
      </p:sp>
      <p:sp>
        <p:nvSpPr>
          <p:cNvPr id="103" name="Text 54">
            <a:extLst>
              <a:ext uri="{FF2B5EF4-FFF2-40B4-BE49-F238E27FC236}">
                <a16:creationId xmlns:a16="http://schemas.microsoft.com/office/drawing/2014/main" id="{BA1D3664-2FE5-B690-9CD4-5BDB119087B3}"/>
              </a:ext>
            </a:extLst>
          </p:cNvPr>
          <p:cNvSpPr txBox="1"/>
          <p:nvPr/>
        </p:nvSpPr>
        <p:spPr>
          <a:xfrm>
            <a:off x="5579541" y="2868912"/>
            <a:ext cx="2095672" cy="228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</a:t>
            </a:r>
            <a:r>
              <a:rPr lang="en-US" altLang="ko-KR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ko-KR" alt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先</a:t>
            </a:r>
            <a:r>
              <a:rPr lang="en-US" altLang="ko-KR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r>
              <a:rPr lang="ko-KR" alt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반영 되었다는 시각 우세</a:t>
            </a: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200" dirty="0"/>
          </a:p>
        </p:txBody>
      </p:sp>
      <p:sp>
        <p:nvSpPr>
          <p:cNvPr id="104" name="Text 19">
            <a:extLst>
              <a:ext uri="{FF2B5EF4-FFF2-40B4-BE49-F238E27FC236}">
                <a16:creationId xmlns:a16="http://schemas.microsoft.com/office/drawing/2014/main" id="{C9733172-FFDD-3CC2-DA30-984C5A670A71}"/>
              </a:ext>
            </a:extLst>
          </p:cNvPr>
          <p:cNvSpPr txBox="1"/>
          <p:nvPr/>
        </p:nvSpPr>
        <p:spPr>
          <a:xfrm>
            <a:off x="5445499" y="3102060"/>
            <a:ext cx="2622675" cy="21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〮 </a:t>
            </a:r>
            <a:r>
              <a:rPr lang="ko-KR" alt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중국 경기부양 본격화</a:t>
            </a:r>
            <a:endParaRPr lang="en-US" sz="1200" dirty="0"/>
          </a:p>
        </p:txBody>
      </p:sp>
      <p:sp>
        <p:nvSpPr>
          <p:cNvPr id="105" name="Text 54">
            <a:extLst>
              <a:ext uri="{FF2B5EF4-FFF2-40B4-BE49-F238E27FC236}">
                <a16:creationId xmlns:a16="http://schemas.microsoft.com/office/drawing/2014/main" id="{FBAEF524-065D-CB91-2DDC-93A6D9DE6569}"/>
              </a:ext>
            </a:extLst>
          </p:cNvPr>
          <p:cNvSpPr txBox="1"/>
          <p:nvPr/>
        </p:nvSpPr>
        <p:spPr>
          <a:xfrm>
            <a:off x="5579541" y="3301274"/>
            <a:ext cx="2622674" cy="241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단기악재이나 장기적으로는 호재</a:t>
            </a:r>
            <a:endParaRPr lang="en-US" sz="1200" dirty="0"/>
          </a:p>
        </p:txBody>
      </p:sp>
      <p:sp>
        <p:nvSpPr>
          <p:cNvPr id="106" name="Text 19">
            <a:extLst>
              <a:ext uri="{FF2B5EF4-FFF2-40B4-BE49-F238E27FC236}">
                <a16:creationId xmlns:a16="http://schemas.microsoft.com/office/drawing/2014/main" id="{3047FF3D-602E-9EC8-D0AB-3DFCD64FADD8}"/>
              </a:ext>
            </a:extLst>
          </p:cNvPr>
          <p:cNvSpPr txBox="1"/>
          <p:nvPr/>
        </p:nvSpPr>
        <p:spPr>
          <a:xfrm>
            <a:off x="8725792" y="2011226"/>
            <a:ext cx="2622675" cy="21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〮 </a:t>
            </a:r>
            <a:r>
              <a:rPr lang="ko-KR" alt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 재정적자 및 추가 국채발행</a:t>
            </a:r>
            <a:endParaRPr lang="en-US" sz="1200" dirty="0"/>
          </a:p>
        </p:txBody>
      </p:sp>
      <p:sp>
        <p:nvSpPr>
          <p:cNvPr id="107" name="Text 19">
            <a:extLst>
              <a:ext uri="{FF2B5EF4-FFF2-40B4-BE49-F238E27FC236}">
                <a16:creationId xmlns:a16="http://schemas.microsoft.com/office/drawing/2014/main" id="{B1C792AA-64E1-CC1F-7ED4-3D9BC6784DF7}"/>
              </a:ext>
            </a:extLst>
          </p:cNvPr>
          <p:cNvSpPr txBox="1"/>
          <p:nvPr/>
        </p:nvSpPr>
        <p:spPr>
          <a:xfrm>
            <a:off x="8725792" y="2593554"/>
            <a:ext cx="2622675" cy="21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〮 </a:t>
            </a:r>
            <a:r>
              <a:rPr lang="ko-KR" alt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미국 </a:t>
            </a:r>
            <a:r>
              <a:rPr lang="ko-KR" altLang="en-US" sz="12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관세발</a:t>
            </a:r>
            <a:r>
              <a:rPr lang="ko-KR" alt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스태그플레이션</a:t>
            </a:r>
            <a:endParaRPr lang="en-US" sz="1200" dirty="0"/>
          </a:p>
        </p:txBody>
      </p:sp>
      <p:sp>
        <p:nvSpPr>
          <p:cNvPr id="108" name="Text 19">
            <a:extLst>
              <a:ext uri="{FF2B5EF4-FFF2-40B4-BE49-F238E27FC236}">
                <a16:creationId xmlns:a16="http://schemas.microsoft.com/office/drawing/2014/main" id="{817CE2E1-C10C-F55C-6743-542D04D073CC}"/>
              </a:ext>
            </a:extLst>
          </p:cNvPr>
          <p:cNvSpPr txBox="1"/>
          <p:nvPr/>
        </p:nvSpPr>
        <p:spPr>
          <a:xfrm>
            <a:off x="8725791" y="2886794"/>
            <a:ext cx="2622675" cy="21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〮 </a:t>
            </a:r>
            <a:r>
              <a:rPr lang="ko-KR" alt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일본 금리 정상화 가속</a:t>
            </a:r>
            <a:r>
              <a:rPr lang="en-US" altLang="ko-KR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ko-KR" alt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 캐리 청산</a:t>
            </a:r>
            <a:r>
              <a:rPr lang="en-US" altLang="ko-KR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200" dirty="0"/>
          </a:p>
        </p:txBody>
      </p:sp>
      <p:sp>
        <p:nvSpPr>
          <p:cNvPr id="109" name="Text 54">
            <a:extLst>
              <a:ext uri="{FF2B5EF4-FFF2-40B4-BE49-F238E27FC236}">
                <a16:creationId xmlns:a16="http://schemas.microsoft.com/office/drawing/2014/main" id="{CAA32E8D-FF7B-04FE-1DA5-AE727DD9678D}"/>
              </a:ext>
            </a:extLst>
          </p:cNvPr>
          <p:cNvSpPr txBox="1"/>
          <p:nvPr/>
        </p:nvSpPr>
        <p:spPr>
          <a:xfrm>
            <a:off x="8823435" y="3141280"/>
            <a:ext cx="2621266" cy="33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 시장에서 움직임 있음</a:t>
            </a:r>
            <a:r>
              <a:rPr lang="en-US" altLang="ko-KR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</a:rPr>
              <a:t>(</a:t>
            </a:r>
            <a:r>
              <a:rPr lang="ko-KR" alt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</a:rPr>
              <a:t>달러 가치의 하락</a:t>
            </a:r>
            <a:r>
              <a:rPr lang="en-US" altLang="ko-KR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</a:rPr>
              <a:t>)</a:t>
            </a:r>
            <a:endParaRPr lang="en-US" sz="1200" dirty="0"/>
          </a:p>
        </p:txBody>
      </p:sp>
      <p:sp>
        <p:nvSpPr>
          <p:cNvPr id="110" name="Text 19">
            <a:extLst>
              <a:ext uri="{FF2B5EF4-FFF2-40B4-BE49-F238E27FC236}">
                <a16:creationId xmlns:a16="http://schemas.microsoft.com/office/drawing/2014/main" id="{C3D8923C-F5B5-FCBA-7034-B0EBB311263A}"/>
              </a:ext>
            </a:extLst>
          </p:cNvPr>
          <p:cNvSpPr txBox="1"/>
          <p:nvPr/>
        </p:nvSpPr>
        <p:spPr>
          <a:xfrm>
            <a:off x="8709062" y="2315852"/>
            <a:ext cx="2622675" cy="21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〮 </a:t>
            </a:r>
            <a:r>
              <a:rPr lang="ko-KR" alt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지속적인 물가상승 압박</a:t>
            </a:r>
            <a:endParaRPr lang="en-US" sz="1200" dirty="0"/>
          </a:p>
        </p:txBody>
      </p:sp>
      <p:sp>
        <p:nvSpPr>
          <p:cNvPr id="6" name="Shape 17">
            <a:extLst>
              <a:ext uri="{FF2B5EF4-FFF2-40B4-BE49-F238E27FC236}">
                <a16:creationId xmlns:a16="http://schemas.microsoft.com/office/drawing/2014/main" id="{53207795-502F-D224-F66B-906A7F60EA5F}"/>
              </a:ext>
            </a:extLst>
          </p:cNvPr>
          <p:cNvSpPr/>
          <p:nvPr/>
        </p:nvSpPr>
        <p:spPr>
          <a:xfrm>
            <a:off x="5061485" y="3776890"/>
            <a:ext cx="6509439" cy="728994"/>
          </a:xfrm>
          <a:prstGeom prst="roundRect">
            <a:avLst>
              <a:gd name="adj" fmla="val 1097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44">
            <a:extLst>
              <a:ext uri="{FF2B5EF4-FFF2-40B4-BE49-F238E27FC236}">
                <a16:creationId xmlns:a16="http://schemas.microsoft.com/office/drawing/2014/main" id="{083CF299-1B5E-A7BF-B974-15BA2CDA4158}"/>
              </a:ext>
            </a:extLst>
          </p:cNvPr>
          <p:cNvSpPr txBox="1"/>
          <p:nvPr/>
        </p:nvSpPr>
        <p:spPr>
          <a:xfrm>
            <a:off x="5409793" y="3885361"/>
            <a:ext cx="6118717" cy="155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만기기한의 임의선정</a:t>
            </a:r>
            <a:r>
              <a:rPr lang="en-US" altLang="ko-KR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ko-KR" alt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후 매도</a:t>
            </a:r>
            <a:endParaRPr lang="en-US" sz="1100" dirty="0"/>
          </a:p>
        </p:txBody>
      </p:sp>
      <p:pic>
        <p:nvPicPr>
          <p:cNvPr id="30" name="Image 7" descr="preencoded.png">
            <a:extLst>
              <a:ext uri="{FF2B5EF4-FFF2-40B4-BE49-F238E27FC236}">
                <a16:creationId xmlns:a16="http://schemas.microsoft.com/office/drawing/2014/main" id="{2FE06E62-EEA2-3849-AE32-94A4767B813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1507" r="-1507"/>
          <a:stretch/>
        </p:blipFill>
        <p:spPr>
          <a:xfrm>
            <a:off x="5202716" y="3909233"/>
            <a:ext cx="109974" cy="108914"/>
          </a:xfrm>
          <a:prstGeom prst="rect">
            <a:avLst/>
          </a:prstGeom>
        </p:spPr>
      </p:pic>
      <p:sp>
        <p:nvSpPr>
          <p:cNvPr id="31" name="Text 54">
            <a:extLst>
              <a:ext uri="{FF2B5EF4-FFF2-40B4-BE49-F238E27FC236}">
                <a16:creationId xmlns:a16="http://schemas.microsoft.com/office/drawing/2014/main" id="{4B054F39-9A6D-EC86-4DE1-3D1A885B4AD1}"/>
              </a:ext>
            </a:extLst>
          </p:cNvPr>
          <p:cNvSpPr txBox="1"/>
          <p:nvPr/>
        </p:nvSpPr>
        <p:spPr>
          <a:xfrm>
            <a:off x="5380201" y="4077318"/>
            <a:ext cx="5984852" cy="42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최소 </a:t>
            </a:r>
            <a:r>
              <a:rPr lang="en-US" altLang="ko-KR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r>
              <a:rPr lang="ko-KR" alt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년</a:t>
            </a:r>
            <a:r>
              <a:rPr lang="en-US" altLang="ko-KR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0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(8</a:t>
            </a:r>
            <a:r>
              <a:rPr lang="ko-KR" altLang="en-US" sz="10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月</a:t>
            </a:r>
            <a:r>
              <a:rPr lang="en-US" altLang="ko-KR" sz="10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0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</a:t>
            </a:r>
            <a:r>
              <a:rPr lang="en-US" altLang="ko-KR" sz="10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r>
              <a:rPr lang="ko-KR" alt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보유 후 </a:t>
            </a:r>
            <a:r>
              <a:rPr lang="en-US" altLang="ko-KR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ko-KR" alt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수일 내</a:t>
            </a:r>
            <a:r>
              <a:rPr lang="en-US" altLang="ko-KR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r>
              <a:rPr lang="ko-KR" alt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청산시점 확정 </a:t>
            </a:r>
            <a:endParaRPr lang="en-US" altLang="ko-KR" sz="1200" dirty="0">
              <a:solidFill>
                <a:srgbClr val="9CA3AF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ko-KR" alt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ko-KR" altLang="en-US" sz="11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</a:rPr>
              <a:t>→ </a:t>
            </a:r>
            <a:r>
              <a:rPr lang="en-US" altLang="ko-KR" sz="11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</a:rPr>
              <a:t>UP SIDE </a:t>
            </a:r>
            <a:r>
              <a:rPr lang="ko-KR" altLang="en-US" sz="11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</a:rPr>
              <a:t>이벤트의 현실화에 따른 채권가격 상승여부 확인가능</a:t>
            </a:r>
            <a:r>
              <a:rPr lang="en-US" altLang="ko-KR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16301-C6CD-2D64-A5DA-44D199CE9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8CA4ECA-14CA-F07D-2A1E-C2157E45934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67CC272-3D96-EC28-F879-3BBAD3BB5C15}"/>
              </a:ext>
            </a:extLst>
          </p:cNvPr>
          <p:cNvSpPr/>
          <p:nvPr/>
        </p:nvSpPr>
        <p:spPr>
          <a:xfrm>
            <a:off x="7559345" y="0"/>
            <a:ext cx="4638751" cy="6858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2F1DC94-AB8F-C97F-6EBB-3E354721D02A}"/>
              </a:ext>
            </a:extLst>
          </p:cNvPr>
          <p:cNvSpPr/>
          <p:nvPr/>
        </p:nvSpPr>
        <p:spPr>
          <a:xfrm>
            <a:off x="7520940" y="0"/>
            <a:ext cx="38405" cy="6858000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CE1C064-6FFE-618F-B8AD-D58C3FDEB807}"/>
              </a:ext>
            </a:extLst>
          </p:cNvPr>
          <p:cNvSpPr txBox="1"/>
          <p:nvPr/>
        </p:nvSpPr>
        <p:spPr>
          <a:xfrm>
            <a:off x="766628" y="704175"/>
            <a:ext cx="17245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SELVAS GROUP</a:t>
            </a:r>
            <a:endParaRPr lang="en-US" sz="15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3B9BF20-148F-B052-8781-C013B0BEFFD7}"/>
              </a:ext>
            </a:extLst>
          </p:cNvPr>
          <p:cNvSpPr txBox="1"/>
          <p:nvPr/>
        </p:nvSpPr>
        <p:spPr>
          <a:xfrm>
            <a:off x="766628" y="932775"/>
            <a:ext cx="17245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5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TREASURY COMMITTEE</a:t>
            </a:r>
            <a:endParaRPr lang="en-US" sz="9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7EC81B9-7A54-1EF8-3833-36971E21B6EF}"/>
              </a:ext>
            </a:extLst>
          </p:cNvPr>
          <p:cNvSpPr txBox="1"/>
          <p:nvPr/>
        </p:nvSpPr>
        <p:spPr>
          <a:xfrm>
            <a:off x="9873691" y="705002"/>
            <a:ext cx="180959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6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– 01 -30 </a:t>
            </a:r>
            <a:endParaRPr lang="en-US" sz="1000" b="1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027ADE51-07E5-47EE-AE11-C39DC246AF47}"/>
              </a:ext>
            </a:extLst>
          </p:cNvPr>
          <p:cNvSpPr/>
          <p:nvPr/>
        </p:nvSpPr>
        <p:spPr>
          <a:xfrm>
            <a:off x="761695" y="5495544"/>
            <a:ext cx="1066830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EC44793-F5B8-7F02-6B3A-6E69713E780E}"/>
              </a:ext>
            </a:extLst>
          </p:cNvPr>
          <p:cNvSpPr txBox="1"/>
          <p:nvPr/>
        </p:nvSpPr>
        <p:spPr>
          <a:xfrm>
            <a:off x="761695" y="5734202"/>
            <a:ext cx="65535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AGENDA OVERVIEW</a:t>
            </a:r>
            <a:endParaRPr lang="en-US" sz="9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AA2AE5F0-D508-42E2-D556-4928ECFED005}"/>
              </a:ext>
            </a:extLst>
          </p:cNvPr>
          <p:cNvSpPr/>
          <p:nvPr/>
        </p:nvSpPr>
        <p:spPr>
          <a:xfrm>
            <a:off x="761695" y="6067044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05DA225B-AE21-6C22-8DF8-02607786E2C3}"/>
              </a:ext>
            </a:extLst>
          </p:cNvPr>
          <p:cNvSpPr txBox="1"/>
          <p:nvPr/>
        </p:nvSpPr>
        <p:spPr>
          <a:xfrm>
            <a:off x="895198" y="6001207"/>
            <a:ext cx="1714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차입금 관리 &amp; 리파이낸싱</a:t>
            </a:r>
            <a:endParaRPr lang="en-US" sz="100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91EAD14B-A5E8-CA50-AAF2-D3B38F87ED05}"/>
              </a:ext>
            </a:extLst>
          </p:cNvPr>
          <p:cNvSpPr/>
          <p:nvPr/>
        </p:nvSpPr>
        <p:spPr>
          <a:xfrm>
            <a:off x="2625242" y="6067044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5B6F76BA-B115-03C4-BC5F-7533F61A2598}"/>
              </a:ext>
            </a:extLst>
          </p:cNvPr>
          <p:cNvSpPr txBox="1"/>
          <p:nvPr/>
        </p:nvSpPr>
        <p:spPr>
          <a:xfrm>
            <a:off x="2758745" y="6001207"/>
            <a:ext cx="1564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FX Target Band &amp; 운용</a:t>
            </a:r>
            <a:endParaRPr lang="en-US" sz="100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0A66B401-4D79-DC99-6382-36A9A23EFBC5}"/>
              </a:ext>
            </a:extLst>
          </p:cNvPr>
          <p:cNvSpPr/>
          <p:nvPr/>
        </p:nvSpPr>
        <p:spPr>
          <a:xfrm>
            <a:off x="4375404" y="6067044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4862F98D-FB32-A830-0DDF-D3A592174C26}"/>
              </a:ext>
            </a:extLst>
          </p:cNvPr>
          <p:cNvSpPr txBox="1"/>
          <p:nvPr/>
        </p:nvSpPr>
        <p:spPr>
          <a:xfrm>
            <a:off x="4508906" y="6001207"/>
            <a:ext cx="14758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FVPL 국채 리스크관리</a:t>
            </a:r>
            <a:endParaRPr lang="en-US" sz="1000" dirty="0"/>
          </a:p>
        </p:txBody>
      </p:sp>
      <p:pic>
        <p:nvPicPr>
          <p:cNvPr id="22" name="Image 1" descr="preencoded.png">
            <a:extLst>
              <a:ext uri="{FF2B5EF4-FFF2-40B4-BE49-F238E27FC236}">
                <a16:creationId xmlns:a16="http://schemas.microsoft.com/office/drawing/2014/main" id="{0BE67B56-3AED-6731-1FAE-4605EFAFAF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89" b="-89"/>
          <a:stretch/>
        </p:blipFill>
        <p:spPr>
          <a:xfrm>
            <a:off x="9714664" y="5931144"/>
            <a:ext cx="1790395" cy="286207"/>
          </a:xfrm>
          <a:prstGeom prst="rect">
            <a:avLst/>
          </a:prstGeom>
        </p:spPr>
      </p:pic>
      <p:sp>
        <p:nvSpPr>
          <p:cNvPr id="20" name="Text 17">
            <a:extLst>
              <a:ext uri="{FF2B5EF4-FFF2-40B4-BE49-F238E27FC236}">
                <a16:creationId xmlns:a16="http://schemas.microsoft.com/office/drawing/2014/main" id="{08D6362C-01A9-CA7B-6527-4433290279BF}"/>
              </a:ext>
            </a:extLst>
          </p:cNvPr>
          <p:cNvSpPr txBox="1"/>
          <p:nvPr/>
        </p:nvSpPr>
        <p:spPr>
          <a:xfrm>
            <a:off x="9690811" y="6032548"/>
            <a:ext cx="1619402" cy="10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STRICTLY CONFIDENTIAL</a:t>
            </a:r>
            <a:endParaRPr lang="en-US" sz="900" dirty="0"/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D9AFFDD2-472C-EC65-C959-64C09FE08BA3}"/>
              </a:ext>
            </a:extLst>
          </p:cNvPr>
          <p:cNvSpPr/>
          <p:nvPr/>
        </p:nvSpPr>
        <p:spPr>
          <a:xfrm>
            <a:off x="761695" y="1333195"/>
            <a:ext cx="457200" cy="19202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D26D6D4F-CBE2-7058-2F14-3AEE8C81736E}"/>
              </a:ext>
            </a:extLst>
          </p:cNvPr>
          <p:cNvSpPr txBox="1"/>
          <p:nvPr/>
        </p:nvSpPr>
        <p:spPr>
          <a:xfrm>
            <a:off x="1295705" y="1248156"/>
            <a:ext cx="227777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Official Policy Meeting</a:t>
            </a:r>
            <a:endParaRPr lang="en-US" sz="1000" dirty="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2CF53CEB-DA20-4AB3-807D-C4A3CF727277}"/>
              </a:ext>
            </a:extLst>
          </p:cNvPr>
          <p:cNvSpPr txBox="1"/>
          <p:nvPr/>
        </p:nvSpPr>
        <p:spPr>
          <a:xfrm>
            <a:off x="761695" y="1666951"/>
            <a:ext cx="992581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그룹</a:t>
            </a:r>
            <a:r>
              <a:rPr lang="en-US" sz="5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자금운용위원회</a:t>
            </a:r>
            <a:endParaRPr lang="en-US" sz="5400" dirty="0"/>
          </a:p>
          <a:p>
            <a:pPr marL="0" indent="0" algn="l">
              <a:buNone/>
            </a:pPr>
            <a:r>
              <a:rPr lang="en-US" sz="54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정책회의</a:t>
            </a:r>
            <a:endParaRPr lang="en-US" sz="5400" dirty="0"/>
          </a:p>
        </p:txBody>
      </p:sp>
      <p:pic>
        <p:nvPicPr>
          <p:cNvPr id="26" name="Image 2" descr="preencoded.png">
            <a:extLst>
              <a:ext uri="{FF2B5EF4-FFF2-40B4-BE49-F238E27FC236}">
                <a16:creationId xmlns:a16="http://schemas.microsoft.com/office/drawing/2014/main" id="{08021599-24E3-817E-7190-F121E1C051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6" b="-6"/>
          <a:stretch/>
        </p:blipFill>
        <p:spPr>
          <a:xfrm>
            <a:off x="761695" y="3685946"/>
            <a:ext cx="5562295" cy="1324051"/>
          </a:xfrm>
          <a:prstGeom prst="rect">
            <a:avLst/>
          </a:prstGeom>
        </p:spPr>
      </p:pic>
      <p:sp>
        <p:nvSpPr>
          <p:cNvPr id="27" name="Text 22">
            <a:extLst>
              <a:ext uri="{FF2B5EF4-FFF2-40B4-BE49-F238E27FC236}">
                <a16:creationId xmlns:a16="http://schemas.microsoft.com/office/drawing/2014/main" id="{02422DFC-ADE9-9FE1-D8ED-4EF04146B81E}"/>
              </a:ext>
            </a:extLst>
          </p:cNvPr>
          <p:cNvSpPr txBox="1"/>
          <p:nvPr/>
        </p:nvSpPr>
        <p:spPr>
          <a:xfrm>
            <a:off x="1000354" y="3924605"/>
            <a:ext cx="52011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OBJECTIVE</a:t>
            </a:r>
            <a:endParaRPr lang="en-US" sz="900" dirty="0"/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CCD514E8-2F29-3CDB-C93D-7493FCA0870A}"/>
              </a:ext>
            </a:extLst>
          </p:cNvPr>
          <p:cNvSpPr txBox="1"/>
          <p:nvPr/>
        </p:nvSpPr>
        <p:spPr>
          <a:xfrm>
            <a:off x="1000354" y="4153205"/>
            <a:ext cx="516270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500" b="1" dirty="0" err="1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셀바스</a:t>
            </a:r>
            <a:r>
              <a:rPr lang="en-US" sz="1500" b="1" dirty="0" err="1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그룹</a:t>
            </a:r>
            <a:r>
              <a:rPr lang="en-US" sz="1500" b="1" dirty="0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b="1" dirty="0" err="1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</a:t>
            </a:r>
            <a:r>
              <a:rPr lang="en-US" sz="1500" b="1" dirty="0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b="1" dirty="0" err="1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자금운용</a:t>
            </a:r>
            <a:r>
              <a:rPr lang="en-US" sz="1500" b="1" dirty="0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b="1" dirty="0" err="1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규정</a:t>
            </a:r>
            <a:r>
              <a:rPr lang="en-US" sz="1500" b="1" dirty="0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b="1" dirty="0" err="1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</a:t>
            </a:r>
            <a:r>
              <a:rPr lang="en-US" sz="1500" b="1" dirty="0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</a:t>
            </a:r>
            <a:endParaRPr lang="en-US" sz="1500" b="1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b="1" dirty="0" err="1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</a:t>
            </a:r>
            <a:r>
              <a:rPr lang="en-US" sz="1500" b="1" dirty="0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b="1" dirty="0" err="1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안건</a:t>
            </a:r>
            <a:r>
              <a:rPr lang="en-US" sz="1500" b="1" dirty="0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en-US" sz="1500" b="1" dirty="0" err="1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차입·FX·투자·매각</a:t>
            </a:r>
            <a:r>
              <a:rPr lang="en-US" sz="1500" b="1" dirty="0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 </a:t>
            </a:r>
            <a:r>
              <a:rPr lang="en-US" sz="1500" b="1" dirty="0" err="1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의결</a:t>
            </a:r>
            <a:r>
              <a:rPr lang="en-US" sz="1500" b="1" dirty="0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500" b="1" dirty="0"/>
          </a:p>
        </p:txBody>
      </p:sp>
    </p:spTree>
    <p:extLst>
      <p:ext uri="{BB962C8B-B14F-4D97-AF65-F5344CB8AC3E}">
        <p14:creationId xmlns:p14="http://schemas.microsoft.com/office/powerpoint/2010/main" val="1341869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09905" y="457200"/>
            <a:ext cx="57460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56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셀바스에이아이: 차입금 현황 및 정책방향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09905" y="952805"/>
            <a:ext cx="457200" cy="38405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81405" y="875995"/>
            <a:ext cx="327538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5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Debt Profile &amp; Strategic Direction</a:t>
            </a:r>
            <a:endParaRPr lang="en-US" sz="1000" dirty="0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4CA6DCA4-59A9-E75C-0CCE-081B1F7E4D52}"/>
              </a:ext>
            </a:extLst>
          </p:cNvPr>
          <p:cNvGrpSpPr/>
          <p:nvPr/>
        </p:nvGrpSpPr>
        <p:grpSpPr>
          <a:xfrm>
            <a:off x="10782605" y="466344"/>
            <a:ext cx="800100" cy="247802"/>
            <a:chOff x="10782605" y="466344"/>
            <a:chExt cx="800100" cy="247802"/>
          </a:xfrm>
        </p:grpSpPr>
        <p:pic>
          <p:nvPicPr>
            <p:cNvPr id="27" name="Image 12" descr="preencoded.png"/>
            <p:cNvPicPr>
              <a:picLocks noChangeAspect="1"/>
            </p:cNvPicPr>
            <p:nvPr/>
          </p:nvPicPr>
          <p:blipFill>
            <a:blip r:embed="rId3"/>
            <a:srcRect t="-31" b="-31"/>
            <a:stretch/>
          </p:blipFill>
          <p:spPr>
            <a:xfrm>
              <a:off x="10782605" y="466344"/>
              <a:ext cx="800100" cy="247802"/>
            </a:xfrm>
            <a:prstGeom prst="rect">
              <a:avLst/>
            </a:prstGeom>
          </p:spPr>
        </p:pic>
        <p:sp>
          <p:nvSpPr>
            <p:cNvPr id="6" name="Text 4"/>
            <p:cNvSpPr txBox="1"/>
            <p:nvPr/>
          </p:nvSpPr>
          <p:spPr>
            <a:xfrm>
              <a:off x="10800893" y="514807"/>
              <a:ext cx="657454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BFDBFE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SELVAS AI</a:t>
              </a:r>
              <a:endParaRPr lang="en-US" sz="900" dirty="0"/>
            </a:p>
          </p:txBody>
        </p:sp>
      </p:grp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609905" y="1295705"/>
            <a:ext cx="2038198" cy="188272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1754" y="2143354"/>
            <a:ext cx="1714500" cy="38405"/>
          </a:xfrm>
          <a:prstGeom prst="roundRect">
            <a:avLst>
              <a:gd name="adj" fmla="val 2380940"/>
            </a:avLst>
          </a:prstGeom>
          <a:solidFill>
            <a:srgbClr val="3741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rcRect t="-414" b="-414"/>
          <a:stretch/>
        </p:blipFill>
        <p:spPr>
          <a:xfrm>
            <a:off x="771754" y="2143354"/>
            <a:ext cx="552298" cy="38405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rcRect l="-1" r="-1"/>
          <a:stretch/>
        </p:blipFill>
        <p:spPr>
          <a:xfrm>
            <a:off x="2794406" y="1295704"/>
            <a:ext cx="2038198" cy="1882723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2956255" y="2104949"/>
            <a:ext cx="943662" cy="495605"/>
          </a:xfrm>
          <a:prstGeom prst="roundRect">
            <a:avLst>
              <a:gd name="adj" fmla="val 14192"/>
            </a:avLst>
          </a:prstGeom>
          <a:solidFill>
            <a:srgbClr val="7F1D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/>
          <a:srcRect l="-1" r="-1"/>
          <a:stretch/>
        </p:blipFill>
        <p:spPr>
          <a:xfrm>
            <a:off x="4977994" y="1295704"/>
            <a:ext cx="2038198" cy="1886021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5139842" y="2104949"/>
            <a:ext cx="185166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부채비율 관리 필요</a:t>
            </a:r>
            <a:endParaRPr lang="en-US" sz="9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8"/>
          <a:srcRect l="-2" r="-2"/>
          <a:stretch/>
        </p:blipFill>
        <p:spPr>
          <a:xfrm>
            <a:off x="609905" y="3334958"/>
            <a:ext cx="6400800" cy="3065842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018642" y="3464635"/>
            <a:ext cx="218907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차입금 세부 내역 (만기순) </a:t>
            </a:r>
            <a:endParaRPr lang="en-US" sz="13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9"/>
          <a:srcRect l="-1773" r="-1773"/>
          <a:stretch/>
        </p:blipFill>
        <p:spPr>
          <a:xfrm>
            <a:off x="809244" y="3512184"/>
            <a:ext cx="133502" cy="171907"/>
          </a:xfrm>
          <a:prstGeom prst="rect">
            <a:avLst/>
          </a:prstGeom>
        </p:spPr>
      </p:pic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0"/>
          <a:srcRect t="-12" b="-12"/>
          <a:stretch/>
        </p:blipFill>
        <p:spPr>
          <a:xfrm>
            <a:off x="5767818" y="3525224"/>
            <a:ext cx="1019556" cy="247802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1"/>
          <a:srcRect l="-10" r="-10"/>
          <a:stretch/>
        </p:blipFill>
        <p:spPr>
          <a:xfrm>
            <a:off x="799817" y="3883432"/>
            <a:ext cx="6001207" cy="2295144"/>
          </a:xfrm>
          <a:prstGeom prst="rect">
            <a:avLst/>
          </a:prstGeom>
        </p:spPr>
      </p:pic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826160" y="3947008"/>
          <a:ext cx="5967374" cy="2157525"/>
        </p:xfrm>
        <a:graphic>
          <a:graphicData uri="http://schemas.openxmlformats.org/drawingml/2006/table">
            <a:tbl>
              <a:tblPr/>
              <a:tblGrid>
                <a:gridCol w="1174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20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71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49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15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9CA3A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구분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9CA3A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금액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CA3A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금리(변동)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CA3A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만기일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9CA3A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조건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CA3A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잔여일수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5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④ 신용대출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8717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20억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3.506%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8717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2026-03-22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9CA3A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신용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8717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~1.5개월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5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① 담보대출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50억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3.311%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2026-06-23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9CA3A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토지/건물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~5개월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5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② 신용대출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30억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3.350%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2026-09-15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9CA3A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신용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CA3A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~8개월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5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9CA3A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③ 담보대출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9CA3A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48억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3.616%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2027-01-05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토지/건물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~1년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12"/>
          <a:srcRect t="-8" b="-8"/>
          <a:stretch/>
        </p:blipFill>
        <p:spPr>
          <a:xfrm>
            <a:off x="7315200" y="1265201"/>
            <a:ext cx="4267505" cy="1925141"/>
          </a:xfrm>
          <a:prstGeom prst="rect">
            <a:avLst/>
          </a:prstGeom>
        </p:spPr>
      </p:pic>
      <p:sp>
        <p:nvSpPr>
          <p:cNvPr id="21" name="Text 9"/>
          <p:cNvSpPr txBox="1"/>
          <p:nvPr/>
        </p:nvSpPr>
        <p:spPr>
          <a:xfrm>
            <a:off x="7744054" y="1495044"/>
            <a:ext cx="3829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주요 리스크 분석 </a:t>
            </a:r>
            <a:endParaRPr lang="en-US" sz="120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7515454" y="1533449"/>
            <a:ext cx="152705" cy="152705"/>
          </a:xfrm>
          <a:prstGeom prst="rect">
            <a:avLst/>
          </a:prstGeom>
        </p:spPr>
      </p:pic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14"/>
          <a:srcRect l="-7143" r="-7143"/>
          <a:stretch/>
        </p:blipFill>
        <p:spPr>
          <a:xfrm>
            <a:off x="7515454" y="1852903"/>
            <a:ext cx="133502" cy="133502"/>
          </a:xfrm>
          <a:prstGeom prst="rect">
            <a:avLst/>
          </a:prstGeom>
        </p:spPr>
      </p:pic>
      <p:pic>
        <p:nvPicPr>
          <p:cNvPr id="24" name="Image 11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7515454" y="2597318"/>
            <a:ext cx="133502" cy="133502"/>
          </a:xfrm>
          <a:prstGeom prst="rect">
            <a:avLst/>
          </a:prstGeom>
        </p:spPr>
      </p:pic>
      <p:sp>
        <p:nvSpPr>
          <p:cNvPr id="25" name="Shape 10"/>
          <p:cNvSpPr/>
          <p:nvPr/>
        </p:nvSpPr>
        <p:spPr>
          <a:xfrm>
            <a:off x="552755" y="6491848"/>
            <a:ext cx="10972800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12"/>
          <p:cNvSpPr txBox="1"/>
          <p:nvPr/>
        </p:nvSpPr>
        <p:spPr>
          <a:xfrm>
            <a:off x="771754" y="1447495"/>
            <a:ext cx="105430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보유 자금 (CASH)</a:t>
            </a:r>
            <a:endParaRPr lang="en-US" sz="900" dirty="0"/>
          </a:p>
        </p:txBody>
      </p:sp>
      <p:sp>
        <p:nvSpPr>
          <p:cNvPr id="29" name="Text 13"/>
          <p:cNvSpPr txBox="1"/>
          <p:nvPr/>
        </p:nvSpPr>
        <p:spPr>
          <a:xfrm>
            <a:off x="771754" y="1647749"/>
            <a:ext cx="4197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70</a:t>
            </a:r>
            <a:endParaRPr lang="en-US" sz="2200" dirty="0"/>
          </a:p>
        </p:txBody>
      </p:sp>
      <p:sp>
        <p:nvSpPr>
          <p:cNvPr id="30" name="Text 14"/>
          <p:cNvSpPr txBox="1"/>
          <p:nvPr/>
        </p:nvSpPr>
        <p:spPr>
          <a:xfrm>
            <a:off x="1185062" y="1800454"/>
            <a:ext cx="3621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 원</a:t>
            </a:r>
            <a:endParaRPr lang="en-US" sz="1000" dirty="0"/>
          </a:p>
        </p:txBody>
      </p:sp>
      <p:sp>
        <p:nvSpPr>
          <p:cNvPr id="31" name="Text 15"/>
          <p:cNvSpPr txBox="1"/>
          <p:nvPr/>
        </p:nvSpPr>
        <p:spPr>
          <a:xfrm>
            <a:off x="2956255" y="1447495"/>
            <a:ext cx="10433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차입금 (DEBT)</a:t>
            </a:r>
            <a:endParaRPr lang="en-US" sz="900" dirty="0"/>
          </a:p>
        </p:txBody>
      </p:sp>
      <p:sp>
        <p:nvSpPr>
          <p:cNvPr id="32" name="Text 16"/>
          <p:cNvSpPr txBox="1"/>
          <p:nvPr/>
        </p:nvSpPr>
        <p:spPr>
          <a:xfrm>
            <a:off x="2956255" y="1647749"/>
            <a:ext cx="5907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148</a:t>
            </a:r>
            <a:endParaRPr lang="en-US" sz="2200" dirty="0"/>
          </a:p>
        </p:txBody>
      </p:sp>
      <p:sp>
        <p:nvSpPr>
          <p:cNvPr id="33" name="Text 17"/>
          <p:cNvSpPr txBox="1"/>
          <p:nvPr/>
        </p:nvSpPr>
        <p:spPr>
          <a:xfrm>
            <a:off x="3537814" y="1800454"/>
            <a:ext cx="3621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 원</a:t>
            </a:r>
            <a:endParaRPr lang="en-US" sz="1000" dirty="0"/>
          </a:p>
        </p:txBody>
      </p:sp>
      <p:sp>
        <p:nvSpPr>
          <p:cNvPr id="34" name="Text 18"/>
          <p:cNvSpPr txBox="1"/>
          <p:nvPr/>
        </p:nvSpPr>
        <p:spPr>
          <a:xfrm>
            <a:off x="2937532" y="2265555"/>
            <a:ext cx="1009084" cy="18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ECAC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전액 변동금리</a:t>
            </a:r>
            <a:endParaRPr lang="en-US" sz="1200" dirty="0"/>
          </a:p>
        </p:txBody>
      </p:sp>
      <p:sp>
        <p:nvSpPr>
          <p:cNvPr id="35" name="Text 19"/>
          <p:cNvSpPr txBox="1"/>
          <p:nvPr/>
        </p:nvSpPr>
        <p:spPr>
          <a:xfrm>
            <a:off x="3974897" y="2274983"/>
            <a:ext cx="775411" cy="220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Avg 3.45%</a:t>
            </a:r>
            <a:endParaRPr lang="en-US" sz="1200" dirty="0"/>
          </a:p>
        </p:txBody>
      </p:sp>
      <p:sp>
        <p:nvSpPr>
          <p:cNvPr id="36" name="Text 20"/>
          <p:cNvSpPr txBox="1"/>
          <p:nvPr/>
        </p:nvSpPr>
        <p:spPr>
          <a:xfrm>
            <a:off x="5139842" y="1447495"/>
            <a:ext cx="127741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순차입금 (NET DEBT)</a:t>
            </a:r>
            <a:endParaRPr lang="en-US" sz="900" dirty="0"/>
          </a:p>
        </p:txBody>
      </p:sp>
      <p:sp>
        <p:nvSpPr>
          <p:cNvPr id="37" name="Text 21"/>
          <p:cNvSpPr txBox="1"/>
          <p:nvPr/>
        </p:nvSpPr>
        <p:spPr>
          <a:xfrm>
            <a:off x="5139842" y="1647749"/>
            <a:ext cx="4197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78</a:t>
            </a:r>
            <a:endParaRPr lang="en-US" sz="2200" dirty="0"/>
          </a:p>
        </p:txBody>
      </p:sp>
      <p:sp>
        <p:nvSpPr>
          <p:cNvPr id="38" name="Text 22"/>
          <p:cNvSpPr txBox="1"/>
          <p:nvPr/>
        </p:nvSpPr>
        <p:spPr>
          <a:xfrm>
            <a:off x="5554066" y="1800454"/>
            <a:ext cx="3621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 원</a:t>
            </a:r>
            <a:endParaRPr lang="en-US" sz="1000" dirty="0"/>
          </a:p>
        </p:txBody>
      </p:sp>
      <p:sp>
        <p:nvSpPr>
          <p:cNvPr id="39" name="Text 23"/>
          <p:cNvSpPr txBox="1"/>
          <p:nvPr/>
        </p:nvSpPr>
        <p:spPr>
          <a:xfrm>
            <a:off x="5843713" y="3567437"/>
            <a:ext cx="99486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만기 집중</a:t>
            </a:r>
            <a:endParaRPr lang="en-US" sz="900" dirty="0"/>
          </a:p>
        </p:txBody>
      </p:sp>
      <p:sp>
        <p:nvSpPr>
          <p:cNvPr id="40" name="Text 24"/>
          <p:cNvSpPr txBox="1"/>
          <p:nvPr/>
        </p:nvSpPr>
        <p:spPr>
          <a:xfrm>
            <a:off x="7763256" y="1814498"/>
            <a:ext cx="20519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상환 집중 (Cliff Risk)</a:t>
            </a:r>
            <a:endParaRPr lang="en-US" sz="1000" dirty="0"/>
          </a:p>
        </p:txBody>
      </p:sp>
      <p:sp>
        <p:nvSpPr>
          <p:cNvPr id="41" name="Text 25"/>
          <p:cNvSpPr txBox="1"/>
          <p:nvPr/>
        </p:nvSpPr>
        <p:spPr>
          <a:xfrm>
            <a:off x="7763256" y="1958716"/>
            <a:ext cx="9144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차입금의</a:t>
            </a:r>
            <a:endParaRPr lang="en-US" sz="1000" dirty="0"/>
          </a:p>
        </p:txBody>
      </p:sp>
      <p:sp>
        <p:nvSpPr>
          <p:cNvPr id="42" name="Text 26"/>
          <p:cNvSpPr txBox="1"/>
          <p:nvPr/>
        </p:nvSpPr>
        <p:spPr>
          <a:xfrm>
            <a:off x="8573414" y="1958716"/>
            <a:ext cx="24748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68% (100억) </a:t>
            </a:r>
            <a:r>
              <a:rPr lang="en-US" altLang="ko-KR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3월~9월 </a:t>
            </a:r>
            <a:r>
              <a:rPr lang="en-US" altLang="ko-KR" sz="10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사이</a:t>
            </a:r>
            <a:r>
              <a:rPr lang="en-US" altLang="ko-KR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0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만기</a:t>
            </a:r>
            <a:r>
              <a:rPr lang="en-US" altLang="ko-KR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0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도래</a:t>
            </a:r>
            <a:r>
              <a:rPr lang="en-US" altLang="ko-KR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</a:t>
            </a:r>
            <a:endParaRPr lang="en-US" sz="1000" dirty="0"/>
          </a:p>
        </p:txBody>
      </p:sp>
      <p:sp>
        <p:nvSpPr>
          <p:cNvPr id="43" name="Text 27"/>
          <p:cNvSpPr txBox="1"/>
          <p:nvPr/>
        </p:nvSpPr>
        <p:spPr>
          <a:xfrm>
            <a:off x="7763255" y="2184958"/>
            <a:ext cx="3591763" cy="228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만기연장이 유력하나</a:t>
            </a:r>
            <a:r>
              <a:rPr lang="en-US" altLang="ko-KR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대부분 </a:t>
            </a:r>
            <a:r>
              <a:rPr lang="en-US" altLang="ko-KR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r>
              <a:rPr lang="ko-KR" alt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년 단위 단기연장으로 매년 동일한 상황에 직면함</a:t>
            </a:r>
            <a:r>
              <a:rPr lang="en-US" altLang="ko-KR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000" dirty="0"/>
          </a:p>
        </p:txBody>
      </p:sp>
      <p:sp>
        <p:nvSpPr>
          <p:cNvPr id="44" name="Text 28"/>
          <p:cNvSpPr txBox="1"/>
          <p:nvPr/>
        </p:nvSpPr>
        <p:spPr>
          <a:xfrm>
            <a:off x="7763256" y="2558913"/>
            <a:ext cx="10250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금리 변동 노출</a:t>
            </a:r>
            <a:endParaRPr lang="en-US" sz="1000" dirty="0"/>
          </a:p>
        </p:txBody>
      </p:sp>
      <p:sp>
        <p:nvSpPr>
          <p:cNvPr id="45" name="Text 29"/>
          <p:cNvSpPr txBox="1"/>
          <p:nvPr/>
        </p:nvSpPr>
        <p:spPr>
          <a:xfrm>
            <a:off x="7763256" y="2714854"/>
            <a:ext cx="37755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100% 변동금리 구조. 시장금리 1%p 상승 시 연 이자비용</a:t>
            </a:r>
            <a:endParaRPr lang="en-US" sz="1000" dirty="0"/>
          </a:p>
        </p:txBody>
      </p:sp>
      <p:sp>
        <p:nvSpPr>
          <p:cNvPr id="46" name="Text 30"/>
          <p:cNvSpPr txBox="1"/>
          <p:nvPr/>
        </p:nvSpPr>
        <p:spPr>
          <a:xfrm>
            <a:off x="7724983" y="2914006"/>
            <a:ext cx="486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+1.5억</a:t>
            </a:r>
            <a:endParaRPr lang="en-US" sz="1000" dirty="0"/>
          </a:p>
        </p:txBody>
      </p:sp>
      <p:sp>
        <p:nvSpPr>
          <p:cNvPr id="47" name="Text 31"/>
          <p:cNvSpPr txBox="1"/>
          <p:nvPr/>
        </p:nvSpPr>
        <p:spPr>
          <a:xfrm>
            <a:off x="8211444" y="2914649"/>
            <a:ext cx="71780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증가 예상.</a:t>
            </a:r>
            <a:endParaRPr lang="en-US" sz="1000" dirty="0"/>
          </a:p>
        </p:txBody>
      </p:sp>
      <p:pic>
        <p:nvPicPr>
          <p:cNvPr id="48" name="Image 13" descr="preencoded.png"/>
          <p:cNvPicPr>
            <a:picLocks noChangeAspect="1"/>
          </p:cNvPicPr>
          <p:nvPr/>
        </p:nvPicPr>
        <p:blipFill>
          <a:blip r:embed="rId16"/>
          <a:srcRect l="-1" r="-1"/>
          <a:stretch/>
        </p:blipFill>
        <p:spPr>
          <a:xfrm>
            <a:off x="7315200" y="3334958"/>
            <a:ext cx="4267505" cy="3065842"/>
          </a:xfrm>
          <a:prstGeom prst="rect">
            <a:avLst/>
          </a:prstGeom>
        </p:spPr>
      </p:pic>
      <p:sp>
        <p:nvSpPr>
          <p:cNvPr id="49" name="Text 32"/>
          <p:cNvSpPr txBox="1"/>
          <p:nvPr/>
        </p:nvSpPr>
        <p:spPr>
          <a:xfrm>
            <a:off x="7744054" y="3545238"/>
            <a:ext cx="3829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레버리지 관리 정책 방향 </a:t>
            </a:r>
            <a:endParaRPr lang="en-US" sz="1200" dirty="0"/>
          </a:p>
        </p:txBody>
      </p:sp>
      <p:pic>
        <p:nvPicPr>
          <p:cNvPr id="50" name="Image 14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7515454" y="3583643"/>
            <a:ext cx="152705" cy="152705"/>
          </a:xfrm>
          <a:prstGeom prst="rect">
            <a:avLst/>
          </a:prstGeom>
        </p:spPr>
      </p:pic>
      <p:sp>
        <p:nvSpPr>
          <p:cNvPr id="51" name="Text 33"/>
          <p:cNvSpPr txBox="1"/>
          <p:nvPr/>
        </p:nvSpPr>
        <p:spPr>
          <a:xfrm>
            <a:off x="8277149" y="3993011"/>
            <a:ext cx="2061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유동성 확보 (Liquidity)</a:t>
            </a:r>
            <a:endParaRPr lang="en-US" sz="1200" dirty="0"/>
          </a:p>
        </p:txBody>
      </p:sp>
      <p:sp>
        <p:nvSpPr>
          <p:cNvPr id="52" name="Text 34"/>
          <p:cNvSpPr txBox="1"/>
          <p:nvPr/>
        </p:nvSpPr>
        <p:spPr>
          <a:xfrm>
            <a:off x="8277149" y="4260016"/>
            <a:ext cx="19815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차입금 </a:t>
            </a:r>
            <a:r>
              <a:rPr lang="ko-KR" altLang="en-US" sz="900" dirty="0" err="1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상환스케쥴</a:t>
            </a:r>
            <a:r>
              <a:rPr lang="ko-KR" alt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관리 및 </a:t>
            </a:r>
            <a:endParaRPr lang="en-US" altLang="ko-KR" sz="900" dirty="0">
              <a:solidFill>
                <a:srgbClr val="9CA3AF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ko-KR" alt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만기연장 실패로 인한 유동성 리스크 방지</a:t>
            </a: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</a:t>
            </a:r>
            <a:endParaRPr lang="en-US" sz="900" dirty="0"/>
          </a:p>
        </p:txBody>
      </p:sp>
      <p:sp>
        <p:nvSpPr>
          <p:cNvPr id="53" name="Shape 35"/>
          <p:cNvSpPr/>
          <p:nvPr/>
        </p:nvSpPr>
        <p:spPr>
          <a:xfrm>
            <a:off x="7872983" y="4534509"/>
            <a:ext cx="45719" cy="228600"/>
          </a:xfrm>
          <a:prstGeom prst="rect">
            <a:avLst/>
          </a:prstGeom>
          <a:solidFill>
            <a:srgbClr val="4755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4" name="Image 15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7667244" y="4002438"/>
            <a:ext cx="457200" cy="457200"/>
          </a:xfrm>
          <a:prstGeom prst="rect">
            <a:avLst/>
          </a:prstGeom>
        </p:spPr>
      </p:pic>
      <p:sp>
        <p:nvSpPr>
          <p:cNvPr id="55" name="Text 36"/>
          <p:cNvSpPr txBox="1"/>
          <p:nvPr/>
        </p:nvSpPr>
        <p:spPr>
          <a:xfrm>
            <a:off x="7806233" y="4116738"/>
            <a:ext cx="257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200" dirty="0"/>
          </a:p>
        </p:txBody>
      </p:sp>
      <p:sp>
        <p:nvSpPr>
          <p:cNvPr id="56" name="Text 37"/>
          <p:cNvSpPr txBox="1"/>
          <p:nvPr/>
        </p:nvSpPr>
        <p:spPr>
          <a:xfrm>
            <a:off x="8256117" y="4755206"/>
            <a:ext cx="20884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만기 및 리파이낸싱 관리</a:t>
            </a:r>
            <a:endParaRPr lang="en-US" sz="1200" dirty="0"/>
          </a:p>
        </p:txBody>
      </p:sp>
      <p:sp>
        <p:nvSpPr>
          <p:cNvPr id="57" name="Text 38"/>
          <p:cNvSpPr txBox="1"/>
          <p:nvPr/>
        </p:nvSpPr>
        <p:spPr>
          <a:xfrm>
            <a:off x="8248803" y="5016723"/>
            <a:ext cx="20098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신용등급 유지 및 차환 리스크 해소.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담보대출(①, ③) 연장 협의 및 조건 개선. </a:t>
            </a:r>
            <a:endParaRPr lang="en-US" sz="900" dirty="0"/>
          </a:p>
        </p:txBody>
      </p:sp>
      <p:pic>
        <p:nvPicPr>
          <p:cNvPr id="59" name="Image 1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7672589" y="4796550"/>
            <a:ext cx="457200" cy="457200"/>
          </a:xfrm>
          <a:prstGeom prst="rect">
            <a:avLst/>
          </a:prstGeom>
        </p:spPr>
      </p:pic>
      <p:sp>
        <p:nvSpPr>
          <p:cNvPr id="60" name="Text 40"/>
          <p:cNvSpPr txBox="1"/>
          <p:nvPr/>
        </p:nvSpPr>
        <p:spPr>
          <a:xfrm>
            <a:off x="7811578" y="4910850"/>
            <a:ext cx="257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200" dirty="0"/>
          </a:p>
        </p:txBody>
      </p:sp>
      <p:sp>
        <p:nvSpPr>
          <p:cNvPr id="61" name="Text 41"/>
          <p:cNvSpPr txBox="1"/>
          <p:nvPr/>
        </p:nvSpPr>
        <p:spPr>
          <a:xfrm>
            <a:off x="8248803" y="5496502"/>
            <a:ext cx="21506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이자비용 최적화</a:t>
            </a:r>
            <a:endParaRPr lang="en-US" sz="1200" dirty="0"/>
          </a:p>
        </p:txBody>
      </p:sp>
      <p:sp>
        <p:nvSpPr>
          <p:cNvPr id="62" name="Text 42"/>
          <p:cNvSpPr txBox="1"/>
          <p:nvPr/>
        </p:nvSpPr>
        <p:spPr>
          <a:xfrm>
            <a:off x="8248803" y="5763507"/>
            <a:ext cx="20674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그룹 내부자금(메디아나) 활용 옵션 검토.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고금리 외부차입 → 저금리 내부거래 전환. </a:t>
            </a:r>
            <a:endParaRPr lang="en-US" sz="900" dirty="0"/>
          </a:p>
        </p:txBody>
      </p:sp>
      <p:pic>
        <p:nvPicPr>
          <p:cNvPr id="63" name="Image 17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7668159" y="5567430"/>
            <a:ext cx="457200" cy="457200"/>
          </a:xfrm>
          <a:prstGeom prst="rect">
            <a:avLst/>
          </a:prstGeom>
        </p:spPr>
      </p:pic>
      <p:sp>
        <p:nvSpPr>
          <p:cNvPr id="64" name="Text 43"/>
          <p:cNvSpPr txBox="1"/>
          <p:nvPr/>
        </p:nvSpPr>
        <p:spPr>
          <a:xfrm>
            <a:off x="7807148" y="5681730"/>
            <a:ext cx="257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200" dirty="0"/>
          </a:p>
        </p:txBody>
      </p:sp>
      <p:sp>
        <p:nvSpPr>
          <p:cNvPr id="65" name="Shape 35">
            <a:extLst>
              <a:ext uri="{FF2B5EF4-FFF2-40B4-BE49-F238E27FC236}">
                <a16:creationId xmlns:a16="http://schemas.microsoft.com/office/drawing/2014/main" id="{9D87FF34-1E9E-B31C-D012-AA928BB1C9CE}"/>
              </a:ext>
            </a:extLst>
          </p:cNvPr>
          <p:cNvSpPr/>
          <p:nvPr/>
        </p:nvSpPr>
        <p:spPr>
          <a:xfrm>
            <a:off x="7872983" y="5290482"/>
            <a:ext cx="45719" cy="228600"/>
          </a:xfrm>
          <a:prstGeom prst="rect">
            <a:avLst/>
          </a:prstGeom>
          <a:solidFill>
            <a:srgbClr val="4755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15">
            <a:extLst>
              <a:ext uri="{FF2B5EF4-FFF2-40B4-BE49-F238E27FC236}">
                <a16:creationId xmlns:a16="http://schemas.microsoft.com/office/drawing/2014/main" id="{28385E37-AF4F-FA4B-D39E-2BDBFE3ABC2F}"/>
              </a:ext>
            </a:extLst>
          </p:cNvPr>
          <p:cNvSpPr txBox="1"/>
          <p:nvPr/>
        </p:nvSpPr>
        <p:spPr>
          <a:xfrm>
            <a:off x="9417362" y="6610121"/>
            <a:ext cx="211759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Selvas Group Treasury Committee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127770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09905" y="457200"/>
            <a:ext cx="657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56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셀바스에이아이: 상환 우선순위 및 내부자금지원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09905" y="952805"/>
            <a:ext cx="457200" cy="38405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81405" y="875995"/>
            <a:ext cx="43022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5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Repayment Priority &amp; Internal Funding Options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5327294" y="1457554"/>
            <a:ext cx="9144" cy="304495"/>
          </a:xfrm>
          <a:prstGeom prst="rect">
            <a:avLst/>
          </a:prstGeom>
          <a:solidFill>
            <a:srgbClr val="4B556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31"/>
          <p:cNvSpPr/>
          <p:nvPr/>
        </p:nvSpPr>
        <p:spPr>
          <a:xfrm>
            <a:off x="606029" y="6494956"/>
            <a:ext cx="10972800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BB49A363-ED5B-40B8-C01B-C5B8763CEA7D}"/>
              </a:ext>
            </a:extLst>
          </p:cNvPr>
          <p:cNvGrpSpPr/>
          <p:nvPr/>
        </p:nvGrpSpPr>
        <p:grpSpPr>
          <a:xfrm>
            <a:off x="3674974" y="1190092"/>
            <a:ext cx="7915046" cy="629107"/>
            <a:chOff x="3672230" y="1229716"/>
            <a:chExt cx="7915046" cy="629107"/>
          </a:xfrm>
        </p:grpSpPr>
        <p:pic>
          <p:nvPicPr>
            <p:cNvPr id="11" name="Image 2" descr="preencoded.png"/>
            <p:cNvPicPr>
              <a:picLocks noChangeAspect="1"/>
            </p:cNvPicPr>
            <p:nvPr/>
          </p:nvPicPr>
          <p:blipFill>
            <a:blip r:embed="rId3"/>
            <a:srcRect t="-38" b="-38"/>
            <a:stretch/>
          </p:blipFill>
          <p:spPr>
            <a:xfrm>
              <a:off x="3672230" y="1229716"/>
              <a:ext cx="7915046" cy="629107"/>
            </a:xfrm>
            <a:prstGeom prst="rect">
              <a:avLst/>
            </a:prstGeom>
          </p:spPr>
        </p:pic>
        <p:sp>
          <p:nvSpPr>
            <p:cNvPr id="12" name="Text 7"/>
            <p:cNvSpPr txBox="1"/>
            <p:nvPr/>
          </p:nvSpPr>
          <p:spPr>
            <a:xfrm>
              <a:off x="3834079" y="1448257"/>
              <a:ext cx="1506931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93C5FD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내부자금지원 검토배경</a:t>
              </a:r>
              <a:endParaRPr lang="en-US" sz="1000" dirty="0"/>
            </a:p>
          </p:txBody>
        </p:sp>
        <p:pic>
          <p:nvPicPr>
            <p:cNvPr id="14" name="Image 3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5565038" y="1467460"/>
              <a:ext cx="152705" cy="152705"/>
            </a:xfrm>
            <a:prstGeom prst="rect">
              <a:avLst/>
            </a:prstGeom>
          </p:spPr>
        </p:pic>
        <p:pic>
          <p:nvPicPr>
            <p:cNvPr id="15" name="Image 4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8168335" y="1467460"/>
              <a:ext cx="152705" cy="152705"/>
            </a:xfrm>
            <a:prstGeom prst="rect">
              <a:avLst/>
            </a:prstGeom>
          </p:spPr>
        </p:pic>
        <p:pic>
          <p:nvPicPr>
            <p:cNvPr id="16" name="Image 5" descr="preencoded.png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10528402" y="1467460"/>
              <a:ext cx="152705" cy="152705"/>
            </a:xfrm>
            <a:prstGeom prst="rect">
              <a:avLst/>
            </a:prstGeom>
          </p:spPr>
        </p:pic>
        <p:sp>
          <p:nvSpPr>
            <p:cNvPr id="55" name="Text 33"/>
            <p:cNvSpPr txBox="1"/>
            <p:nvPr/>
          </p:nvSpPr>
          <p:spPr>
            <a:xfrm>
              <a:off x="5793638" y="1458316"/>
              <a:ext cx="108813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차환 불확실성 해소</a:t>
              </a:r>
              <a:endParaRPr lang="en-US" sz="900" dirty="0"/>
            </a:p>
          </p:txBody>
        </p:sp>
        <p:sp>
          <p:nvSpPr>
            <p:cNvPr id="56" name="Text 34"/>
            <p:cNvSpPr txBox="1"/>
            <p:nvPr/>
          </p:nvSpPr>
          <p:spPr>
            <a:xfrm>
              <a:off x="8396935" y="1458316"/>
              <a:ext cx="780898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신용등급 방어</a:t>
              </a:r>
              <a:endParaRPr lang="en-US" sz="900" dirty="0"/>
            </a:p>
          </p:txBody>
        </p:sp>
        <p:sp>
          <p:nvSpPr>
            <p:cNvPr id="57" name="Text 35"/>
            <p:cNvSpPr txBox="1"/>
            <p:nvPr/>
          </p:nvSpPr>
          <p:spPr>
            <a:xfrm>
              <a:off x="10757002" y="1458316"/>
              <a:ext cx="780898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이자비용 절감</a:t>
              </a:r>
              <a:endParaRPr lang="en-US" sz="900" dirty="0"/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084A915D-753B-34FA-A8EC-5610C83F5CA2}"/>
              </a:ext>
            </a:extLst>
          </p:cNvPr>
          <p:cNvGrpSpPr/>
          <p:nvPr/>
        </p:nvGrpSpPr>
        <p:grpSpPr>
          <a:xfrm>
            <a:off x="3672230" y="2115006"/>
            <a:ext cx="2559406" cy="2704795"/>
            <a:chOff x="3672230" y="2115007"/>
            <a:chExt cx="2559406" cy="2885846"/>
          </a:xfrm>
        </p:grpSpPr>
        <p:pic>
          <p:nvPicPr>
            <p:cNvPr id="17" name="Image 6" descr="preencoded.png"/>
            <p:cNvPicPr>
              <a:picLocks noChangeAspect="1"/>
            </p:cNvPicPr>
            <p:nvPr/>
          </p:nvPicPr>
          <p:blipFill>
            <a:blip r:embed="rId7"/>
            <a:srcRect t="-1" b="-1"/>
            <a:stretch/>
          </p:blipFill>
          <p:spPr>
            <a:xfrm>
              <a:off x="3672230" y="2115007"/>
              <a:ext cx="2542946" cy="2885846"/>
            </a:xfrm>
            <a:prstGeom prst="rect">
              <a:avLst/>
            </a:prstGeom>
          </p:spPr>
        </p:pic>
        <p:sp>
          <p:nvSpPr>
            <p:cNvPr id="18" name="Text 9"/>
            <p:cNvSpPr txBox="1"/>
            <p:nvPr/>
          </p:nvSpPr>
          <p:spPr>
            <a:xfrm>
              <a:off x="3834079" y="2286000"/>
              <a:ext cx="880567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Option A</a:t>
              </a:r>
              <a:endParaRPr lang="en-US" sz="1300" dirty="0"/>
            </a:p>
          </p:txBody>
        </p:sp>
        <p:pic>
          <p:nvPicPr>
            <p:cNvPr id="19" name="Image 7" descr="preencoded.png"/>
            <p:cNvPicPr>
              <a:picLocks noChangeAspect="1"/>
            </p:cNvPicPr>
            <p:nvPr/>
          </p:nvPicPr>
          <p:blipFill>
            <a:blip r:embed="rId8"/>
            <a:srcRect t="-85" b="-85"/>
            <a:stretch/>
          </p:blipFill>
          <p:spPr>
            <a:xfrm>
              <a:off x="5312664" y="2276856"/>
              <a:ext cx="733349" cy="286207"/>
            </a:xfrm>
            <a:prstGeom prst="rect">
              <a:avLst/>
            </a:prstGeom>
          </p:spPr>
        </p:pic>
        <p:sp>
          <p:nvSpPr>
            <p:cNvPr id="20" name="Text 10"/>
            <p:cNvSpPr txBox="1"/>
            <p:nvPr/>
          </p:nvSpPr>
          <p:spPr>
            <a:xfrm>
              <a:off x="3834079" y="2676449"/>
              <a:ext cx="2397557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ko-KR" altLang="en-US" sz="1000" b="1" dirty="0" err="1">
                  <a:solidFill>
                    <a:srgbClr val="60A5F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메디아나</a:t>
              </a:r>
              <a:r>
                <a:rPr lang="ko-KR" altLang="en-US" sz="1000" b="1" dirty="0">
                  <a:solidFill>
                    <a:srgbClr val="60A5F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자금 담보</a:t>
              </a:r>
              <a:endParaRPr lang="en-US" sz="1000" dirty="0"/>
            </a:p>
          </p:txBody>
        </p:sp>
        <p:sp>
          <p:nvSpPr>
            <p:cNvPr id="21" name="Text 11"/>
            <p:cNvSpPr txBox="1"/>
            <p:nvPr/>
          </p:nvSpPr>
          <p:spPr>
            <a:xfrm>
              <a:off x="3834079" y="2943454"/>
              <a:ext cx="2296058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ko-KR" altLang="en-US" sz="900" dirty="0" err="1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메디아나</a:t>
              </a:r>
              <a:r>
                <a:rPr lang="ko-KR" altLang="en-US" sz="900" dirty="0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예금을 담보로 대출 실행 후 </a:t>
              </a:r>
              <a:r>
                <a:rPr lang="en-US" altLang="ko-KR" sz="900" dirty="0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AI </a:t>
              </a:r>
              <a:r>
                <a:rPr lang="ko-KR" altLang="en-US" sz="900" dirty="0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자금 대환</a:t>
              </a:r>
              <a:r>
                <a:rPr lang="en-US" altLang="ko-KR" sz="900" dirty="0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. AI</a:t>
              </a:r>
              <a:r>
                <a:rPr lang="ko-KR" altLang="en-US" sz="900" dirty="0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가 이자 부담</a:t>
              </a:r>
              <a:r>
                <a:rPr lang="en-US" altLang="ko-KR" sz="900" dirty="0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.</a:t>
              </a:r>
              <a:endParaRPr lang="en-US" sz="900" dirty="0"/>
            </a:p>
          </p:txBody>
        </p:sp>
        <p:sp>
          <p:nvSpPr>
            <p:cNvPr id="22" name="Shape 12"/>
            <p:cNvSpPr/>
            <p:nvPr/>
          </p:nvSpPr>
          <p:spPr>
            <a:xfrm>
              <a:off x="3834079" y="4352544"/>
              <a:ext cx="2219249" cy="9144"/>
            </a:xfrm>
            <a:prstGeom prst="rect">
              <a:avLst/>
            </a:prstGeom>
            <a:solidFill>
              <a:srgbClr val="374151"/>
            </a:solidFill>
            <a:ln w="12700">
              <a:solidFill>
                <a:srgbClr val="374151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3" name="Image 8" descr="preencoded.png"/>
            <p:cNvPicPr>
              <a:picLocks noChangeAspect="1"/>
            </p:cNvPicPr>
            <p:nvPr/>
          </p:nvPicPr>
          <p:blipFill>
            <a:blip r:embed="rId9"/>
            <a:srcRect l="-2571" r="-2571"/>
            <a:stretch/>
          </p:blipFill>
          <p:spPr>
            <a:xfrm>
              <a:off x="3834079" y="4496105"/>
              <a:ext cx="105156" cy="114300"/>
            </a:xfrm>
            <a:prstGeom prst="rect">
              <a:avLst/>
            </a:prstGeom>
          </p:spPr>
        </p:pic>
        <p:pic>
          <p:nvPicPr>
            <p:cNvPr id="24" name="Image 9" descr="preencoded.png"/>
            <p:cNvPicPr>
              <a:picLocks noChangeAspect="1"/>
            </p:cNvPicPr>
            <p:nvPr/>
          </p:nvPicPr>
          <p:blipFill>
            <a:blip r:embed="rId10"/>
            <a:srcRect l="-2571" r="-2571"/>
            <a:stretch/>
          </p:blipFill>
          <p:spPr>
            <a:xfrm>
              <a:off x="3834079" y="4705502"/>
              <a:ext cx="105156" cy="114300"/>
            </a:xfrm>
            <a:prstGeom prst="rect">
              <a:avLst/>
            </a:prstGeom>
          </p:spPr>
        </p:pic>
        <p:sp>
          <p:nvSpPr>
            <p:cNvPr id="58" name="Text 36"/>
            <p:cNvSpPr txBox="1"/>
            <p:nvPr/>
          </p:nvSpPr>
          <p:spPr>
            <a:xfrm>
              <a:off x="5398618" y="2305202"/>
              <a:ext cx="63825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ko-KR" altLang="en-US" sz="12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</a:rPr>
                <a:t>담보대출</a:t>
              </a:r>
              <a:endParaRPr lang="en-US" sz="1200" dirty="0"/>
            </a:p>
          </p:txBody>
        </p:sp>
        <p:sp>
          <p:nvSpPr>
            <p:cNvPr id="60" name="Text 38"/>
            <p:cNvSpPr txBox="1"/>
            <p:nvPr/>
          </p:nvSpPr>
          <p:spPr>
            <a:xfrm>
              <a:off x="4015130" y="4677156"/>
              <a:ext cx="2012594" cy="183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ko-KR" altLang="en-US" sz="9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</a:rPr>
                <a:t>담보설정 절차 복잡</a:t>
              </a:r>
              <a:endParaRPr lang="en-US" sz="900" dirty="0"/>
            </a:p>
          </p:txBody>
        </p: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1B413597-7E6D-DB30-4368-BFD9183882E1}"/>
              </a:ext>
            </a:extLst>
          </p:cNvPr>
          <p:cNvGrpSpPr/>
          <p:nvPr/>
        </p:nvGrpSpPr>
        <p:grpSpPr>
          <a:xfrm>
            <a:off x="6359652" y="2115007"/>
            <a:ext cx="2559406" cy="2704794"/>
            <a:chOff x="6359652" y="2115007"/>
            <a:chExt cx="2559406" cy="2885846"/>
          </a:xfrm>
        </p:grpSpPr>
        <p:pic>
          <p:nvPicPr>
            <p:cNvPr id="25" name="Image 10" descr="preencoded.png"/>
            <p:cNvPicPr>
              <a:picLocks noChangeAspect="1"/>
            </p:cNvPicPr>
            <p:nvPr/>
          </p:nvPicPr>
          <p:blipFill>
            <a:blip r:embed="rId7"/>
            <a:srcRect t="-1" b="-1"/>
            <a:stretch/>
          </p:blipFill>
          <p:spPr>
            <a:xfrm>
              <a:off x="6359652" y="2115007"/>
              <a:ext cx="2542946" cy="2885846"/>
            </a:xfrm>
            <a:prstGeom prst="rect">
              <a:avLst/>
            </a:prstGeom>
          </p:spPr>
        </p:pic>
        <p:sp>
          <p:nvSpPr>
            <p:cNvPr id="26" name="Text 13"/>
            <p:cNvSpPr txBox="1"/>
            <p:nvPr/>
          </p:nvSpPr>
          <p:spPr>
            <a:xfrm>
              <a:off x="6521501" y="2286000"/>
              <a:ext cx="880567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Option B</a:t>
              </a:r>
              <a:endParaRPr lang="en-US" sz="1300" dirty="0"/>
            </a:p>
          </p:txBody>
        </p:sp>
        <p:pic>
          <p:nvPicPr>
            <p:cNvPr id="27" name="Image 11" descr="preencoded.png"/>
            <p:cNvPicPr>
              <a:picLocks noChangeAspect="1"/>
            </p:cNvPicPr>
            <p:nvPr/>
          </p:nvPicPr>
          <p:blipFill>
            <a:blip r:embed="rId11"/>
            <a:srcRect t="-90" b="-90"/>
            <a:stretch/>
          </p:blipFill>
          <p:spPr>
            <a:xfrm>
              <a:off x="7958023" y="2276856"/>
              <a:ext cx="780898" cy="286207"/>
            </a:xfrm>
            <a:prstGeom prst="rect">
              <a:avLst/>
            </a:prstGeom>
          </p:spPr>
        </p:pic>
        <p:sp>
          <p:nvSpPr>
            <p:cNvPr id="28" name="Text 14"/>
            <p:cNvSpPr txBox="1"/>
            <p:nvPr/>
          </p:nvSpPr>
          <p:spPr>
            <a:xfrm>
              <a:off x="6521501" y="2676449"/>
              <a:ext cx="2397557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60A5F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그룹사간 자금대여</a:t>
              </a:r>
              <a:endParaRPr lang="en-US" sz="1000" dirty="0"/>
            </a:p>
          </p:txBody>
        </p:sp>
        <p:sp>
          <p:nvSpPr>
            <p:cNvPr id="29" name="Text 15"/>
            <p:cNvSpPr txBox="1"/>
            <p:nvPr/>
          </p:nvSpPr>
          <p:spPr>
            <a:xfrm>
              <a:off x="6521501" y="2943454"/>
              <a:ext cx="2296058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메디아나가 셀바스AI 차입금을 전액 </a:t>
              </a:r>
              <a:r>
                <a:rPr lang="en-US" sz="900" dirty="0" err="1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직접</a:t>
              </a:r>
              <a:r>
                <a:rPr lang="en-US" sz="900" dirty="0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900" dirty="0" err="1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상환</a:t>
              </a:r>
              <a:endPara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endParaRPr>
            </a:p>
            <a:p>
              <a:pPr marL="0" indent="0" algn="l">
                <a:buNone/>
              </a:pPr>
              <a:r>
                <a:rPr lang="en-US" sz="900" dirty="0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(대여). 내부금리 적용.</a:t>
              </a:r>
              <a:endParaRPr lang="en-US" sz="900" dirty="0"/>
            </a:p>
          </p:txBody>
        </p:sp>
        <p:sp>
          <p:nvSpPr>
            <p:cNvPr id="30" name="Shape 16"/>
            <p:cNvSpPr/>
            <p:nvPr/>
          </p:nvSpPr>
          <p:spPr>
            <a:xfrm>
              <a:off x="6521501" y="4352544"/>
              <a:ext cx="2219249" cy="9144"/>
            </a:xfrm>
            <a:prstGeom prst="rect">
              <a:avLst/>
            </a:prstGeom>
            <a:solidFill>
              <a:srgbClr val="374151"/>
            </a:solidFill>
            <a:ln w="12700">
              <a:solidFill>
                <a:srgbClr val="374151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1" name="Image 12" descr="preencoded.png"/>
            <p:cNvPicPr>
              <a:picLocks noChangeAspect="1"/>
            </p:cNvPicPr>
            <p:nvPr/>
          </p:nvPicPr>
          <p:blipFill>
            <a:blip r:embed="rId9"/>
            <a:srcRect l="-2571" r="-2571"/>
            <a:stretch/>
          </p:blipFill>
          <p:spPr>
            <a:xfrm>
              <a:off x="6521501" y="4496105"/>
              <a:ext cx="105156" cy="114300"/>
            </a:xfrm>
            <a:prstGeom prst="rect">
              <a:avLst/>
            </a:prstGeom>
          </p:spPr>
        </p:pic>
        <p:pic>
          <p:nvPicPr>
            <p:cNvPr id="32" name="Image 13" descr="preencoded.png"/>
            <p:cNvPicPr>
              <a:picLocks noChangeAspect="1"/>
            </p:cNvPicPr>
            <p:nvPr/>
          </p:nvPicPr>
          <p:blipFill>
            <a:blip r:embed="rId10"/>
            <a:srcRect l="-2571" r="-2571"/>
            <a:stretch/>
          </p:blipFill>
          <p:spPr>
            <a:xfrm>
              <a:off x="6521501" y="4705502"/>
              <a:ext cx="105156" cy="114300"/>
            </a:xfrm>
            <a:prstGeom prst="rect">
              <a:avLst/>
            </a:prstGeom>
          </p:spPr>
        </p:pic>
        <p:sp>
          <p:nvSpPr>
            <p:cNvPr id="61" name="Text 39"/>
            <p:cNvSpPr txBox="1"/>
            <p:nvPr/>
          </p:nvSpPr>
          <p:spPr>
            <a:xfrm>
              <a:off x="8043977" y="2305202"/>
              <a:ext cx="72603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93C5FD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직접 대여</a:t>
              </a:r>
              <a:endParaRPr lang="en-US" sz="1200" dirty="0"/>
            </a:p>
          </p:txBody>
        </p:sp>
        <p:sp>
          <p:nvSpPr>
            <p:cNvPr id="62" name="Text 40"/>
            <p:cNvSpPr txBox="1"/>
            <p:nvPr/>
          </p:nvSpPr>
          <p:spPr>
            <a:xfrm>
              <a:off x="6702552" y="4466844"/>
              <a:ext cx="971093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실행 속도/단순성</a:t>
              </a:r>
              <a:endParaRPr lang="en-US" sz="900" dirty="0"/>
            </a:p>
          </p:txBody>
        </p:sp>
        <p:sp>
          <p:nvSpPr>
            <p:cNvPr id="63" name="Text 41"/>
            <p:cNvSpPr txBox="1"/>
            <p:nvPr/>
          </p:nvSpPr>
          <p:spPr>
            <a:xfrm>
              <a:off x="6702552" y="4677156"/>
              <a:ext cx="1278331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배임/세무 이슈 검토필</a:t>
              </a:r>
              <a:endParaRPr lang="en-US" sz="900" dirty="0"/>
            </a:p>
          </p:txBody>
        </p:sp>
      </p:grp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12174CEC-AEBE-DAE2-0824-B51D0AC92147}"/>
              </a:ext>
            </a:extLst>
          </p:cNvPr>
          <p:cNvGrpSpPr/>
          <p:nvPr/>
        </p:nvGrpSpPr>
        <p:grpSpPr>
          <a:xfrm>
            <a:off x="9047074" y="2115007"/>
            <a:ext cx="2542946" cy="2704794"/>
            <a:chOff x="9047074" y="2115007"/>
            <a:chExt cx="2542946" cy="2885846"/>
          </a:xfrm>
        </p:grpSpPr>
        <p:pic>
          <p:nvPicPr>
            <p:cNvPr id="33" name="Image 14" descr="preencoded.png"/>
            <p:cNvPicPr>
              <a:picLocks noChangeAspect="1"/>
            </p:cNvPicPr>
            <p:nvPr/>
          </p:nvPicPr>
          <p:blipFill>
            <a:blip r:embed="rId7"/>
            <a:srcRect t="-1" b="-1"/>
            <a:stretch/>
          </p:blipFill>
          <p:spPr>
            <a:xfrm>
              <a:off x="9047074" y="2115007"/>
              <a:ext cx="2542946" cy="2885846"/>
            </a:xfrm>
            <a:prstGeom prst="rect">
              <a:avLst/>
            </a:prstGeom>
          </p:spPr>
        </p:pic>
        <p:sp>
          <p:nvSpPr>
            <p:cNvPr id="34" name="Text 17"/>
            <p:cNvSpPr txBox="1"/>
            <p:nvPr/>
          </p:nvSpPr>
          <p:spPr>
            <a:xfrm>
              <a:off x="9208922" y="2276856"/>
              <a:ext cx="880567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Option C</a:t>
              </a:r>
              <a:endParaRPr lang="en-US" sz="1300" dirty="0"/>
            </a:p>
          </p:txBody>
        </p:sp>
        <p:sp>
          <p:nvSpPr>
            <p:cNvPr id="35" name="Shape 18"/>
            <p:cNvSpPr/>
            <p:nvPr/>
          </p:nvSpPr>
          <p:spPr>
            <a:xfrm>
              <a:off x="10847527" y="2276856"/>
              <a:ext cx="580644" cy="267005"/>
            </a:xfrm>
            <a:prstGeom prst="roundRect">
              <a:avLst>
                <a:gd name="adj" fmla="val 48924"/>
              </a:avLst>
            </a:prstGeom>
            <a:solidFill>
              <a:srgbClr val="2563E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Text 19"/>
            <p:cNvSpPr txBox="1"/>
            <p:nvPr/>
          </p:nvSpPr>
          <p:spPr>
            <a:xfrm>
              <a:off x="9208922" y="2657246"/>
              <a:ext cx="230886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60A5F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단계적 혼합 (Hybrid)</a:t>
              </a:r>
              <a:endParaRPr lang="en-US" sz="1000" dirty="0"/>
            </a:p>
          </p:txBody>
        </p:sp>
        <p:sp>
          <p:nvSpPr>
            <p:cNvPr id="37" name="Text 20"/>
            <p:cNvSpPr txBox="1"/>
            <p:nvPr/>
          </p:nvSpPr>
          <p:spPr>
            <a:xfrm>
              <a:off x="9208922" y="2924250"/>
              <a:ext cx="2296058" cy="6852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Option B</a:t>
              </a:r>
              <a:r>
                <a:rPr lang="ko-KR" altLang="en-US" sz="900" dirty="0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의 배임이슈 탈피를 위하여 현재 담보대출만 </a:t>
              </a:r>
              <a:r>
                <a:rPr lang="ko-KR" altLang="en-US" sz="900" dirty="0" err="1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메디아나의</a:t>
              </a:r>
              <a:r>
                <a:rPr lang="ko-KR" altLang="en-US" sz="900" dirty="0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유휴자금으로 대환</a:t>
              </a:r>
              <a:r>
                <a:rPr lang="en-US" altLang="ko-KR" sz="900" dirty="0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.</a:t>
              </a:r>
            </a:p>
            <a:p>
              <a:pPr marL="0" indent="0" algn="l">
                <a:buNone/>
              </a:pPr>
              <a:r>
                <a:rPr lang="ko-KR" altLang="en-US" sz="900" dirty="0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</a:rPr>
                <a:t>→ 이자 유출액이 그룹사 내부에서 </a:t>
              </a:r>
              <a:endParaRPr lang="en-US" altLang="ko-KR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</a:endParaRPr>
            </a:p>
            <a:p>
              <a:pPr marL="0" indent="0" algn="l">
                <a:buNone/>
              </a:pPr>
              <a:r>
                <a:rPr lang="en-US" altLang="ko-KR" sz="900" dirty="0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</a:rPr>
                <a:t>      </a:t>
              </a:r>
              <a:r>
                <a:rPr lang="ko-KR" altLang="en-US" sz="900" dirty="0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</a:rPr>
                <a:t>순환되는 구조 정착</a:t>
              </a:r>
              <a:endParaRPr lang="en-US" sz="900" dirty="0"/>
            </a:p>
          </p:txBody>
        </p:sp>
        <p:sp>
          <p:nvSpPr>
            <p:cNvPr id="38" name="Shape 21"/>
            <p:cNvSpPr/>
            <p:nvPr/>
          </p:nvSpPr>
          <p:spPr>
            <a:xfrm>
              <a:off x="9208922" y="4352544"/>
              <a:ext cx="2219249" cy="9144"/>
            </a:xfrm>
            <a:prstGeom prst="rect">
              <a:avLst/>
            </a:prstGeom>
            <a:solidFill>
              <a:srgbClr val="374151"/>
            </a:solidFill>
            <a:ln w="12700">
              <a:solidFill>
                <a:srgbClr val="374151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9" name="Image 15" descr="preencoded.png"/>
            <p:cNvPicPr>
              <a:picLocks noChangeAspect="1"/>
            </p:cNvPicPr>
            <p:nvPr/>
          </p:nvPicPr>
          <p:blipFill>
            <a:blip r:embed="rId9"/>
            <a:srcRect l="-2571" r="-2571"/>
            <a:stretch/>
          </p:blipFill>
          <p:spPr>
            <a:xfrm>
              <a:off x="9208922" y="4496105"/>
              <a:ext cx="105156" cy="114300"/>
            </a:xfrm>
            <a:prstGeom prst="rect">
              <a:avLst/>
            </a:prstGeom>
          </p:spPr>
        </p:pic>
        <p:pic>
          <p:nvPicPr>
            <p:cNvPr id="40" name="Image 16" descr="preencoded.png"/>
            <p:cNvPicPr>
              <a:picLocks noChangeAspect="1"/>
            </p:cNvPicPr>
            <p:nvPr/>
          </p:nvPicPr>
          <p:blipFill>
            <a:blip r:embed="rId9"/>
            <a:srcRect l="-2571" r="-2571"/>
            <a:stretch/>
          </p:blipFill>
          <p:spPr>
            <a:xfrm>
              <a:off x="9208922" y="4705502"/>
              <a:ext cx="105156" cy="114300"/>
            </a:xfrm>
            <a:prstGeom prst="rect">
              <a:avLst/>
            </a:prstGeom>
          </p:spPr>
        </p:pic>
        <p:sp>
          <p:nvSpPr>
            <p:cNvPr id="64" name="Text 42"/>
            <p:cNvSpPr txBox="1"/>
            <p:nvPr/>
          </p:nvSpPr>
          <p:spPr>
            <a:xfrm>
              <a:off x="10875797" y="2295144"/>
              <a:ext cx="50566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chemeClr val="bg1"/>
                  </a:solidFill>
                </a:rPr>
                <a:t>MIX</a:t>
              </a:r>
            </a:p>
          </p:txBody>
        </p:sp>
        <p:sp>
          <p:nvSpPr>
            <p:cNvPr id="65" name="Text 43"/>
            <p:cNvSpPr txBox="1"/>
            <p:nvPr/>
          </p:nvSpPr>
          <p:spPr>
            <a:xfrm>
              <a:off x="9389974" y="4466844"/>
              <a:ext cx="970178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리스크 분산 최적</a:t>
              </a:r>
              <a:endParaRPr lang="en-US" sz="900" dirty="0"/>
            </a:p>
          </p:txBody>
        </p:sp>
        <p:sp>
          <p:nvSpPr>
            <p:cNvPr id="66" name="Text 44"/>
            <p:cNvSpPr txBox="1"/>
            <p:nvPr/>
          </p:nvSpPr>
          <p:spPr>
            <a:xfrm>
              <a:off x="9389974" y="4677156"/>
              <a:ext cx="970178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유동성 부담 완화</a:t>
              </a:r>
              <a:endParaRPr lang="en-US" sz="900" dirty="0"/>
            </a:p>
          </p:txBody>
        </p:sp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4E1057A5-19C3-7A01-D748-358DCC2A0B6A}"/>
              </a:ext>
            </a:extLst>
          </p:cNvPr>
          <p:cNvGrpSpPr/>
          <p:nvPr/>
        </p:nvGrpSpPr>
        <p:grpSpPr>
          <a:xfrm>
            <a:off x="3664915" y="5020534"/>
            <a:ext cx="7915046" cy="1371469"/>
            <a:chOff x="3664915" y="5040217"/>
            <a:chExt cx="7915046" cy="1314907"/>
          </a:xfrm>
        </p:grpSpPr>
        <p:pic>
          <p:nvPicPr>
            <p:cNvPr id="41" name="Image 17" descr="preencoded.png"/>
            <p:cNvPicPr>
              <a:picLocks noChangeAspect="1"/>
            </p:cNvPicPr>
            <p:nvPr/>
          </p:nvPicPr>
          <p:blipFill>
            <a:blip r:embed="rId12"/>
            <a:srcRect t="-19" b="-19"/>
            <a:stretch/>
          </p:blipFill>
          <p:spPr>
            <a:xfrm>
              <a:off x="3664915" y="5040217"/>
              <a:ext cx="7915046" cy="1314907"/>
            </a:xfrm>
            <a:prstGeom prst="rect">
              <a:avLst/>
            </a:prstGeom>
          </p:spPr>
        </p:pic>
        <p:sp>
          <p:nvSpPr>
            <p:cNvPr id="42" name="Text 22"/>
            <p:cNvSpPr txBox="1"/>
            <p:nvPr/>
          </p:nvSpPr>
          <p:spPr>
            <a:xfrm>
              <a:off x="4081882" y="5278178"/>
              <a:ext cx="2462479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주요 의결 포인트 (Decision Points) </a:t>
              </a:r>
              <a:endParaRPr lang="en-US" sz="1000" dirty="0"/>
            </a:p>
          </p:txBody>
        </p:sp>
        <p:pic>
          <p:nvPicPr>
            <p:cNvPr id="43" name="Image 18" descr="preencoded.png"/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3872484" y="5306525"/>
              <a:ext cx="133502" cy="133502"/>
            </a:xfrm>
            <a:prstGeom prst="rect">
              <a:avLst/>
            </a:prstGeom>
          </p:spPr>
        </p:pic>
        <p:sp>
          <p:nvSpPr>
            <p:cNvPr id="44" name="Text 23"/>
            <p:cNvSpPr txBox="1"/>
            <p:nvPr/>
          </p:nvSpPr>
          <p:spPr>
            <a:xfrm>
              <a:off x="3910889" y="5659483"/>
              <a:ext cx="169621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Method</a:t>
              </a:r>
              <a:endParaRPr lang="en-US" sz="1200" dirty="0"/>
            </a:p>
          </p:txBody>
        </p:sp>
        <p:sp>
          <p:nvSpPr>
            <p:cNvPr id="45" name="Text 24"/>
            <p:cNvSpPr txBox="1"/>
            <p:nvPr/>
          </p:nvSpPr>
          <p:spPr>
            <a:xfrm>
              <a:off x="3883457" y="5925574"/>
              <a:ext cx="1749247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지원 방식</a:t>
              </a:r>
              <a:endParaRPr lang="en-US" sz="1000" dirty="0"/>
            </a:p>
          </p:txBody>
        </p:sp>
        <p:sp>
          <p:nvSpPr>
            <p:cNvPr id="46" name="Text 25"/>
            <p:cNvSpPr txBox="1"/>
            <p:nvPr/>
          </p:nvSpPr>
          <p:spPr>
            <a:xfrm>
              <a:off x="5825642" y="5659483"/>
              <a:ext cx="169621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Scale</a:t>
              </a:r>
              <a:endParaRPr lang="en-US" sz="1200" dirty="0"/>
            </a:p>
          </p:txBody>
        </p:sp>
        <p:sp>
          <p:nvSpPr>
            <p:cNvPr id="47" name="Text 26"/>
            <p:cNvSpPr txBox="1"/>
            <p:nvPr/>
          </p:nvSpPr>
          <p:spPr>
            <a:xfrm>
              <a:off x="5799125" y="5925574"/>
              <a:ext cx="1749247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지원 규모</a:t>
              </a:r>
              <a:endParaRPr lang="en-US" sz="1000" dirty="0"/>
            </a:p>
          </p:txBody>
        </p:sp>
        <p:sp>
          <p:nvSpPr>
            <p:cNvPr id="48" name="Text 27"/>
            <p:cNvSpPr txBox="1"/>
            <p:nvPr/>
          </p:nvSpPr>
          <p:spPr>
            <a:xfrm>
              <a:off x="7741310" y="5659483"/>
              <a:ext cx="169621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Timing</a:t>
              </a:r>
              <a:endParaRPr lang="en-US" sz="1200" dirty="0"/>
            </a:p>
          </p:txBody>
        </p:sp>
        <p:sp>
          <p:nvSpPr>
            <p:cNvPr id="49" name="Text 28"/>
            <p:cNvSpPr txBox="1"/>
            <p:nvPr/>
          </p:nvSpPr>
          <p:spPr>
            <a:xfrm>
              <a:off x="7714793" y="5925574"/>
              <a:ext cx="1749247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실행 시기</a:t>
              </a:r>
              <a:endParaRPr lang="en-US" sz="1000" dirty="0"/>
            </a:p>
          </p:txBody>
        </p:sp>
        <p:sp>
          <p:nvSpPr>
            <p:cNvPr id="50" name="Text 29"/>
            <p:cNvSpPr txBox="1"/>
            <p:nvPr/>
          </p:nvSpPr>
          <p:spPr>
            <a:xfrm>
              <a:off x="9656978" y="5659483"/>
              <a:ext cx="169621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Terms</a:t>
              </a:r>
              <a:endParaRPr lang="en-US" sz="1200" dirty="0"/>
            </a:p>
          </p:txBody>
        </p:sp>
        <p:sp>
          <p:nvSpPr>
            <p:cNvPr id="51" name="Text 30"/>
            <p:cNvSpPr txBox="1"/>
            <p:nvPr/>
          </p:nvSpPr>
          <p:spPr>
            <a:xfrm>
              <a:off x="9630461" y="5925574"/>
              <a:ext cx="1749247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금리/담보 조건</a:t>
              </a:r>
              <a:endParaRPr lang="en-US" sz="1000" dirty="0"/>
            </a:p>
          </p:txBody>
        </p:sp>
      </p:grpSp>
      <p:sp>
        <p:nvSpPr>
          <p:cNvPr id="68" name="Shape 46"/>
          <p:cNvSpPr/>
          <p:nvPr/>
        </p:nvSpPr>
        <p:spPr>
          <a:xfrm>
            <a:off x="1000354" y="2495398"/>
            <a:ext cx="19202" cy="895198"/>
          </a:xfrm>
          <a:prstGeom prst="rect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Shape 62"/>
          <p:cNvSpPr/>
          <p:nvPr/>
        </p:nvSpPr>
        <p:spPr>
          <a:xfrm>
            <a:off x="1000354" y="5639105"/>
            <a:ext cx="19202" cy="28346"/>
          </a:xfrm>
          <a:prstGeom prst="rect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Shape 64"/>
          <p:cNvSpPr/>
          <p:nvPr/>
        </p:nvSpPr>
        <p:spPr>
          <a:xfrm>
            <a:off x="2490826" y="5381244"/>
            <a:ext cx="562356" cy="342900"/>
          </a:xfrm>
          <a:prstGeom prst="roundRect">
            <a:avLst>
              <a:gd name="adj" fmla="val 29630"/>
            </a:avLst>
          </a:prstGeom>
          <a:solidFill>
            <a:srgbClr val="1F2937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8E84C5C4-8D04-AC4F-4AA7-EC9B177EFBA4}"/>
              </a:ext>
            </a:extLst>
          </p:cNvPr>
          <p:cNvGrpSpPr/>
          <p:nvPr/>
        </p:nvGrpSpPr>
        <p:grpSpPr>
          <a:xfrm>
            <a:off x="609905" y="1201435"/>
            <a:ext cx="2762402" cy="5210251"/>
            <a:chOff x="609905" y="1210862"/>
            <a:chExt cx="2762402" cy="5210251"/>
          </a:xfrm>
        </p:grpSpPr>
        <p:pic>
          <p:nvPicPr>
            <p:cNvPr id="7" name="Image 0" descr="preencoded.png"/>
            <p:cNvPicPr>
              <a:picLocks noChangeAspect="1"/>
            </p:cNvPicPr>
            <p:nvPr/>
          </p:nvPicPr>
          <p:blipFill>
            <a:blip r:embed="rId14"/>
            <a:srcRect l="-2" r="-2"/>
            <a:stretch/>
          </p:blipFill>
          <p:spPr>
            <a:xfrm>
              <a:off x="609905" y="1210862"/>
              <a:ext cx="2762402" cy="5210251"/>
            </a:xfrm>
            <a:prstGeom prst="rect">
              <a:avLst/>
            </a:prstGeom>
          </p:spPr>
        </p:pic>
        <p:sp>
          <p:nvSpPr>
            <p:cNvPr id="8" name="Shape 5"/>
            <p:cNvSpPr/>
            <p:nvPr/>
          </p:nvSpPr>
          <p:spPr>
            <a:xfrm>
              <a:off x="809244" y="1791506"/>
              <a:ext cx="2361895" cy="9144"/>
            </a:xfrm>
            <a:prstGeom prst="rect">
              <a:avLst/>
            </a:prstGeom>
            <a:solidFill>
              <a:srgbClr val="374151"/>
            </a:solidFill>
            <a:ln w="12700">
              <a:solidFill>
                <a:srgbClr val="374151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 6"/>
            <p:cNvSpPr txBox="1"/>
            <p:nvPr/>
          </p:nvSpPr>
          <p:spPr>
            <a:xfrm>
              <a:off x="1076249" y="1410201"/>
              <a:ext cx="2171700" cy="267919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상환 우선순위 (Priority) </a:t>
              </a:r>
              <a:endParaRPr lang="en-US" sz="1300" dirty="0"/>
            </a:p>
          </p:txBody>
        </p:sp>
        <p:pic>
          <p:nvPicPr>
            <p:cNvPr id="10" name="Image 1" descr="preencoded.png"/>
            <p:cNvPicPr>
              <a:picLocks noChangeAspect="1"/>
            </p:cNvPicPr>
            <p:nvPr/>
          </p:nvPicPr>
          <p:blipFill>
            <a:blip r:embed="rId15"/>
            <a:srcRect t="-842" b="-842"/>
            <a:stretch/>
          </p:blipFill>
          <p:spPr>
            <a:xfrm>
              <a:off x="809244" y="1458664"/>
              <a:ext cx="190195" cy="171907"/>
            </a:xfrm>
            <a:prstGeom prst="rect">
              <a:avLst/>
            </a:prstGeom>
          </p:spPr>
        </p:pic>
        <p:pic>
          <p:nvPicPr>
            <p:cNvPr id="69" name="Image 20" descr="preencoded.png"/>
            <p:cNvPicPr>
              <a:picLocks noChangeAspect="1"/>
            </p:cNvPicPr>
            <p:nvPr/>
          </p:nvPicPr>
          <p:blipFill>
            <a:blip r:embed="rId16"/>
            <a:srcRect/>
            <a:stretch/>
          </p:blipFill>
          <p:spPr>
            <a:xfrm>
              <a:off x="809244" y="2030164"/>
              <a:ext cx="381305" cy="381305"/>
            </a:xfrm>
            <a:prstGeom prst="rect">
              <a:avLst/>
            </a:prstGeom>
          </p:spPr>
        </p:pic>
        <p:sp>
          <p:nvSpPr>
            <p:cNvPr id="70" name="Text 47"/>
            <p:cNvSpPr txBox="1"/>
            <p:nvPr/>
          </p:nvSpPr>
          <p:spPr>
            <a:xfrm>
              <a:off x="961034" y="2125262"/>
              <a:ext cx="162763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1</a:t>
              </a:r>
              <a:endParaRPr lang="en-US" sz="1000" dirty="0"/>
            </a:p>
          </p:txBody>
        </p:sp>
        <p:pic>
          <p:nvPicPr>
            <p:cNvPr id="71" name="Image 21" descr="preencoded.png"/>
            <p:cNvPicPr>
              <a:picLocks noChangeAspect="1"/>
            </p:cNvPicPr>
            <p:nvPr/>
          </p:nvPicPr>
          <p:blipFill>
            <a:blip r:embed="rId17"/>
            <a:srcRect t="-7" b="-7"/>
            <a:stretch/>
          </p:blipFill>
          <p:spPr>
            <a:xfrm>
              <a:off x="1343254" y="2011310"/>
              <a:ext cx="1828800" cy="1047902"/>
            </a:xfrm>
            <a:prstGeom prst="rect">
              <a:avLst/>
            </a:prstGeom>
          </p:spPr>
        </p:pic>
        <p:sp>
          <p:nvSpPr>
            <p:cNvPr id="72" name="Shape 48"/>
            <p:cNvSpPr/>
            <p:nvPr/>
          </p:nvSpPr>
          <p:spPr>
            <a:xfrm>
              <a:off x="2356701" y="2153608"/>
              <a:ext cx="696481" cy="342900"/>
            </a:xfrm>
            <a:prstGeom prst="roundRect">
              <a:avLst>
                <a:gd name="adj" fmla="val 29630"/>
              </a:avLst>
            </a:prstGeom>
            <a:solidFill>
              <a:srgbClr val="7F1D1D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3" name="Text 49"/>
            <p:cNvSpPr txBox="1"/>
            <p:nvPr/>
          </p:nvSpPr>
          <p:spPr>
            <a:xfrm>
              <a:off x="1466698" y="2649213"/>
              <a:ext cx="1645006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가장 빠른 만기,  </a:t>
              </a:r>
              <a:r>
                <a:rPr lang="ko-KR" altLang="en-US" sz="9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연장관련 이슈는 없으나</a:t>
              </a:r>
              <a:r>
                <a:rPr lang="en-US" altLang="ko-KR" sz="9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, </a:t>
              </a:r>
              <a:r>
                <a:rPr lang="ko-KR" altLang="en-US" sz="9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이자의 외부유출</a:t>
              </a:r>
              <a:r>
                <a:rPr lang="en-US" altLang="ko-KR" sz="9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.</a:t>
              </a:r>
              <a:endParaRPr lang="en-US" sz="900" dirty="0"/>
            </a:p>
          </p:txBody>
        </p:sp>
        <p:sp>
          <p:nvSpPr>
            <p:cNvPr id="74" name="Text 50"/>
            <p:cNvSpPr txBox="1"/>
            <p:nvPr/>
          </p:nvSpPr>
          <p:spPr>
            <a:xfrm>
              <a:off x="1466698" y="2163035"/>
              <a:ext cx="81930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CA5A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④ 신용대출 (20억)</a:t>
              </a:r>
              <a:endParaRPr lang="en-US" sz="1200" dirty="0"/>
            </a:p>
          </p:txBody>
        </p:sp>
        <p:sp>
          <p:nvSpPr>
            <p:cNvPr id="75" name="Text 51"/>
            <p:cNvSpPr txBox="1"/>
            <p:nvPr/>
          </p:nvSpPr>
          <p:spPr>
            <a:xfrm>
              <a:off x="2453685" y="2256935"/>
              <a:ext cx="562355" cy="1545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ECAC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26.03 만기</a:t>
              </a:r>
              <a:endParaRPr lang="en-US" sz="900" dirty="0"/>
            </a:p>
          </p:txBody>
        </p:sp>
        <p:sp>
          <p:nvSpPr>
            <p:cNvPr id="76" name="Shape 52"/>
            <p:cNvSpPr/>
            <p:nvPr/>
          </p:nvSpPr>
          <p:spPr>
            <a:xfrm>
              <a:off x="1000354" y="3458457"/>
              <a:ext cx="19202" cy="895198"/>
            </a:xfrm>
            <a:prstGeom prst="rect">
              <a:avLst/>
            </a:prstGeom>
            <a:solidFill>
              <a:srgbClr val="334155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77" name="Image 22" descr="preencoded.png"/>
            <p:cNvPicPr>
              <a:picLocks noChangeAspect="1"/>
            </p:cNvPicPr>
            <p:nvPr/>
          </p:nvPicPr>
          <p:blipFill>
            <a:blip r:embed="rId18"/>
            <a:srcRect/>
            <a:stretch/>
          </p:blipFill>
          <p:spPr>
            <a:xfrm>
              <a:off x="809244" y="3077152"/>
              <a:ext cx="381305" cy="381305"/>
            </a:xfrm>
            <a:prstGeom prst="rect">
              <a:avLst/>
            </a:prstGeom>
          </p:spPr>
        </p:pic>
        <p:sp>
          <p:nvSpPr>
            <p:cNvPr id="78" name="Text 53"/>
            <p:cNvSpPr txBox="1"/>
            <p:nvPr/>
          </p:nvSpPr>
          <p:spPr>
            <a:xfrm>
              <a:off x="961034" y="3173164"/>
              <a:ext cx="162763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2</a:t>
              </a:r>
              <a:endParaRPr lang="en-US" sz="1000" dirty="0"/>
            </a:p>
          </p:txBody>
        </p:sp>
        <p:pic>
          <p:nvPicPr>
            <p:cNvPr id="79" name="Image 23" descr="preencoded.png"/>
            <p:cNvPicPr>
              <a:picLocks noChangeAspect="1"/>
            </p:cNvPicPr>
            <p:nvPr/>
          </p:nvPicPr>
          <p:blipFill>
            <a:blip r:embed="rId19"/>
            <a:srcRect t="-7" b="-7"/>
            <a:stretch/>
          </p:blipFill>
          <p:spPr>
            <a:xfrm>
              <a:off x="1343254" y="3077152"/>
              <a:ext cx="1828800" cy="1047902"/>
            </a:xfrm>
            <a:prstGeom prst="rect">
              <a:avLst/>
            </a:prstGeom>
          </p:spPr>
        </p:pic>
        <p:sp>
          <p:nvSpPr>
            <p:cNvPr id="80" name="Text 54"/>
            <p:cNvSpPr txBox="1"/>
            <p:nvPr/>
          </p:nvSpPr>
          <p:spPr>
            <a:xfrm>
              <a:off x="1466698" y="3696201"/>
              <a:ext cx="1645006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규모 큼, 담보물(토지/건물) 기반으로 조건부 연장 가능성 존재.</a:t>
              </a:r>
              <a:endParaRPr lang="en-US" sz="900" dirty="0"/>
            </a:p>
          </p:txBody>
        </p:sp>
        <p:sp>
          <p:nvSpPr>
            <p:cNvPr id="81" name="Text 55"/>
            <p:cNvSpPr txBox="1"/>
            <p:nvPr/>
          </p:nvSpPr>
          <p:spPr>
            <a:xfrm>
              <a:off x="1466698" y="3201511"/>
              <a:ext cx="81930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① 담보대출 (50억)</a:t>
              </a:r>
              <a:endParaRPr lang="en-US" sz="1200" dirty="0"/>
            </a:p>
          </p:txBody>
        </p:sp>
        <p:sp>
          <p:nvSpPr>
            <p:cNvPr id="82" name="Text 56"/>
            <p:cNvSpPr txBox="1"/>
            <p:nvPr/>
          </p:nvSpPr>
          <p:spPr>
            <a:xfrm>
              <a:off x="2472539" y="3210655"/>
              <a:ext cx="562355" cy="3145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26.06 만기</a:t>
              </a:r>
              <a:endParaRPr lang="en-US" sz="900" dirty="0"/>
            </a:p>
          </p:txBody>
        </p:sp>
        <p:sp>
          <p:nvSpPr>
            <p:cNvPr id="83" name="Shape 57"/>
            <p:cNvSpPr/>
            <p:nvPr/>
          </p:nvSpPr>
          <p:spPr>
            <a:xfrm>
              <a:off x="1000354" y="4506359"/>
              <a:ext cx="19202" cy="895198"/>
            </a:xfrm>
            <a:prstGeom prst="rect">
              <a:avLst/>
            </a:prstGeom>
            <a:solidFill>
              <a:srgbClr val="334155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84" name="Image 24" descr="preencoded.png"/>
            <p:cNvPicPr>
              <a:picLocks noChangeAspect="1"/>
            </p:cNvPicPr>
            <p:nvPr/>
          </p:nvPicPr>
          <p:blipFill>
            <a:blip r:embed="rId20"/>
            <a:srcRect/>
            <a:stretch/>
          </p:blipFill>
          <p:spPr>
            <a:xfrm>
              <a:off x="809244" y="4125055"/>
              <a:ext cx="381305" cy="381305"/>
            </a:xfrm>
            <a:prstGeom prst="rect">
              <a:avLst/>
            </a:prstGeom>
          </p:spPr>
        </p:pic>
        <p:sp>
          <p:nvSpPr>
            <p:cNvPr id="85" name="Text 58"/>
            <p:cNvSpPr txBox="1"/>
            <p:nvPr/>
          </p:nvSpPr>
          <p:spPr>
            <a:xfrm>
              <a:off x="961034" y="4220152"/>
              <a:ext cx="162763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3</a:t>
              </a:r>
              <a:endParaRPr lang="en-US" sz="1000" dirty="0"/>
            </a:p>
          </p:txBody>
        </p:sp>
        <p:pic>
          <p:nvPicPr>
            <p:cNvPr id="86" name="Image 25" descr="preencoded.png"/>
            <p:cNvPicPr>
              <a:picLocks noChangeAspect="1"/>
            </p:cNvPicPr>
            <p:nvPr/>
          </p:nvPicPr>
          <p:blipFill>
            <a:blip r:embed="rId19"/>
            <a:srcRect t="-7" b="-7"/>
            <a:stretch/>
          </p:blipFill>
          <p:spPr>
            <a:xfrm>
              <a:off x="1343254" y="4125055"/>
              <a:ext cx="1828800" cy="1047902"/>
            </a:xfrm>
            <a:prstGeom prst="rect">
              <a:avLst/>
            </a:prstGeom>
          </p:spPr>
        </p:pic>
        <p:sp>
          <p:nvSpPr>
            <p:cNvPr id="87" name="Text 59"/>
            <p:cNvSpPr txBox="1"/>
            <p:nvPr/>
          </p:nvSpPr>
          <p:spPr>
            <a:xfrm>
              <a:off x="1466698" y="4744103"/>
              <a:ext cx="1645006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하반기 만기, 상반기 유동성 상황에 따라 대응.</a:t>
              </a:r>
              <a:endParaRPr lang="en-US" sz="900" dirty="0"/>
            </a:p>
          </p:txBody>
        </p:sp>
        <p:sp>
          <p:nvSpPr>
            <p:cNvPr id="88" name="Text 60"/>
            <p:cNvSpPr txBox="1"/>
            <p:nvPr/>
          </p:nvSpPr>
          <p:spPr>
            <a:xfrm>
              <a:off x="1466698" y="4249413"/>
              <a:ext cx="81930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93C5FD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② 신용대출 (30억)</a:t>
              </a:r>
              <a:endParaRPr lang="en-US" sz="1200" dirty="0"/>
            </a:p>
          </p:txBody>
        </p:sp>
        <p:sp>
          <p:nvSpPr>
            <p:cNvPr id="89" name="Text 61"/>
            <p:cNvSpPr txBox="1"/>
            <p:nvPr/>
          </p:nvSpPr>
          <p:spPr>
            <a:xfrm>
              <a:off x="2453685" y="4258557"/>
              <a:ext cx="581209" cy="3145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BFDBFE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26.09 만기</a:t>
              </a:r>
              <a:endParaRPr lang="en-US" sz="900" dirty="0"/>
            </a:p>
          </p:txBody>
        </p:sp>
        <p:pic>
          <p:nvPicPr>
            <p:cNvPr id="91" name="Image 26" descr="preencoded.png"/>
            <p:cNvPicPr>
              <a:picLocks noChangeAspect="1"/>
            </p:cNvPicPr>
            <p:nvPr/>
          </p:nvPicPr>
          <p:blipFill>
            <a:blip r:embed="rId18"/>
            <a:srcRect/>
            <a:stretch/>
          </p:blipFill>
          <p:spPr>
            <a:xfrm>
              <a:off x="809244" y="5172957"/>
              <a:ext cx="381305" cy="381305"/>
            </a:xfrm>
            <a:prstGeom prst="rect">
              <a:avLst/>
            </a:prstGeom>
          </p:spPr>
        </p:pic>
        <p:sp>
          <p:nvSpPr>
            <p:cNvPr id="92" name="Text 63"/>
            <p:cNvSpPr txBox="1"/>
            <p:nvPr/>
          </p:nvSpPr>
          <p:spPr>
            <a:xfrm>
              <a:off x="961034" y="5268055"/>
              <a:ext cx="162763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4</a:t>
              </a:r>
              <a:endParaRPr lang="en-US" sz="1000" dirty="0"/>
            </a:p>
          </p:txBody>
        </p:sp>
        <p:pic>
          <p:nvPicPr>
            <p:cNvPr id="93" name="Image 27" descr="preencoded.png"/>
            <p:cNvPicPr>
              <a:picLocks noChangeAspect="1"/>
            </p:cNvPicPr>
            <p:nvPr/>
          </p:nvPicPr>
          <p:blipFill>
            <a:blip r:embed="rId21">
              <a:alphaModFix amt="70000"/>
            </a:blip>
            <a:srcRect t="-7" b="-7"/>
            <a:stretch/>
          </p:blipFill>
          <p:spPr>
            <a:xfrm>
              <a:off x="1343254" y="5172957"/>
              <a:ext cx="1828800" cy="1047902"/>
            </a:xfrm>
            <a:prstGeom prst="rect">
              <a:avLst/>
            </a:prstGeom>
          </p:spPr>
        </p:pic>
        <p:sp>
          <p:nvSpPr>
            <p:cNvPr id="95" name="Text 65"/>
            <p:cNvSpPr txBox="1"/>
            <p:nvPr/>
          </p:nvSpPr>
          <p:spPr>
            <a:xfrm>
              <a:off x="1466698" y="5792006"/>
              <a:ext cx="1645006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>
                      <a:alpha val="70000"/>
                    </a:srgbClr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내년 만기, 장기적 리파이낸싱 계획 수립.</a:t>
              </a:r>
              <a:endParaRPr lang="en-US" sz="900" dirty="0"/>
            </a:p>
          </p:txBody>
        </p:sp>
        <p:sp>
          <p:nvSpPr>
            <p:cNvPr id="96" name="Text 66"/>
            <p:cNvSpPr txBox="1"/>
            <p:nvPr/>
          </p:nvSpPr>
          <p:spPr>
            <a:xfrm>
              <a:off x="1466698" y="5296401"/>
              <a:ext cx="81930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9CA3AF">
                      <a:alpha val="70000"/>
                    </a:srgbClr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③ 담보대출 (48억)</a:t>
              </a:r>
              <a:endParaRPr lang="en-US" sz="1200" dirty="0"/>
            </a:p>
          </p:txBody>
        </p:sp>
        <p:sp>
          <p:nvSpPr>
            <p:cNvPr id="97" name="Text 67"/>
            <p:cNvSpPr txBox="1"/>
            <p:nvPr/>
          </p:nvSpPr>
          <p:spPr>
            <a:xfrm>
              <a:off x="2453685" y="5306459"/>
              <a:ext cx="581209" cy="3145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>
                      <a:alpha val="70000"/>
                    </a:srgbClr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27.01 만기</a:t>
              </a:r>
              <a:endParaRPr lang="en-US" sz="900" dirty="0"/>
            </a:p>
          </p:txBody>
        </p:sp>
      </p:grpSp>
      <p:sp>
        <p:nvSpPr>
          <p:cNvPr id="98" name="Text 15">
            <a:extLst>
              <a:ext uri="{FF2B5EF4-FFF2-40B4-BE49-F238E27FC236}">
                <a16:creationId xmlns:a16="http://schemas.microsoft.com/office/drawing/2014/main" id="{41B2E96F-71BE-E0B1-7A56-01A72A3EA84A}"/>
              </a:ext>
            </a:extLst>
          </p:cNvPr>
          <p:cNvSpPr txBox="1"/>
          <p:nvPr/>
        </p:nvSpPr>
        <p:spPr>
          <a:xfrm>
            <a:off x="9417362" y="6610121"/>
            <a:ext cx="211759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Selvas Group Treasury Committee</a:t>
            </a:r>
            <a:endParaRPr lang="en-US" sz="900" dirty="0"/>
          </a:p>
        </p:txBody>
      </p: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6A21A82B-8D05-308F-5517-9D5A47C54B61}"/>
              </a:ext>
            </a:extLst>
          </p:cNvPr>
          <p:cNvGrpSpPr/>
          <p:nvPr/>
        </p:nvGrpSpPr>
        <p:grpSpPr>
          <a:xfrm>
            <a:off x="10782605" y="466344"/>
            <a:ext cx="800100" cy="247802"/>
            <a:chOff x="10782605" y="466344"/>
            <a:chExt cx="800100" cy="247802"/>
          </a:xfrm>
        </p:grpSpPr>
        <p:pic>
          <p:nvPicPr>
            <p:cNvPr id="107" name="Image 12" descr="preencoded.png">
              <a:extLst>
                <a:ext uri="{FF2B5EF4-FFF2-40B4-BE49-F238E27FC236}">
                  <a16:creationId xmlns:a16="http://schemas.microsoft.com/office/drawing/2014/main" id="{4C14A7DD-FF81-8D7B-661A-3E592DF106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rcRect t="-31" b="-31"/>
            <a:stretch/>
          </p:blipFill>
          <p:spPr>
            <a:xfrm>
              <a:off x="10782605" y="466344"/>
              <a:ext cx="800100" cy="247802"/>
            </a:xfrm>
            <a:prstGeom prst="rect">
              <a:avLst/>
            </a:prstGeom>
          </p:spPr>
        </p:pic>
        <p:sp>
          <p:nvSpPr>
            <p:cNvPr id="108" name="Text 4">
              <a:extLst>
                <a:ext uri="{FF2B5EF4-FFF2-40B4-BE49-F238E27FC236}">
                  <a16:creationId xmlns:a16="http://schemas.microsoft.com/office/drawing/2014/main" id="{4C94B26B-A441-49C0-7BBB-014E19BB49C3}"/>
                </a:ext>
              </a:extLst>
            </p:cNvPr>
            <p:cNvSpPr txBox="1"/>
            <p:nvPr/>
          </p:nvSpPr>
          <p:spPr>
            <a:xfrm>
              <a:off x="10800893" y="514807"/>
              <a:ext cx="657454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BFDBFE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SELVAS AI</a:t>
              </a:r>
              <a:endParaRPr lang="en-US" sz="900" dirty="0"/>
            </a:p>
          </p:txBody>
        </p:sp>
      </p:grpSp>
      <p:sp>
        <p:nvSpPr>
          <p:cNvPr id="6" name="Text 38">
            <a:extLst>
              <a:ext uri="{FF2B5EF4-FFF2-40B4-BE49-F238E27FC236}">
                <a16:creationId xmlns:a16="http://schemas.microsoft.com/office/drawing/2014/main" id="{C7F4213F-CFDD-86E3-4B29-F2DF5182250B}"/>
              </a:ext>
            </a:extLst>
          </p:cNvPr>
          <p:cNvSpPr txBox="1"/>
          <p:nvPr/>
        </p:nvSpPr>
        <p:spPr>
          <a:xfrm>
            <a:off x="4015130" y="4327821"/>
            <a:ext cx="2012594" cy="171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</a:rPr>
              <a:t>이자절감 효과 큼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5419427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20C5706-599C-36F4-439E-FF90C92A39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/>
              <a:t>외화 자산 관리 </a:t>
            </a:r>
            <a:r>
              <a:rPr lang="en-US" altLang="ko-KR"/>
              <a:t>(</a:t>
            </a:r>
            <a:r>
              <a:rPr lang="ko-KR" altLang="en-US"/>
              <a:t>안</a:t>
            </a:r>
            <a:r>
              <a:rPr lang="en-US" altLang="ko-KR"/>
              <a:t>)</a:t>
            </a:r>
            <a:endParaRPr lang="ko-KR" altLang="en-US"/>
          </a:p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4586915-AFF9-98BF-B362-0103DC52C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외화 자산 운용 </a:t>
            </a:r>
            <a:r>
              <a:rPr lang="ko-KR" altLang="en-US" err="1"/>
              <a:t>전략안</a:t>
            </a:r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7A3B135-297A-403C-338D-FE41D12EA516}"/>
              </a:ext>
            </a:extLst>
          </p:cNvPr>
          <p:cNvGraphicFramePr>
            <a:graphicFrameLocks noGrp="1"/>
          </p:cNvGraphicFramePr>
          <p:nvPr/>
        </p:nvGraphicFramePr>
        <p:xfrm>
          <a:off x="838199" y="1600214"/>
          <a:ext cx="10601325" cy="232408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10423">
                  <a:extLst>
                    <a:ext uri="{9D8B030D-6E8A-4147-A177-3AD203B41FA5}">
                      <a16:colId xmlns:a16="http://schemas.microsoft.com/office/drawing/2014/main" val="2285254537"/>
                    </a:ext>
                  </a:extLst>
                </a:gridCol>
                <a:gridCol w="2529427">
                  <a:extLst>
                    <a:ext uri="{9D8B030D-6E8A-4147-A177-3AD203B41FA5}">
                      <a16:colId xmlns:a16="http://schemas.microsoft.com/office/drawing/2014/main" val="214217088"/>
                    </a:ext>
                  </a:extLst>
                </a:gridCol>
                <a:gridCol w="2253825">
                  <a:extLst>
                    <a:ext uri="{9D8B030D-6E8A-4147-A177-3AD203B41FA5}">
                      <a16:colId xmlns:a16="http://schemas.microsoft.com/office/drawing/2014/main" val="284164477"/>
                    </a:ext>
                  </a:extLst>
                </a:gridCol>
                <a:gridCol w="2253825">
                  <a:extLst>
                    <a:ext uri="{9D8B030D-6E8A-4147-A177-3AD203B41FA5}">
                      <a16:colId xmlns:a16="http://schemas.microsoft.com/office/drawing/2014/main" val="2731190422"/>
                    </a:ext>
                  </a:extLst>
                </a:gridCol>
                <a:gridCol w="2253825">
                  <a:extLst>
                    <a:ext uri="{9D8B030D-6E8A-4147-A177-3AD203B41FA5}">
                      <a16:colId xmlns:a16="http://schemas.microsoft.com/office/drawing/2014/main" val="701264511"/>
                    </a:ext>
                  </a:extLst>
                </a:gridCol>
              </a:tblGrid>
              <a:tr h="3669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solidFill>
                            <a:schemeClr val="bg1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구분</a:t>
                      </a:r>
                      <a:endParaRPr lang="ko-KR" altLang="en-US" sz="1200" b="0" i="0" u="none" strike="noStrike">
                        <a:solidFill>
                          <a:schemeClr val="bg1"/>
                        </a:solidFill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핵심항목</a:t>
                      </a:r>
                      <a:endParaRPr lang="en-US" sz="1200" b="0" i="0" u="none" strike="noStrike">
                        <a:solidFill>
                          <a:schemeClr val="bg1"/>
                        </a:solidFill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기초</a:t>
                      </a:r>
                      <a:endParaRPr lang="en-US" sz="1200" b="0" i="0" u="none" strike="noStrike">
                        <a:solidFill>
                          <a:schemeClr val="bg1"/>
                        </a:solidFill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확대</a:t>
                      </a:r>
                      <a:endParaRPr lang="en-US" sz="1200" b="0" i="0" u="none" strike="noStrike">
                        <a:solidFill>
                          <a:schemeClr val="bg1"/>
                        </a:solidFill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2026 (</a:t>
                      </a:r>
                      <a:r>
                        <a:rPr lang="ko-KR" alt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고도화 계획</a:t>
                      </a:r>
                      <a:r>
                        <a:rPr lang="en-US" altLang="ko-KR" sz="1200" b="0" i="0" u="none" strike="noStrike">
                          <a:solidFill>
                            <a:schemeClr val="bg1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)</a:t>
                      </a:r>
                      <a:endParaRPr lang="en-US" sz="1200" b="0" i="0" u="none" strike="noStrike">
                        <a:solidFill>
                          <a:schemeClr val="bg1"/>
                        </a:solidFill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1510391"/>
                  </a:ext>
                </a:extLst>
              </a:tr>
              <a:tr h="366953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통제 가능</a:t>
                      </a:r>
                      <a:endParaRPr lang="en-US" altLang="ko-KR" sz="1200" b="0" i="0" u="none" strike="noStrike"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(</a:t>
                      </a:r>
                      <a:r>
                        <a:rPr lang="ko-KR" altLang="en-US" sz="12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운용역량</a:t>
                      </a:r>
                      <a:r>
                        <a:rPr lang="en-US" altLang="ko-KR" sz="12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)</a:t>
                      </a:r>
                      <a:endParaRPr lang="ko-KR" altLang="en-US" sz="1200" b="0" i="0" u="none" strike="noStrike"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이자수익</a:t>
                      </a:r>
                      <a:r>
                        <a:rPr lang="en-US" altLang="ko-KR" sz="12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(</a:t>
                      </a:r>
                      <a:r>
                        <a:rPr lang="ko-KR" altLang="en-US" sz="12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예금</a:t>
                      </a:r>
                      <a:r>
                        <a:rPr lang="en-US" altLang="ko-KR" sz="12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현수준유지</a:t>
                      </a:r>
                      <a:endParaRPr lang="en-US" altLang="ko-KR" sz="1200" b="0" i="0" u="none" strike="noStrike"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외화예금</a:t>
                      </a:r>
                      <a:r>
                        <a:rPr lang="en-US" altLang="ko-KR" sz="12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(MMDA)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단</a:t>
                      </a:r>
                      <a:r>
                        <a:rPr lang="en-US" altLang="ko-KR" sz="12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.</a:t>
                      </a:r>
                      <a:r>
                        <a:rPr lang="ko-KR" altLang="en-US" sz="12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장기 예금 금리활용</a:t>
                      </a:r>
                      <a:endParaRPr lang="en-US" altLang="ko-KR" sz="1200" b="0" i="0" u="none" strike="noStrike"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514044"/>
                  </a:ext>
                </a:extLst>
              </a:tr>
              <a:tr h="366953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외환차익</a:t>
                      </a:r>
                      <a:r>
                        <a:rPr lang="en-US" altLang="ko-KR" sz="12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/</a:t>
                      </a:r>
                      <a:r>
                        <a:rPr lang="ko-KR" altLang="en-US" sz="12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외화차손</a:t>
                      </a:r>
                      <a:r>
                        <a:rPr lang="en-US" altLang="ko-KR" sz="12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(</a:t>
                      </a:r>
                      <a:r>
                        <a:rPr lang="ko-KR" altLang="en-US" sz="12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실현환 손익</a:t>
                      </a:r>
                      <a:r>
                        <a:rPr lang="en-US" altLang="ko-KR" sz="12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)</a:t>
                      </a:r>
                      <a:endParaRPr lang="ko-KR" altLang="en-US" sz="1200" b="0" i="0" u="none" strike="noStrike"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실현손익 기록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환전 타이밍 최적화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환차익 극대화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747244"/>
                  </a:ext>
                </a:extLst>
              </a:tr>
              <a:tr h="692817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 </a:t>
                      </a:r>
                      <a:r>
                        <a:rPr lang="ko-KR" altLang="en-US" sz="12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통제불가능</a:t>
                      </a:r>
                      <a:endParaRPr lang="en-US" altLang="ko-KR" sz="1200" b="0" i="0" u="none" strike="noStrike"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(</a:t>
                      </a:r>
                      <a:r>
                        <a:rPr lang="ko-KR" altLang="en-US" sz="12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리스크 관리</a:t>
                      </a:r>
                      <a:r>
                        <a:rPr lang="en-US" altLang="ko-KR" sz="12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)</a:t>
                      </a:r>
                      <a:endParaRPr lang="en-US" sz="1200" b="0" i="0" u="none" strike="noStrike"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외화환산이익</a:t>
                      </a:r>
                      <a:r>
                        <a:rPr lang="en-US" altLang="ko-KR" sz="12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/</a:t>
                      </a:r>
                      <a:r>
                        <a:rPr lang="ko-KR" altLang="en-US" sz="12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외화환산손실 </a:t>
                      </a:r>
                      <a:endParaRPr lang="en-US" altLang="ko-KR" sz="1200" b="0" i="0" u="none" strike="noStrike"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(</a:t>
                      </a:r>
                      <a:r>
                        <a:rPr lang="ko-KR" altLang="en-US" sz="12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환산손익 변동성</a:t>
                      </a:r>
                      <a:r>
                        <a:rPr lang="en-US" altLang="ko-KR" sz="12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)</a:t>
                      </a:r>
                      <a:endParaRPr lang="ko-KR" altLang="en-US" sz="1200" b="0" i="0" u="none" strike="noStrike"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±5</a:t>
                      </a:r>
                      <a:r>
                        <a:rPr lang="ko-KR" altLang="en-US" sz="12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억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±10</a:t>
                      </a:r>
                      <a:r>
                        <a:rPr lang="ko-KR" altLang="en-US" sz="12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억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±15</a:t>
                      </a:r>
                      <a:r>
                        <a:rPr lang="ko-KR" altLang="en-US" sz="12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억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702443"/>
                  </a:ext>
                </a:extLst>
              </a:tr>
              <a:tr h="530410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외화비중</a:t>
                      </a:r>
                      <a:r>
                        <a:rPr lang="en-US" altLang="ko-KR" sz="12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(%)</a:t>
                      </a:r>
                      <a:endParaRPr lang="ko-KR" altLang="en-US" sz="1200" b="0" i="0" u="none" strike="noStrike"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25%</a:t>
                      </a:r>
                      <a:endParaRPr lang="ko-KR" altLang="en-US" sz="1200" b="0" i="0" u="none" strike="noStrike"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30%</a:t>
                      </a:r>
                      <a:endParaRPr lang="ko-KR" altLang="en-US" sz="1200" b="0" i="0" u="none" strike="noStrike"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35%</a:t>
                      </a:r>
                      <a:endParaRPr lang="ko-KR" altLang="en-US" sz="1200" b="0" i="0" u="none" strike="noStrike"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1575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E953AD99-5800-43E3-2F64-6AADBF895ABD}"/>
              </a:ext>
            </a:extLst>
          </p:cNvPr>
          <p:cNvSpPr txBox="1"/>
          <p:nvPr/>
        </p:nvSpPr>
        <p:spPr>
          <a:xfrm>
            <a:off x="838200" y="1238911"/>
            <a:ext cx="87029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ko-KR" altLang="en-US" sz="1400" b="1" u="none" strike="noStrike" dirty="0">
                <a:effectLst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고도화된 </a:t>
            </a:r>
            <a:r>
              <a:rPr lang="ko-KR" altLang="en-US" sz="1400" b="1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운용 및 </a:t>
            </a:r>
            <a:r>
              <a:rPr lang="ko-KR" altLang="en-US" sz="1400" b="1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영업외손익</a:t>
            </a:r>
            <a:r>
              <a:rPr lang="ko-KR" altLang="en-US" sz="1400" b="1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관리 방안</a:t>
            </a:r>
            <a:endParaRPr lang="ko-KR" altLang="en-US" sz="1400" b="1" i="0" u="none" strike="noStrike" dirty="0">
              <a:effectLst/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23C607-4C6D-E124-00F0-65FB3F62F35B}"/>
              </a:ext>
            </a:extLst>
          </p:cNvPr>
          <p:cNvSpPr txBox="1"/>
          <p:nvPr/>
        </p:nvSpPr>
        <p:spPr>
          <a:xfrm>
            <a:off x="838199" y="4160991"/>
            <a:ext cx="10601324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600" b="1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실현 손익 </a:t>
            </a:r>
            <a:r>
              <a:rPr lang="en-US" altLang="ko-KR" sz="1600" b="1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vs </a:t>
            </a:r>
            <a:r>
              <a:rPr lang="ko-KR" altLang="en-US" sz="1600" b="1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평가 손익의 구분</a:t>
            </a:r>
            <a:endParaRPr lang="en-US" altLang="ko-KR" sz="1600" b="1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>
              <a:buNone/>
            </a:pPr>
            <a:endParaRPr lang="ko-KR" altLang="en-US" sz="16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외환차익</a:t>
            </a:r>
            <a:r>
              <a:rPr lang="en-US" altLang="ko-KR" sz="1400" b="1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/</a:t>
            </a:r>
            <a:r>
              <a:rPr lang="ko-KR" altLang="en-US" sz="1400" b="1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차손</a:t>
            </a:r>
            <a:r>
              <a:rPr lang="en-US" altLang="ko-KR" sz="1400" b="1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:</a:t>
            </a:r>
            <a:r>
              <a:rPr lang="ko-KR" altLang="en-US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실제 외화를 원화로 바꾸거나 결제할 때 발생하는 </a:t>
            </a:r>
            <a:r>
              <a:rPr lang="en-US" altLang="ko-KR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'</a:t>
            </a:r>
            <a:r>
              <a:rPr lang="ko-KR" altLang="en-US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확정된 수익</a:t>
            </a:r>
            <a:r>
              <a:rPr lang="en-US" altLang="ko-KR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/</a:t>
            </a:r>
            <a:r>
              <a:rPr lang="ko-KR" altLang="en-US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비용</a:t>
            </a:r>
            <a:r>
              <a:rPr lang="en-US" altLang="ko-KR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’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1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외화환산이익</a:t>
            </a:r>
            <a:r>
              <a:rPr lang="en-US" altLang="ko-KR" sz="1400" b="1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/</a:t>
            </a:r>
            <a:r>
              <a:rPr lang="ko-KR" altLang="en-US" sz="1400" b="1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손실</a:t>
            </a:r>
            <a:r>
              <a:rPr lang="en-US" altLang="ko-KR" sz="1400" b="1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:</a:t>
            </a:r>
            <a:r>
              <a:rPr lang="ko-KR" altLang="en-US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기말 결산 시 환율에 따라 장부상으로만 나타나는 </a:t>
            </a:r>
            <a:r>
              <a:rPr lang="en-US" altLang="ko-KR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'</a:t>
            </a:r>
            <a:r>
              <a:rPr lang="ko-KR" altLang="en-US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평가 수익</a:t>
            </a:r>
            <a:r>
              <a:rPr lang="en-US" altLang="ko-KR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/</a:t>
            </a:r>
            <a:r>
              <a:rPr lang="ko-KR" altLang="en-US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비용</a:t>
            </a:r>
            <a:r>
              <a:rPr lang="en-US" altLang="ko-KR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’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1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환평가 영향도에 </a:t>
            </a:r>
            <a:r>
              <a:rPr lang="en-US" altLang="ko-KR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5</a:t>
            </a:r>
            <a:r>
              <a:rPr lang="ko-KR" altLang="en-US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억</a:t>
            </a:r>
            <a:r>
              <a:rPr lang="en-US" altLang="ko-KR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~15</a:t>
            </a:r>
            <a:r>
              <a:rPr lang="ko-KR" altLang="en-US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억원은 주로 이 </a:t>
            </a:r>
            <a:r>
              <a:rPr lang="ko-KR" altLang="en-US" sz="1400" b="1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환산손익</a:t>
            </a:r>
            <a:r>
              <a:rPr lang="ko-KR" altLang="en-US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에 해당하므로</a:t>
            </a:r>
            <a:r>
              <a:rPr lang="en-US" altLang="ko-KR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1400" b="1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수익성 계정에 이를 별도로 표기하여 </a:t>
            </a:r>
            <a:endParaRPr lang="en-US" altLang="ko-KR" sz="1400" b="1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en-US" altLang="ko-KR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ko-KR" altLang="en-US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관리지표에서 제외 </a:t>
            </a:r>
            <a:endParaRPr lang="en-US" altLang="ko-KR" sz="1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ko-KR" sz="1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통제불가</a:t>
            </a:r>
            <a:r>
              <a:rPr lang="en-US" altLang="ko-KR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</a:t>
            </a:r>
            <a:r>
              <a:rPr lang="ko-KR" altLang="en-US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환산손익</a:t>
            </a:r>
            <a:r>
              <a:rPr lang="en-US" altLang="ko-KR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)</a:t>
            </a:r>
            <a:r>
              <a:rPr lang="ko-KR" altLang="en-US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은 제외하고 </a:t>
            </a:r>
            <a:r>
              <a:rPr lang="en-US" altLang="ko-KR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</a:t>
            </a:r>
            <a:r>
              <a:rPr lang="ko-KR" altLang="en-US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이자수익</a:t>
            </a:r>
            <a:r>
              <a:rPr lang="en-US" altLang="ko-KR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+</a:t>
            </a:r>
            <a:r>
              <a:rPr lang="ko-KR" altLang="en-US" sz="14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실현환손익</a:t>
            </a:r>
            <a:r>
              <a:rPr lang="en-US" altLang="ko-KR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)</a:t>
            </a:r>
            <a:r>
              <a:rPr lang="ko-KR" altLang="en-US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에 대한 가치만 측정   </a:t>
            </a:r>
            <a:endParaRPr lang="en-US" altLang="ko-KR" sz="1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endParaRPr lang="en-US" altLang="ko-KR" sz="1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027673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8D57E4B-47F5-D782-F273-3C73EBBBF5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/>
              <a:t>외화 자산 관리 </a:t>
            </a:r>
            <a:r>
              <a:rPr lang="en-US" altLang="ko-KR"/>
              <a:t>(</a:t>
            </a:r>
            <a:r>
              <a:rPr lang="ko-KR" altLang="en-US"/>
              <a:t>안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C2FE944-FF05-A1D9-4D3E-74DC80860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외화 자산 운영 구조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271E004-8841-E1F6-5904-011CD16BA4D0}"/>
              </a:ext>
            </a:extLst>
          </p:cNvPr>
          <p:cNvGraphicFramePr>
            <a:graphicFrameLocks noGrp="1"/>
          </p:cNvGraphicFramePr>
          <p:nvPr/>
        </p:nvGraphicFramePr>
        <p:xfrm>
          <a:off x="2305912" y="3343275"/>
          <a:ext cx="8214305" cy="321945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66457">
                  <a:extLst>
                    <a:ext uri="{9D8B030D-6E8A-4147-A177-3AD203B41FA5}">
                      <a16:colId xmlns:a16="http://schemas.microsoft.com/office/drawing/2014/main" val="2285254537"/>
                    </a:ext>
                  </a:extLst>
                </a:gridCol>
                <a:gridCol w="3409681">
                  <a:extLst>
                    <a:ext uri="{9D8B030D-6E8A-4147-A177-3AD203B41FA5}">
                      <a16:colId xmlns:a16="http://schemas.microsoft.com/office/drawing/2014/main" val="214217088"/>
                    </a:ext>
                  </a:extLst>
                </a:gridCol>
                <a:gridCol w="3038167">
                  <a:extLst>
                    <a:ext uri="{9D8B030D-6E8A-4147-A177-3AD203B41FA5}">
                      <a16:colId xmlns:a16="http://schemas.microsoft.com/office/drawing/2014/main" val="284164477"/>
                    </a:ext>
                  </a:extLst>
                </a:gridCol>
              </a:tblGrid>
              <a:tr h="4399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u="none" strike="noStrike">
                          <a:solidFill>
                            <a:schemeClr val="bg1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구분</a:t>
                      </a:r>
                      <a:endParaRPr lang="ko-KR" altLang="en-US" sz="1400" b="0" i="0" u="none" strike="noStrike">
                        <a:solidFill>
                          <a:schemeClr val="bg1"/>
                        </a:solidFill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① 안정성</a:t>
                      </a:r>
                      <a:r>
                        <a:rPr lang="en-US" altLang="ko-KR" sz="1400" b="0" i="0" u="none" strike="noStrike">
                          <a:solidFill>
                            <a:schemeClr val="bg1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(Stability)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② 수익성</a:t>
                      </a:r>
                      <a:r>
                        <a:rPr lang="en-US" altLang="ko-KR" sz="1400" b="0" i="0" u="none" strike="noStrike">
                          <a:solidFill>
                            <a:schemeClr val="bg1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(Profitability)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1510391"/>
                  </a:ext>
                </a:extLst>
              </a:tr>
              <a:tr h="9446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핵심요소</a:t>
                      </a:r>
                      <a:endParaRPr lang="ko-KR" altLang="en-US" sz="1400" b="0" i="0" u="none" strike="noStrike"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원금 보존 및 유동성 확보</a:t>
                      </a:r>
                      <a:r>
                        <a:rPr lang="en-US" altLang="ko-KR" sz="14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(</a:t>
                      </a:r>
                      <a:r>
                        <a:rPr lang="ko-KR" altLang="en-US" sz="14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예적금</a:t>
                      </a:r>
                      <a:r>
                        <a:rPr lang="en-US" altLang="ko-KR" sz="14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외화 비중 최적화 및 환차익 극대화</a:t>
                      </a:r>
                      <a:endParaRPr lang="en-US" altLang="ko-KR" sz="1400" b="0" i="0" u="none" strike="noStrike"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514044"/>
                  </a:ext>
                </a:extLst>
              </a:tr>
              <a:tr h="9410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관리계정</a:t>
                      </a:r>
                      <a:endParaRPr lang="en-US" sz="1400" b="0" i="0" u="none" strike="noStrike"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외화정기예금</a:t>
                      </a:r>
                      <a:r>
                        <a:rPr lang="en-US" altLang="ko-KR" sz="14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, </a:t>
                      </a:r>
                      <a:r>
                        <a:rPr lang="ko-KR" altLang="en-US" sz="14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  </a:t>
                      </a:r>
                      <a:r>
                        <a:rPr lang="en-US" altLang="ko-KR" sz="14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MMDA,</a:t>
                      </a:r>
                      <a:r>
                        <a:rPr lang="ko-KR" altLang="en-US" sz="14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 </a:t>
                      </a:r>
                      <a:r>
                        <a:rPr lang="en-US" altLang="ko-KR" sz="14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RP</a:t>
                      </a:r>
                      <a:endParaRPr lang="ko-KR" altLang="en-US" sz="1400" b="0" i="0" u="none" strike="noStrike"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chemeClr val="tx1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환평가손익</a:t>
                      </a:r>
                      <a:r>
                        <a:rPr lang="en-US" altLang="ko-KR" sz="1400" b="1" i="0" u="none" strike="noStrike">
                          <a:solidFill>
                            <a:schemeClr val="tx1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(</a:t>
                      </a:r>
                      <a:r>
                        <a:rPr lang="ko-KR" altLang="en-US" sz="1400" b="1" i="0" u="none" strike="noStrike">
                          <a:solidFill>
                            <a:schemeClr val="tx1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평가익</a:t>
                      </a:r>
                      <a:r>
                        <a:rPr lang="en-US" altLang="ko-KR" sz="1400" b="1" i="0" u="none" strike="noStrike">
                          <a:solidFill>
                            <a:schemeClr val="tx1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/</a:t>
                      </a:r>
                      <a:r>
                        <a:rPr lang="ko-KR" altLang="en-US" sz="1400" b="1" i="0" u="none" strike="noStrike">
                          <a:solidFill>
                            <a:schemeClr val="tx1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평가손</a:t>
                      </a:r>
                      <a:r>
                        <a:rPr lang="en-US" altLang="ko-KR" sz="1400" b="1" i="0" u="none" strike="noStrike">
                          <a:solidFill>
                            <a:schemeClr val="tx1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)</a:t>
                      </a:r>
                      <a:endParaRPr lang="ko-KR" altLang="en-US" sz="1400" b="1" i="0" u="none" strike="noStrike">
                        <a:solidFill>
                          <a:schemeClr val="tx1"/>
                        </a:solidFill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257671"/>
                  </a:ext>
                </a:extLst>
              </a:tr>
              <a:tr h="89385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운용목표</a:t>
                      </a:r>
                      <a:endParaRPr lang="en-US" sz="1400" b="0" i="0" u="none" strike="noStrike"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리스크 통제 중심의 보수적 운영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시장 방향성에 따른 전략적 비중 조절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74724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0AA830E-FC97-3D99-9E8F-6E2BD3B419BE}"/>
              </a:ext>
            </a:extLst>
          </p:cNvPr>
          <p:cNvSpPr txBox="1"/>
          <p:nvPr/>
        </p:nvSpPr>
        <p:spPr>
          <a:xfrm>
            <a:off x="3171824" y="1813775"/>
            <a:ext cx="5848352" cy="1494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1600"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ko-KR" sz="1600">
                <a:latin typeface="프리젠테이션 5 Medium" pitchFamily="2" charset="-127"/>
                <a:ea typeface="프리젠테이션 5 Medium" pitchFamily="2" charset="-127"/>
              </a:rPr>
              <a:t>외화자산은 수익 추구 목적이 아닌 </a:t>
            </a:r>
            <a:r>
              <a:rPr lang="ko-KR" altLang="ko-KR" sz="1600">
                <a:highlight>
                  <a:srgbClr val="FFFF00"/>
                </a:highlight>
                <a:latin typeface="프리젠테이션 5 Medium" pitchFamily="2" charset="-127"/>
                <a:ea typeface="프리젠테이션 5 Medium" pitchFamily="2" charset="-127"/>
              </a:rPr>
              <a:t>재무 안정성 관리 자산</a:t>
            </a:r>
            <a:endParaRPr lang="en-US" altLang="ko-KR" sz="1600">
              <a:highlight>
                <a:srgbClr val="FFFF00"/>
              </a:highlight>
              <a:latin typeface="프리젠테이션 5 Medium" pitchFamily="2" charset="-127"/>
              <a:ea typeface="프리젠테이션 5 Medium" pitchFamily="2" charset="-127"/>
            </a:endParaRPr>
          </a:p>
          <a:p>
            <a:pPr lv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1600"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ko-KR" sz="1600">
                <a:latin typeface="프리젠테이션 5 Medium" pitchFamily="2" charset="-127"/>
                <a:ea typeface="프리젠테이션 5 Medium" pitchFamily="2" charset="-127"/>
              </a:rPr>
              <a:t>환율 변동에 따른 환산</a:t>
            </a:r>
            <a:r>
              <a:rPr lang="en-US" altLang="ko-KR" sz="1600"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ko-KR" sz="1600">
                <a:latin typeface="프리젠테이션 5 Medium" pitchFamily="2" charset="-127"/>
                <a:ea typeface="프리젠테이션 5 Medium" pitchFamily="2" charset="-127"/>
              </a:rPr>
              <a:t>손익은 통제 불가 → 성과지표에서 제외</a:t>
            </a:r>
          </a:p>
          <a:p>
            <a:pPr lv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1600"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ko-KR" sz="1600">
                <a:latin typeface="프리젠테이션 5 Medium" pitchFamily="2" charset="-127"/>
                <a:ea typeface="프리젠테이션 5 Medium" pitchFamily="2" charset="-127"/>
              </a:rPr>
              <a:t>외화 비중은 환율 방향 예측이 아닌 손익 영향 한도 기준으로 관리</a:t>
            </a:r>
            <a:endParaRPr lang="ko-KR" altLang="en-US" sz="160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BCB894-F320-7871-A888-07587A2BB1EB}"/>
              </a:ext>
            </a:extLst>
          </p:cNvPr>
          <p:cNvSpPr txBox="1"/>
          <p:nvPr/>
        </p:nvSpPr>
        <p:spPr>
          <a:xfrm>
            <a:off x="482047" y="950187"/>
            <a:ext cx="11227906" cy="579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ko-KR" altLang="en-US" sz="2400" b="1" dirty="0">
                <a:solidFill>
                  <a:srgbClr val="002060"/>
                </a:solidFill>
                <a:latin typeface="Freesentation 6 SemiBold" pitchFamily="2" charset="-127"/>
                <a:ea typeface="Freesentation 6 SemiBold" pitchFamily="2" charset="-127"/>
              </a:rPr>
              <a:t>①순위</a:t>
            </a:r>
            <a:r>
              <a:rPr lang="en-US" altLang="ko-KR" sz="2400" b="1" dirty="0">
                <a:solidFill>
                  <a:srgbClr val="002060"/>
                </a:solidFill>
                <a:latin typeface="Freesentation 6 SemiBold" pitchFamily="2" charset="-127"/>
                <a:ea typeface="Freesentation 6 SemiBold" pitchFamily="2" charset="-127"/>
              </a:rPr>
              <a:t>. </a:t>
            </a:r>
            <a:r>
              <a:rPr lang="ko-KR" altLang="en-US" sz="2400" b="1" dirty="0">
                <a:solidFill>
                  <a:srgbClr val="002060"/>
                </a:solidFill>
                <a:latin typeface="Freesentation 6 SemiBold" pitchFamily="2" charset="-127"/>
                <a:ea typeface="Freesentation 6 SemiBold" pitchFamily="2" charset="-127"/>
              </a:rPr>
              <a:t>안정성 기반 </a:t>
            </a:r>
            <a:r>
              <a:rPr lang="en-US" altLang="ko-KR" sz="2400" b="1" dirty="0">
                <a:solidFill>
                  <a:srgbClr val="002060"/>
                </a:solidFill>
                <a:latin typeface="Freesentation 6 SemiBold" pitchFamily="2" charset="-127"/>
                <a:ea typeface="Freesentation 6 SemiBold" pitchFamily="2" charset="-127"/>
              </a:rPr>
              <a:t>+</a:t>
            </a:r>
            <a:r>
              <a:rPr lang="ko-KR" altLang="en-US" sz="2400" b="1" dirty="0">
                <a:solidFill>
                  <a:srgbClr val="002060"/>
                </a:solidFill>
                <a:latin typeface="Freesentation 6 SemiBold" pitchFamily="2" charset="-127"/>
                <a:ea typeface="Freesentation 6 SemiBold" pitchFamily="2" charset="-127"/>
              </a:rPr>
              <a:t> ②순위</a:t>
            </a:r>
            <a:r>
              <a:rPr lang="en-US" altLang="ko-KR" sz="2400" b="1" dirty="0">
                <a:solidFill>
                  <a:srgbClr val="002060"/>
                </a:solidFill>
                <a:latin typeface="Freesentation 6 SemiBold" pitchFamily="2" charset="-127"/>
                <a:ea typeface="Freesentation 6 SemiBold" pitchFamily="2" charset="-127"/>
              </a:rPr>
              <a:t>. </a:t>
            </a:r>
            <a:r>
              <a:rPr lang="ko-KR" altLang="en-US" sz="2400" b="1" dirty="0">
                <a:solidFill>
                  <a:srgbClr val="002060"/>
                </a:solidFill>
                <a:latin typeface="Freesentation 6 SemiBold" pitchFamily="2" charset="-127"/>
                <a:ea typeface="Freesentation 6 SemiBold" pitchFamily="2" charset="-127"/>
              </a:rPr>
              <a:t>수익성 추구</a:t>
            </a:r>
            <a:endParaRPr lang="en-US" altLang="ko-KR" sz="2400" b="1" dirty="0">
              <a:solidFill>
                <a:schemeClr val="accent6">
                  <a:lumMod val="50000"/>
                </a:schemeClr>
              </a:solidFill>
              <a:latin typeface="Freesentation 6 SemiBold" pitchFamily="2" charset="-127"/>
              <a:ea typeface="Freesentation 6 Semi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43937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09905" y="457200"/>
            <a:ext cx="612830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56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셀바스에이아이: 내부자금지원 시나리오 비교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09905" y="952805"/>
            <a:ext cx="457200" cy="38405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81405" y="875995"/>
            <a:ext cx="35551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5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Scenario Analysis: Option A vs B vs C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568635" y="533095"/>
            <a:ext cx="9052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CONFIDENTIAL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31" b="-31"/>
          <a:stretch/>
        </p:blipFill>
        <p:spPr>
          <a:xfrm>
            <a:off x="609905" y="1676095"/>
            <a:ext cx="10972800" cy="74340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14146" y="1837944"/>
            <a:ext cx="107634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Option A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76656" y="2104949"/>
            <a:ext cx="108402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메디아나 담보대출</a:t>
            </a:r>
            <a:endParaRPr lang="en-US" sz="9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rcRect t="-31" b="-31"/>
          <a:stretch/>
        </p:blipFill>
        <p:spPr>
          <a:xfrm>
            <a:off x="609905" y="2572207"/>
            <a:ext cx="10972800" cy="74340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4146" y="2734056"/>
            <a:ext cx="107634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Option B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714146" y="3000146"/>
            <a:ext cx="107634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대환 (Inter-company)</a:t>
            </a:r>
            <a:endParaRPr lang="en-US" sz="9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rcRect t="-11" b="-11"/>
          <a:stretch/>
        </p:blipFill>
        <p:spPr>
          <a:xfrm>
            <a:off x="609905" y="4362602"/>
            <a:ext cx="10972800" cy="705002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rcRect l="-837" r="-837"/>
          <a:stretch/>
        </p:blipFill>
        <p:spPr>
          <a:xfrm>
            <a:off x="733349" y="4515307"/>
            <a:ext cx="152705" cy="13350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33349" y="4714646"/>
            <a:ext cx="10840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Interest Saving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rcRect t="-11" b="-11"/>
          <a:stretch/>
        </p:blipFill>
        <p:spPr>
          <a:xfrm>
            <a:off x="609905" y="5219395"/>
            <a:ext cx="10972800" cy="705002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6"/>
          <a:srcRect l="-2512" r="-2512"/>
          <a:stretch/>
        </p:blipFill>
        <p:spPr>
          <a:xfrm>
            <a:off x="733349" y="5372100"/>
            <a:ext cx="105156" cy="133502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733349" y="5572354"/>
            <a:ext cx="10840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Cost &amp; Complexity</a:t>
            </a:r>
            <a:endParaRPr lang="en-US" sz="12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4"/>
          <a:srcRect t="-11" b="-11"/>
          <a:stretch/>
        </p:blipFill>
        <p:spPr>
          <a:xfrm>
            <a:off x="609905" y="6077102"/>
            <a:ext cx="10972800" cy="705002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33349" y="6229807"/>
            <a:ext cx="133502" cy="133502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733349" y="6429146"/>
            <a:ext cx="10840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Risk Factors</a:t>
            </a:r>
            <a:endParaRPr lang="en-US" sz="12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8"/>
          <a:srcRect l="-2083" r="-2083"/>
          <a:stretch/>
        </p:blipFill>
        <p:spPr>
          <a:xfrm>
            <a:off x="609905" y="6933895"/>
            <a:ext cx="10972800" cy="9144"/>
          </a:xfrm>
          <a:prstGeom prst="rect">
            <a:avLst/>
          </a:prstGeom>
        </p:spPr>
      </p:pic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9"/>
          <a:srcRect l="-1507" r="-1507"/>
          <a:stretch/>
        </p:blipFill>
        <p:spPr>
          <a:xfrm>
            <a:off x="733349" y="7086600"/>
            <a:ext cx="171907" cy="133502"/>
          </a:xfrm>
          <a:prstGeom prst="rect">
            <a:avLst/>
          </a:prstGeom>
        </p:spPr>
      </p:pic>
      <p:sp>
        <p:nvSpPr>
          <p:cNvPr id="24" name="Text 12"/>
          <p:cNvSpPr txBox="1"/>
          <p:nvPr/>
        </p:nvSpPr>
        <p:spPr>
          <a:xfrm>
            <a:off x="733349" y="7286854"/>
            <a:ext cx="10840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Execution Difficulty</a:t>
            </a:r>
            <a:endParaRPr lang="en-US" sz="1200" dirty="0"/>
          </a:p>
        </p:txBody>
      </p:sp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10"/>
          <a:srcRect l="-2083" r="-2083"/>
          <a:stretch/>
        </p:blipFill>
        <p:spPr>
          <a:xfrm>
            <a:off x="609905" y="16021202"/>
            <a:ext cx="10972800" cy="9144"/>
          </a:xfrm>
          <a:prstGeom prst="rect">
            <a:avLst/>
          </a:prstGeom>
        </p:spPr>
      </p:pic>
      <p:sp>
        <p:nvSpPr>
          <p:cNvPr id="26" name="Shape 13"/>
          <p:cNvSpPr/>
          <p:nvPr/>
        </p:nvSpPr>
        <p:spPr>
          <a:xfrm>
            <a:off x="629107" y="17297705"/>
            <a:ext cx="109343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14"/>
          <p:cNvSpPr txBox="1"/>
          <p:nvPr/>
        </p:nvSpPr>
        <p:spPr>
          <a:xfrm>
            <a:off x="780898" y="16269005"/>
            <a:ext cx="107442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Optimal</a:t>
            </a:r>
            <a:endParaRPr lang="en-US" sz="1300" dirty="0"/>
          </a:p>
        </p:txBody>
      </p:sp>
      <p:sp>
        <p:nvSpPr>
          <p:cNvPr id="28" name="Text 15"/>
          <p:cNvSpPr txBox="1"/>
          <p:nvPr/>
        </p:nvSpPr>
        <p:spPr>
          <a:xfrm>
            <a:off x="780898" y="16573500"/>
            <a:ext cx="107067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급한 불 끄고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점진적 개선</a:t>
            </a:r>
            <a:endParaRPr lang="en-US" sz="900" dirty="0"/>
          </a:p>
        </p:txBody>
      </p:sp>
      <p:sp>
        <p:nvSpPr>
          <p:cNvPr id="29" name="Text 16"/>
          <p:cNvSpPr txBox="1"/>
          <p:nvPr/>
        </p:nvSpPr>
        <p:spPr>
          <a:xfrm>
            <a:off x="780898" y="16916400"/>
            <a:ext cx="108210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효율성 최적화</a:t>
            </a:r>
            <a:endParaRPr lang="en-US" sz="1200" dirty="0"/>
          </a:p>
        </p:txBody>
      </p:sp>
      <p:sp>
        <p:nvSpPr>
          <p:cNvPr id="30" name="Shape 17"/>
          <p:cNvSpPr/>
          <p:nvPr/>
        </p:nvSpPr>
        <p:spPr>
          <a:xfrm>
            <a:off x="629107" y="18298058"/>
            <a:ext cx="109343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18"/>
          <p:cNvSpPr txBox="1"/>
          <p:nvPr/>
        </p:nvSpPr>
        <p:spPr>
          <a:xfrm>
            <a:off x="780898" y="17611344"/>
            <a:ext cx="108210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절차 분산 효과</a:t>
            </a:r>
            <a:endParaRPr lang="en-US" sz="1000" dirty="0"/>
          </a:p>
        </p:txBody>
      </p:sp>
      <p:sp>
        <p:nvSpPr>
          <p:cNvPr id="32" name="Text 19"/>
          <p:cNvSpPr txBox="1"/>
          <p:nvPr/>
        </p:nvSpPr>
        <p:spPr>
          <a:xfrm>
            <a:off x="780898" y="17839944"/>
            <a:ext cx="107067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단계별 실행으로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행정 부담 완화</a:t>
            </a:r>
            <a:endParaRPr lang="en-US" sz="900" dirty="0"/>
          </a:p>
        </p:txBody>
      </p:sp>
      <p:sp>
        <p:nvSpPr>
          <p:cNvPr id="33" name="Shape 20"/>
          <p:cNvSpPr/>
          <p:nvPr/>
        </p:nvSpPr>
        <p:spPr>
          <a:xfrm>
            <a:off x="629107" y="19298412"/>
            <a:ext cx="109343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1"/>
          <p:cNvSpPr/>
          <p:nvPr/>
        </p:nvSpPr>
        <p:spPr>
          <a:xfrm>
            <a:off x="629107" y="18459907"/>
            <a:ext cx="38405" cy="847649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2"/>
          <p:cNvSpPr txBox="1"/>
          <p:nvPr/>
        </p:nvSpPr>
        <p:spPr>
          <a:xfrm>
            <a:off x="819302" y="18611698"/>
            <a:ext cx="107067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분산 (Hedging)</a:t>
            </a:r>
            <a:endParaRPr lang="en-US" sz="1000" dirty="0"/>
          </a:p>
        </p:txBody>
      </p:sp>
      <p:sp>
        <p:nvSpPr>
          <p:cNvPr id="36" name="Text 23"/>
          <p:cNvSpPr txBox="1"/>
          <p:nvPr/>
        </p:nvSpPr>
        <p:spPr>
          <a:xfrm>
            <a:off x="819302" y="18840298"/>
            <a:ext cx="10668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가지 방법에 의존하지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않아 유동성 위험 감소</a:t>
            </a:r>
            <a:endParaRPr lang="en-US" sz="900" dirty="0"/>
          </a:p>
        </p:txBody>
      </p:sp>
      <p:sp>
        <p:nvSpPr>
          <p:cNvPr id="37" name="Shape 24"/>
          <p:cNvSpPr/>
          <p:nvPr/>
        </p:nvSpPr>
        <p:spPr>
          <a:xfrm>
            <a:off x="1128370" y="19668744"/>
            <a:ext cx="75895" cy="758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25"/>
          <p:cNvSpPr/>
          <p:nvPr/>
        </p:nvSpPr>
        <p:spPr>
          <a:xfrm>
            <a:off x="1223467" y="19668744"/>
            <a:ext cx="75895" cy="758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26"/>
          <p:cNvSpPr/>
          <p:nvPr/>
        </p:nvSpPr>
        <p:spPr>
          <a:xfrm>
            <a:off x="1318565" y="19668744"/>
            <a:ext cx="75895" cy="75895"/>
          </a:xfrm>
          <a:prstGeom prst="ellipse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27"/>
          <p:cNvSpPr/>
          <p:nvPr/>
        </p:nvSpPr>
        <p:spPr>
          <a:xfrm>
            <a:off x="1414577" y="19668744"/>
            <a:ext cx="75895" cy="75895"/>
          </a:xfrm>
          <a:prstGeom prst="ellipse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28"/>
          <p:cNvSpPr/>
          <p:nvPr/>
        </p:nvSpPr>
        <p:spPr>
          <a:xfrm>
            <a:off x="1509674" y="19668744"/>
            <a:ext cx="75895" cy="75895"/>
          </a:xfrm>
          <a:prstGeom prst="ellipse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29"/>
          <p:cNvSpPr txBox="1"/>
          <p:nvPr/>
        </p:nvSpPr>
        <p:spPr>
          <a:xfrm>
            <a:off x="780898" y="19840651"/>
            <a:ext cx="108210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유연한 대응 가능</a:t>
            </a:r>
            <a:endParaRPr lang="en-US" sz="900" dirty="0"/>
          </a:p>
        </p:txBody>
      </p:sp>
      <p:pic>
        <p:nvPicPr>
          <p:cNvPr id="43" name="Image 11" descr="preencoded.png"/>
          <p:cNvPicPr>
            <a:picLocks noChangeAspect="1"/>
          </p:cNvPicPr>
          <p:nvPr/>
        </p:nvPicPr>
        <p:blipFill>
          <a:blip r:embed="rId11"/>
          <a:srcRect l="-2083" r="-2083"/>
          <a:stretch/>
        </p:blipFill>
        <p:spPr>
          <a:xfrm>
            <a:off x="609905" y="20392949"/>
            <a:ext cx="10972800" cy="9144"/>
          </a:xfrm>
          <a:prstGeom prst="rect">
            <a:avLst/>
          </a:prstGeom>
        </p:spPr>
      </p:pic>
      <p:sp>
        <p:nvSpPr>
          <p:cNvPr id="44" name="Shape 30"/>
          <p:cNvSpPr/>
          <p:nvPr/>
        </p:nvSpPr>
        <p:spPr>
          <a:xfrm>
            <a:off x="771754" y="20593202"/>
            <a:ext cx="381305" cy="381305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5" name="Image 12" descr="preencoded.png"/>
          <p:cNvPicPr>
            <a:picLocks noChangeAspect="1"/>
          </p:cNvPicPr>
          <p:nvPr/>
        </p:nvPicPr>
        <p:blipFill>
          <a:blip r:embed="rId12"/>
          <a:srcRect l="-760" r="-760"/>
          <a:stretch/>
        </p:blipFill>
        <p:spPr>
          <a:xfrm>
            <a:off x="886054" y="20697444"/>
            <a:ext cx="152705" cy="171907"/>
          </a:xfrm>
          <a:prstGeom prst="rect">
            <a:avLst/>
          </a:prstGeom>
        </p:spPr>
      </p:pic>
      <p:sp>
        <p:nvSpPr>
          <p:cNvPr id="46" name="Text 31"/>
          <p:cNvSpPr txBox="1"/>
          <p:nvPr/>
        </p:nvSpPr>
        <p:spPr>
          <a:xfrm>
            <a:off x="1304849" y="20554798"/>
            <a:ext cx="56775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위원회 권고안: Option C (단계적 혼합)</a:t>
            </a:r>
            <a:endParaRPr lang="en-US" sz="1000" dirty="0"/>
          </a:p>
        </p:txBody>
      </p:sp>
      <p:sp>
        <p:nvSpPr>
          <p:cNvPr id="47" name="Text 32"/>
          <p:cNvSpPr txBox="1"/>
          <p:nvPr/>
        </p:nvSpPr>
        <p:spPr>
          <a:xfrm>
            <a:off x="1304849" y="20783398"/>
            <a:ext cx="56391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2026년 3월 만기(20억) 및 6월 만기(50억)는 내부자금으로 우선 대응하여 급한 유동성 리스크를 해소하고,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잔여분은 시장 상황을 모니터링하며 가장 유리한 조건으로 외부 차환 또는 추가 내부지원을 결정하는 유연한 전략 채택. </a:t>
            </a:r>
            <a:endParaRPr lang="en-US" sz="900" dirty="0"/>
          </a:p>
        </p:txBody>
      </p:sp>
      <p:sp>
        <p:nvSpPr>
          <p:cNvPr id="48" name="Shape 33"/>
          <p:cNvSpPr/>
          <p:nvPr/>
        </p:nvSpPr>
        <p:spPr>
          <a:xfrm>
            <a:off x="9770364" y="20554798"/>
            <a:ext cx="9144" cy="533095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34"/>
          <p:cNvSpPr txBox="1"/>
          <p:nvPr/>
        </p:nvSpPr>
        <p:spPr>
          <a:xfrm>
            <a:off x="9908438" y="20554798"/>
            <a:ext cx="15206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Estimated Impact</a:t>
            </a:r>
            <a:endParaRPr lang="en-US" sz="1200" dirty="0"/>
          </a:p>
        </p:txBody>
      </p:sp>
      <p:sp>
        <p:nvSpPr>
          <p:cNvPr id="50" name="Text 35"/>
          <p:cNvSpPr txBox="1"/>
          <p:nvPr/>
        </p:nvSpPr>
        <p:spPr>
          <a:xfrm>
            <a:off x="9882835" y="20821802"/>
            <a:ext cx="154533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Risk  Minimized</a:t>
            </a:r>
            <a:endParaRPr lang="en-US" sz="1300" dirty="0"/>
          </a:p>
        </p:txBody>
      </p:sp>
      <p:sp>
        <p:nvSpPr>
          <p:cNvPr id="51" name="Shape 36"/>
          <p:cNvSpPr/>
          <p:nvPr/>
        </p:nvSpPr>
        <p:spPr>
          <a:xfrm>
            <a:off x="609905" y="21402446"/>
            <a:ext cx="10972800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37"/>
          <p:cNvSpPr txBox="1"/>
          <p:nvPr/>
        </p:nvSpPr>
        <p:spPr>
          <a:xfrm>
            <a:off x="495605" y="21488400"/>
            <a:ext cx="110871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Selvas Group Treasury Policy 2026</a:t>
            </a:r>
            <a:endParaRPr lang="en-US" sz="900" dirty="0"/>
          </a:p>
        </p:txBody>
      </p:sp>
      <p:sp>
        <p:nvSpPr>
          <p:cNvPr id="53" name="Shape 38"/>
          <p:cNvSpPr/>
          <p:nvPr/>
        </p:nvSpPr>
        <p:spPr>
          <a:xfrm>
            <a:off x="10530230" y="495605"/>
            <a:ext cx="1057046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39"/>
          <p:cNvSpPr txBox="1"/>
          <p:nvPr/>
        </p:nvSpPr>
        <p:spPr>
          <a:xfrm>
            <a:off x="609905" y="1285646"/>
            <a:ext cx="150693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COMPARISON CRITERIA</a:t>
            </a:r>
            <a:endParaRPr lang="en-US" sz="900" dirty="0"/>
          </a:p>
        </p:txBody>
      </p:sp>
      <p:sp>
        <p:nvSpPr>
          <p:cNvPr id="55" name="Text 40"/>
          <p:cNvSpPr txBox="1"/>
          <p:nvPr/>
        </p:nvSpPr>
        <p:spPr>
          <a:xfrm>
            <a:off x="961949" y="4486046"/>
            <a:ext cx="9390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이자절감 효과</a:t>
            </a:r>
            <a:endParaRPr lang="en-US" sz="1000" dirty="0"/>
          </a:p>
        </p:txBody>
      </p:sp>
      <p:sp>
        <p:nvSpPr>
          <p:cNvPr id="56" name="Text 41"/>
          <p:cNvSpPr txBox="1"/>
          <p:nvPr/>
        </p:nvSpPr>
        <p:spPr>
          <a:xfrm>
            <a:off x="914400" y="5343754"/>
            <a:ext cx="88239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및 절차</a:t>
            </a:r>
            <a:endParaRPr lang="en-US" sz="1000" dirty="0"/>
          </a:p>
        </p:txBody>
      </p:sp>
      <p:sp>
        <p:nvSpPr>
          <p:cNvPr id="57" name="Text 42"/>
          <p:cNvSpPr txBox="1"/>
          <p:nvPr/>
        </p:nvSpPr>
        <p:spPr>
          <a:xfrm>
            <a:off x="942746" y="6200546"/>
            <a:ext cx="79735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리스크</a:t>
            </a:r>
            <a:endParaRPr lang="en-US" sz="1000" dirty="0"/>
          </a:p>
        </p:txBody>
      </p:sp>
      <p:sp>
        <p:nvSpPr>
          <p:cNvPr id="58" name="Text 43"/>
          <p:cNvSpPr txBox="1"/>
          <p:nvPr/>
        </p:nvSpPr>
        <p:spPr>
          <a:xfrm>
            <a:off x="981151" y="7058254"/>
            <a:ext cx="79735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난이도</a:t>
            </a:r>
            <a:endParaRPr lang="en-US" sz="1000" dirty="0"/>
          </a:p>
        </p:txBody>
      </p:sp>
      <p:sp>
        <p:nvSpPr>
          <p:cNvPr id="59" name="Text 44"/>
          <p:cNvSpPr txBox="1"/>
          <p:nvPr/>
        </p:nvSpPr>
        <p:spPr>
          <a:xfrm>
            <a:off x="780898" y="19612051"/>
            <a:ext cx="3529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Low</a:t>
            </a:r>
            <a:endParaRPr lang="en-US" sz="1000" dirty="0"/>
          </a:p>
        </p:txBody>
      </p:sp>
      <p:pic>
        <p:nvPicPr>
          <p:cNvPr id="60" name="Image 13" descr="preencoded.png"/>
          <p:cNvPicPr>
            <a:picLocks noChangeAspect="1"/>
          </p:cNvPicPr>
          <p:nvPr/>
        </p:nvPicPr>
        <p:blipFill>
          <a:blip r:embed="rId13"/>
          <a:srcRect l="-133" r="-133"/>
          <a:stretch/>
        </p:blipFill>
        <p:spPr>
          <a:xfrm>
            <a:off x="10414102" y="20931530"/>
            <a:ext cx="85954" cy="114300"/>
          </a:xfrm>
          <a:prstGeom prst="rect">
            <a:avLst/>
          </a:prstGeom>
        </p:spPr>
      </p:pic>
      <p:pic>
        <p:nvPicPr>
          <p:cNvPr id="61" name="Image 14" descr="preencoded.png"/>
          <p:cNvPicPr>
            <a:picLocks noChangeAspect="1"/>
          </p:cNvPicPr>
          <p:nvPr/>
        </p:nvPicPr>
        <p:blipFill>
          <a:blip r:embed="rId3"/>
          <a:srcRect t="-31" b="-31"/>
          <a:stretch/>
        </p:blipFill>
        <p:spPr>
          <a:xfrm>
            <a:off x="609905" y="3467405"/>
            <a:ext cx="10972800" cy="743407"/>
          </a:xfrm>
          <a:prstGeom prst="rect">
            <a:avLst/>
          </a:prstGeom>
        </p:spPr>
      </p:pic>
      <p:sp>
        <p:nvSpPr>
          <p:cNvPr id="62" name="Shape 45"/>
          <p:cNvSpPr/>
          <p:nvPr/>
        </p:nvSpPr>
        <p:spPr>
          <a:xfrm>
            <a:off x="5387645" y="3362249"/>
            <a:ext cx="1419149" cy="304495"/>
          </a:xfrm>
          <a:prstGeom prst="roundRect">
            <a:avLst>
              <a:gd name="adj" fmla="val 30030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46"/>
          <p:cNvSpPr txBox="1"/>
          <p:nvPr/>
        </p:nvSpPr>
        <p:spPr>
          <a:xfrm>
            <a:off x="5464454" y="3400654"/>
            <a:ext cx="1267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RECOMMENDED</a:t>
            </a:r>
            <a:endParaRPr lang="en-US" sz="1200" dirty="0"/>
          </a:p>
        </p:txBody>
      </p:sp>
      <p:sp>
        <p:nvSpPr>
          <p:cNvPr id="64" name="Text 47"/>
          <p:cNvSpPr txBox="1"/>
          <p:nvPr/>
        </p:nvSpPr>
        <p:spPr>
          <a:xfrm>
            <a:off x="714146" y="3629254"/>
            <a:ext cx="107634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Option C</a:t>
            </a:r>
            <a:endParaRPr lang="en-US" sz="1300" dirty="0"/>
          </a:p>
        </p:txBody>
      </p:sp>
      <p:sp>
        <p:nvSpPr>
          <p:cNvPr id="65" name="Text 48"/>
          <p:cNvSpPr txBox="1"/>
          <p:nvPr/>
        </p:nvSpPr>
        <p:spPr>
          <a:xfrm>
            <a:off x="714146" y="3895344"/>
            <a:ext cx="107634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단계적 혼합 (Hybrid)</a:t>
            </a:r>
            <a:endParaRPr lang="en-US" sz="900" dirty="0"/>
          </a:p>
        </p:txBody>
      </p:sp>
      <p:pic>
        <p:nvPicPr>
          <p:cNvPr id="66" name="Image 15" descr="preencoded.png"/>
          <p:cNvPicPr>
            <a:picLocks noChangeAspect="1"/>
          </p:cNvPicPr>
          <p:nvPr/>
        </p:nvPicPr>
        <p:blipFill>
          <a:blip r:embed="rId14">
            <a:alphaModFix amt="80000"/>
          </a:blip>
          <a:srcRect l="-2083" r="-2083"/>
          <a:stretch/>
        </p:blipFill>
        <p:spPr>
          <a:xfrm>
            <a:off x="609905" y="7944307"/>
            <a:ext cx="10972800" cy="9144"/>
          </a:xfrm>
          <a:prstGeom prst="rect">
            <a:avLst/>
          </a:prstGeom>
        </p:spPr>
      </p:pic>
      <p:sp>
        <p:nvSpPr>
          <p:cNvPr id="67" name="Text 49"/>
          <p:cNvSpPr txBox="1"/>
          <p:nvPr/>
        </p:nvSpPr>
        <p:spPr>
          <a:xfrm>
            <a:off x="771754" y="8106156"/>
            <a:ext cx="107634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</a:t>
            </a:r>
            <a:endParaRPr lang="en-US" sz="1300" dirty="0"/>
          </a:p>
        </p:txBody>
      </p:sp>
      <p:sp>
        <p:nvSpPr>
          <p:cNvPr id="68" name="Text 50"/>
          <p:cNvSpPr txBox="1"/>
          <p:nvPr/>
        </p:nvSpPr>
        <p:spPr>
          <a:xfrm>
            <a:off x="771754" y="8410651"/>
            <a:ext cx="107634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0.5~1.0%p 절감</a:t>
            </a:r>
            <a:endParaRPr lang="en-US" sz="900" dirty="0"/>
          </a:p>
        </p:txBody>
      </p:sp>
      <p:sp>
        <p:nvSpPr>
          <p:cNvPr id="69" name="Text 51"/>
          <p:cNvSpPr txBox="1"/>
          <p:nvPr/>
        </p:nvSpPr>
        <p:spPr>
          <a:xfrm>
            <a:off x="771754" y="8600846"/>
            <a:ext cx="10840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예금담보 금리 우대 적용</a:t>
            </a:r>
            <a:endParaRPr lang="en-US" sz="1200" dirty="0"/>
          </a:p>
        </p:txBody>
      </p:sp>
      <p:pic>
        <p:nvPicPr>
          <p:cNvPr id="70" name="Image 16" descr="preencoded.png"/>
          <p:cNvPicPr>
            <a:picLocks noChangeAspect="1"/>
          </p:cNvPicPr>
          <p:nvPr/>
        </p:nvPicPr>
        <p:blipFill>
          <a:blip r:embed="rId14">
            <a:alphaModFix amt="80000"/>
          </a:blip>
          <a:srcRect l="-2083" r="-2083"/>
          <a:stretch/>
        </p:blipFill>
        <p:spPr>
          <a:xfrm>
            <a:off x="609905" y="9144000"/>
            <a:ext cx="10972800" cy="9144"/>
          </a:xfrm>
          <a:prstGeom prst="rect">
            <a:avLst/>
          </a:prstGeom>
        </p:spPr>
      </p:pic>
      <p:sp>
        <p:nvSpPr>
          <p:cNvPr id="71" name="Text 52"/>
          <p:cNvSpPr txBox="1"/>
          <p:nvPr/>
        </p:nvSpPr>
        <p:spPr>
          <a:xfrm>
            <a:off x="771754" y="9305849"/>
            <a:ext cx="108402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담보설정비용 발생</a:t>
            </a:r>
            <a:endParaRPr lang="en-US" sz="1000" dirty="0"/>
          </a:p>
        </p:txBody>
      </p:sp>
      <p:sp>
        <p:nvSpPr>
          <p:cNvPr id="72" name="Text 53"/>
          <p:cNvSpPr txBox="1"/>
          <p:nvPr/>
        </p:nvSpPr>
        <p:spPr>
          <a:xfrm>
            <a:off x="771754" y="9534449"/>
            <a:ext cx="108402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질권 설정 등 행정 소요</a:t>
            </a:r>
            <a:endParaRPr lang="en-US" sz="900" dirty="0"/>
          </a:p>
        </p:txBody>
      </p:sp>
      <p:pic>
        <p:nvPicPr>
          <p:cNvPr id="73" name="Image 17" descr="preencoded.png"/>
          <p:cNvPicPr>
            <a:picLocks noChangeAspect="1"/>
          </p:cNvPicPr>
          <p:nvPr/>
        </p:nvPicPr>
        <p:blipFill>
          <a:blip r:embed="rId14">
            <a:alphaModFix amt="80000"/>
          </a:blip>
          <a:srcRect l="-2083" r="-2083"/>
          <a:stretch/>
        </p:blipFill>
        <p:spPr>
          <a:xfrm>
            <a:off x="609905" y="10001707"/>
            <a:ext cx="10972800" cy="9144"/>
          </a:xfrm>
          <a:prstGeom prst="rect">
            <a:avLst/>
          </a:prstGeom>
        </p:spPr>
      </p:pic>
      <p:sp>
        <p:nvSpPr>
          <p:cNvPr id="74" name="Text 54"/>
          <p:cNvSpPr txBox="1"/>
          <p:nvPr/>
        </p:nvSpPr>
        <p:spPr>
          <a:xfrm>
            <a:off x="771754" y="10163556"/>
            <a:ext cx="108402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메디아나 유동성 제한</a:t>
            </a:r>
            <a:endParaRPr lang="en-US" sz="1000" dirty="0"/>
          </a:p>
        </p:txBody>
      </p:sp>
      <p:sp>
        <p:nvSpPr>
          <p:cNvPr id="75" name="Text 55"/>
          <p:cNvSpPr txBox="1"/>
          <p:nvPr/>
        </p:nvSpPr>
        <p:spPr>
          <a:xfrm>
            <a:off x="771754" y="10392156"/>
            <a:ext cx="107259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예금이 담보로 묶여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CA3A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긴급 사용 불가</a:t>
            </a:r>
            <a:endParaRPr lang="en-US" sz="900" dirty="0"/>
          </a:p>
        </p:txBody>
      </p:sp>
      <p:pic>
        <p:nvPicPr>
          <p:cNvPr id="76" name="Image 18" descr="preencoded.png"/>
          <p:cNvPicPr>
            <a:picLocks noChangeAspect="1"/>
          </p:cNvPicPr>
          <p:nvPr/>
        </p:nvPicPr>
        <p:blipFill>
          <a:blip r:embed="rId14">
            <a:alphaModFix amt="80000"/>
          </a:blip>
          <a:srcRect l="-2083" r="-2083"/>
          <a:stretch/>
        </p:blipFill>
        <p:spPr>
          <a:xfrm>
            <a:off x="609905" y="11011205"/>
            <a:ext cx="10972800" cy="9144"/>
          </a:xfrm>
          <a:prstGeom prst="rect">
            <a:avLst/>
          </a:prstGeom>
        </p:spPr>
      </p:pic>
      <p:sp>
        <p:nvSpPr>
          <p:cNvPr id="77" name="Shape 56"/>
          <p:cNvSpPr/>
          <p:nvPr/>
        </p:nvSpPr>
        <p:spPr>
          <a:xfrm>
            <a:off x="1378915" y="11229746"/>
            <a:ext cx="75895" cy="75895"/>
          </a:xfrm>
          <a:prstGeom prst="ellipse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57"/>
          <p:cNvSpPr/>
          <p:nvPr/>
        </p:nvSpPr>
        <p:spPr>
          <a:xfrm>
            <a:off x="1474013" y="11229746"/>
            <a:ext cx="75895" cy="75895"/>
          </a:xfrm>
          <a:prstGeom prst="ellipse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58"/>
          <p:cNvSpPr/>
          <p:nvPr/>
        </p:nvSpPr>
        <p:spPr>
          <a:xfrm>
            <a:off x="1569110" y="11229746"/>
            <a:ext cx="75895" cy="75895"/>
          </a:xfrm>
          <a:prstGeom prst="ellipse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59"/>
          <p:cNvSpPr/>
          <p:nvPr/>
        </p:nvSpPr>
        <p:spPr>
          <a:xfrm>
            <a:off x="1664208" y="11229746"/>
            <a:ext cx="75895" cy="75895"/>
          </a:xfrm>
          <a:prstGeom prst="ellipse">
            <a:avLst/>
          </a:prstGeom>
          <a:solidFill>
            <a:srgbClr val="334155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60"/>
          <p:cNvSpPr/>
          <p:nvPr/>
        </p:nvSpPr>
        <p:spPr>
          <a:xfrm>
            <a:off x="1760220" y="11229746"/>
            <a:ext cx="75895" cy="75895"/>
          </a:xfrm>
          <a:prstGeom prst="ellipse">
            <a:avLst/>
          </a:prstGeom>
          <a:solidFill>
            <a:srgbClr val="334155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61"/>
          <p:cNvSpPr txBox="1"/>
          <p:nvPr/>
        </p:nvSpPr>
        <p:spPr>
          <a:xfrm>
            <a:off x="771754" y="11401654"/>
            <a:ext cx="108402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은행 협의 필요</a:t>
            </a:r>
            <a:endParaRPr lang="en-US" sz="900" dirty="0"/>
          </a:p>
        </p:txBody>
      </p:sp>
      <p:sp>
        <p:nvSpPr>
          <p:cNvPr id="83" name="Text 62"/>
          <p:cNvSpPr txBox="1"/>
          <p:nvPr/>
        </p:nvSpPr>
        <p:spPr>
          <a:xfrm>
            <a:off x="771754" y="11173054"/>
            <a:ext cx="6099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Medium</a:t>
            </a:r>
            <a:endParaRPr lang="en-US" sz="1000" dirty="0"/>
          </a:p>
        </p:txBody>
      </p:sp>
      <p:pic>
        <p:nvPicPr>
          <p:cNvPr id="84" name="Image 19" descr="preencoded.png"/>
          <p:cNvPicPr>
            <a:picLocks noChangeAspect="1"/>
          </p:cNvPicPr>
          <p:nvPr/>
        </p:nvPicPr>
        <p:blipFill>
          <a:blip r:embed="rId14">
            <a:alphaModFix amt="80000"/>
          </a:blip>
          <a:srcRect l="-2083" r="-2083"/>
          <a:stretch/>
        </p:blipFill>
        <p:spPr>
          <a:xfrm>
            <a:off x="609905" y="12020702"/>
            <a:ext cx="10972800" cy="9144"/>
          </a:xfrm>
          <a:prstGeom prst="rect">
            <a:avLst/>
          </a:prstGeom>
        </p:spPr>
      </p:pic>
      <p:sp>
        <p:nvSpPr>
          <p:cNvPr id="85" name="Text 63"/>
          <p:cNvSpPr txBox="1"/>
          <p:nvPr/>
        </p:nvSpPr>
        <p:spPr>
          <a:xfrm>
            <a:off x="771754" y="12182551"/>
            <a:ext cx="107634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Medium</a:t>
            </a:r>
            <a:endParaRPr lang="en-US" sz="1300" dirty="0"/>
          </a:p>
        </p:txBody>
      </p:sp>
      <p:sp>
        <p:nvSpPr>
          <p:cNvPr id="86" name="Text 64"/>
          <p:cNvSpPr txBox="1"/>
          <p:nvPr/>
        </p:nvSpPr>
        <p:spPr>
          <a:xfrm>
            <a:off x="771754" y="12487046"/>
            <a:ext cx="108402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내부거래 금리 적용</a:t>
            </a:r>
            <a:endParaRPr lang="en-US" sz="900" dirty="0"/>
          </a:p>
        </p:txBody>
      </p:sp>
      <p:sp>
        <p:nvSpPr>
          <p:cNvPr id="87" name="Text 65"/>
          <p:cNvSpPr txBox="1"/>
          <p:nvPr/>
        </p:nvSpPr>
        <p:spPr>
          <a:xfrm>
            <a:off x="771754" y="12678156"/>
            <a:ext cx="10840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시장금리 - α 수준</a:t>
            </a:r>
            <a:endParaRPr lang="en-US" sz="1200" dirty="0"/>
          </a:p>
        </p:txBody>
      </p:sp>
      <p:pic>
        <p:nvPicPr>
          <p:cNvPr id="88" name="Image 20" descr="preencoded.png"/>
          <p:cNvPicPr>
            <a:picLocks noChangeAspect="1"/>
          </p:cNvPicPr>
          <p:nvPr/>
        </p:nvPicPr>
        <p:blipFill>
          <a:blip r:embed="rId14">
            <a:alphaModFix amt="80000"/>
          </a:blip>
          <a:srcRect l="-2083" r="-2083"/>
          <a:stretch/>
        </p:blipFill>
        <p:spPr>
          <a:xfrm>
            <a:off x="609905" y="13220395"/>
            <a:ext cx="10972800" cy="9144"/>
          </a:xfrm>
          <a:prstGeom prst="rect">
            <a:avLst/>
          </a:prstGeom>
        </p:spPr>
      </p:pic>
      <p:sp>
        <p:nvSpPr>
          <p:cNvPr id="89" name="Text 66"/>
          <p:cNvSpPr txBox="1"/>
          <p:nvPr/>
        </p:nvSpPr>
        <p:spPr>
          <a:xfrm>
            <a:off x="771754" y="13382244"/>
            <a:ext cx="108402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법무/세무 검토 필수</a:t>
            </a:r>
            <a:endParaRPr lang="en-US" sz="1000" dirty="0"/>
          </a:p>
        </p:txBody>
      </p:sp>
      <p:sp>
        <p:nvSpPr>
          <p:cNvPr id="90" name="Text 67"/>
          <p:cNvSpPr txBox="1"/>
          <p:nvPr/>
        </p:nvSpPr>
        <p:spPr>
          <a:xfrm>
            <a:off x="771754" y="13610844"/>
            <a:ext cx="108402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공정거래법 이슈 확인</a:t>
            </a:r>
            <a:endParaRPr lang="en-US" sz="900" dirty="0"/>
          </a:p>
        </p:txBody>
      </p:sp>
      <p:pic>
        <p:nvPicPr>
          <p:cNvPr id="91" name="Image 21" descr="preencoded.png"/>
          <p:cNvPicPr>
            <a:picLocks noChangeAspect="1"/>
          </p:cNvPicPr>
          <p:nvPr/>
        </p:nvPicPr>
        <p:blipFill>
          <a:blip r:embed="rId14">
            <a:alphaModFix amt="80000"/>
          </a:blip>
          <a:srcRect l="-2083" r="-2083"/>
          <a:stretch/>
        </p:blipFill>
        <p:spPr>
          <a:xfrm>
            <a:off x="609905" y="14078102"/>
            <a:ext cx="10972800" cy="9144"/>
          </a:xfrm>
          <a:prstGeom prst="rect">
            <a:avLst/>
          </a:prstGeom>
        </p:spPr>
      </p:pic>
      <p:sp>
        <p:nvSpPr>
          <p:cNvPr id="92" name="Text 68"/>
          <p:cNvSpPr txBox="1"/>
          <p:nvPr/>
        </p:nvSpPr>
        <p:spPr>
          <a:xfrm>
            <a:off x="771754" y="14239951"/>
            <a:ext cx="108402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컴플라이언스 이슈</a:t>
            </a:r>
            <a:endParaRPr lang="en-US" sz="1000" dirty="0"/>
          </a:p>
        </p:txBody>
      </p:sp>
      <p:sp>
        <p:nvSpPr>
          <p:cNvPr id="93" name="Text 69"/>
          <p:cNvSpPr txBox="1"/>
          <p:nvPr/>
        </p:nvSpPr>
        <p:spPr>
          <a:xfrm>
            <a:off x="771754" y="14468551"/>
            <a:ext cx="107259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배임 및 부당지원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CA3A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가능성 엄격 차단 필요</a:t>
            </a:r>
            <a:endParaRPr lang="en-US" sz="900" dirty="0"/>
          </a:p>
        </p:txBody>
      </p:sp>
      <p:pic>
        <p:nvPicPr>
          <p:cNvPr id="94" name="Image 22" descr="preencoded.png"/>
          <p:cNvPicPr>
            <a:picLocks noChangeAspect="1"/>
          </p:cNvPicPr>
          <p:nvPr/>
        </p:nvPicPr>
        <p:blipFill>
          <a:blip r:embed="rId14">
            <a:alphaModFix amt="80000"/>
          </a:blip>
          <a:srcRect l="-2083" r="-2083"/>
          <a:stretch/>
        </p:blipFill>
        <p:spPr>
          <a:xfrm>
            <a:off x="609905" y="15087600"/>
            <a:ext cx="10972800" cy="9144"/>
          </a:xfrm>
          <a:prstGeom prst="rect">
            <a:avLst/>
          </a:prstGeom>
        </p:spPr>
      </p:pic>
      <p:sp>
        <p:nvSpPr>
          <p:cNvPr id="95" name="Shape 70"/>
          <p:cNvSpPr/>
          <p:nvPr/>
        </p:nvSpPr>
        <p:spPr>
          <a:xfrm>
            <a:off x="1153973" y="15307056"/>
            <a:ext cx="75895" cy="75895"/>
          </a:xfrm>
          <a:prstGeom prst="ellipse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Shape 71"/>
          <p:cNvSpPr/>
          <p:nvPr/>
        </p:nvSpPr>
        <p:spPr>
          <a:xfrm>
            <a:off x="1249070" y="15307056"/>
            <a:ext cx="75895" cy="75895"/>
          </a:xfrm>
          <a:prstGeom prst="ellipse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Shape 72"/>
          <p:cNvSpPr/>
          <p:nvPr/>
        </p:nvSpPr>
        <p:spPr>
          <a:xfrm>
            <a:off x="1345082" y="15307056"/>
            <a:ext cx="75895" cy="75895"/>
          </a:xfrm>
          <a:prstGeom prst="ellipse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Shape 73"/>
          <p:cNvSpPr/>
          <p:nvPr/>
        </p:nvSpPr>
        <p:spPr>
          <a:xfrm>
            <a:off x="1440180" y="15307056"/>
            <a:ext cx="75895" cy="75895"/>
          </a:xfrm>
          <a:prstGeom prst="ellipse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" name="Shape 74"/>
          <p:cNvSpPr/>
          <p:nvPr/>
        </p:nvSpPr>
        <p:spPr>
          <a:xfrm>
            <a:off x="1535278" y="15307056"/>
            <a:ext cx="75895" cy="75895"/>
          </a:xfrm>
          <a:prstGeom prst="ellipse">
            <a:avLst/>
          </a:prstGeom>
          <a:solidFill>
            <a:srgbClr val="334155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Text 75"/>
          <p:cNvSpPr txBox="1"/>
          <p:nvPr/>
        </p:nvSpPr>
        <p:spPr>
          <a:xfrm>
            <a:off x="771754" y="15478049"/>
            <a:ext cx="108402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이사회 및 법률 승인</a:t>
            </a:r>
            <a:endParaRPr lang="en-US" sz="900" dirty="0"/>
          </a:p>
        </p:txBody>
      </p:sp>
      <p:sp>
        <p:nvSpPr>
          <p:cNvPr id="101" name="Text 76"/>
          <p:cNvSpPr txBox="1"/>
          <p:nvPr/>
        </p:nvSpPr>
        <p:spPr>
          <a:xfrm>
            <a:off x="771754" y="15249449"/>
            <a:ext cx="3913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CA5A5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3578622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09905" y="304495"/>
            <a:ext cx="50438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56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메디아나 국채 Exit 전략 및 권고안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09905" y="761695"/>
            <a:ext cx="457200" cy="38405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81405" y="685800"/>
            <a:ext cx="37417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5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Strategic Exit Options &amp; Recommendation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72216" y="362102"/>
            <a:ext cx="6007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MEDIANA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09905" y="4259319"/>
            <a:ext cx="10972800" cy="2143354"/>
          </a:xfrm>
          <a:prstGeom prst="roundRect">
            <a:avLst>
              <a:gd name="adj" fmla="val 2275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182612" y="4296744"/>
            <a:ext cx="9144" cy="2124151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809244" y="4411044"/>
            <a:ext cx="64492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전략별 상세 비교 분석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733349" y="4639644"/>
          <a:ext cx="6334049" cy="166695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6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21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20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33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5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구분</a:t>
                      </a:r>
                      <a:endParaRPr lang="en-US" sz="8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607" marR="57607" marT="75895" marB="7589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5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1안 (분할청산)</a:t>
                      </a:r>
                      <a:endParaRPr lang="en-US" sz="8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607" marR="57607" marT="75895" marB="7589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5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2안 (부분헤지)</a:t>
                      </a:r>
                      <a:endParaRPr lang="en-US" sz="8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607" marR="57607" marT="75895" marB="7589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5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3안 (만기보유)</a:t>
                      </a:r>
                      <a:endParaRPr lang="en-US" sz="8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607" marR="57607" marT="75895" marB="75895" anchor="ctr">
                    <a:lnL w="9525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E2E8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손실 확정 여부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607" marR="57607" marT="75895" marB="7589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8717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즉시 확정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607" marR="57607" marT="75895" marB="7589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4D39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확정 이연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607" marR="57607" marT="75895" marB="7589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CA3A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만기까지 이연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607" marR="57607" marT="75895" marB="75895" anchor="ctr">
                    <a:lnL w="9525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E2E8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유동성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607" marR="57607" marT="75895" marB="7589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최상 (현금화)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607" marR="57607" marT="75895" marB="7589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3C5F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중립 (담보활용)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607" marR="57607" marT="75895" marB="7589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최하 (동결)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607" marR="57607" marT="75895" marB="75895" anchor="ctr">
                    <a:lnL w="9525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E2E8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추가 리스크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607" marR="57607" marT="75895" marB="7589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4D39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없음 (제거)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607" marR="57607" marT="75895" marB="7589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3C5F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제한적 (통제)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607" marR="57607" marT="75895" marB="7589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8717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높음 (시장노출)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607" marR="57607" marT="75895" marB="75895" anchor="ctr">
                    <a:lnL w="9525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E2E8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회계적 영향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607" marR="57607" marT="75895" marB="7589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처분손실 인식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607" marR="57607" marT="75895" marB="7589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평가손익 관리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607" marR="57607" marT="75895" marB="7589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평가손익 지속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607" marR="57607" marT="75895" marB="75895" anchor="ctr">
                    <a:lnL w="9525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43546" y="4571064"/>
            <a:ext cx="190195" cy="19019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10551" y="4551862"/>
            <a:ext cx="2414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위원회 권고: 2안 (부분 헤지)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7343546" y="4856357"/>
            <a:ext cx="41532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현재의 과도한 평가손실(-14%) 즉시 확정은 부담이 크며, 향후 금리 인하 시 </a:t>
            </a: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회복 기회</a:t>
            </a: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놓칠 수 있음. </a:t>
            </a:r>
            <a:endParaRPr lang="en-US" sz="900" dirty="0"/>
          </a:p>
        </p:txBody>
      </p:sp>
      <p:sp>
        <p:nvSpPr>
          <p:cNvPr id="10" name="Shape 10"/>
          <p:cNvSpPr/>
          <p:nvPr/>
        </p:nvSpPr>
        <p:spPr>
          <a:xfrm>
            <a:off x="7336232" y="5342818"/>
            <a:ext cx="45719" cy="6675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 txBox="1"/>
          <p:nvPr/>
        </p:nvSpPr>
        <p:spPr>
          <a:xfrm>
            <a:off x="7457846" y="5418713"/>
            <a:ext cx="396301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 Plan:</a:t>
            </a: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우선 50% 수준 헤지 포지션 구축으로 하락 위험 차단, 시장 금리 모니터링하며 단계적 비율 조정 실행. 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10834726" y="323698"/>
            <a:ext cx="752551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609905" y="1028701"/>
            <a:ext cx="3562502" cy="3140442"/>
          </a:xfrm>
          <a:prstGeom prst="roundRect">
            <a:avLst>
              <a:gd name="adj" fmla="val 996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7707" y="1352398"/>
            <a:ext cx="133502" cy="13350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190549" y="1190549"/>
            <a:ext cx="1471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1안: 분할 청산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1190549" y="1419149"/>
            <a:ext cx="16212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Phase-out Strategy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847649" y="1837944"/>
            <a:ext cx="31629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6~12개월</a:t>
            </a: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걸쳐 매월 일정 금액을 시장가로 매도하여 포지션 완전 해소. 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771754" y="2343607"/>
            <a:ext cx="3353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Pros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923544" y="2581351"/>
            <a:ext cx="2459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 충격(Market Impact) 분산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923544" y="2802636"/>
            <a:ext cx="25228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금리 상승 리스크 완전 제거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771754" y="3128162"/>
            <a:ext cx="3353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Cons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923544" y="3365906"/>
            <a:ext cx="20912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평가손실(-14억) 즉시 확정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923544" y="3587191"/>
            <a:ext cx="154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원금 회복 기회 상실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4317797" y="1028700"/>
            <a:ext cx="3562502" cy="3134411"/>
          </a:xfrm>
          <a:prstGeom prst="roundRect">
            <a:avLst>
              <a:gd name="adj" fmla="val 996"/>
            </a:avLst>
          </a:prstGeom>
          <a:solidFill>
            <a:srgbClr val="10B981">
              <a:alpha val="5000"/>
            </a:srgbClr>
          </a:solidFill>
          <a:ln w="25400">
            <a:solidFill>
              <a:srgbClr val="10B981"/>
            </a:solidFill>
            <a:prstDash val="solid"/>
          </a:ln>
          <a:effectLst>
            <a:outerShdw blurRad="292100" dist="101600" dir="16200000" algn="bl" rotWithShape="0">
              <a:srgbClr val="10B981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6"/>
          <p:cNvSpPr/>
          <p:nvPr/>
        </p:nvSpPr>
        <p:spPr>
          <a:xfrm>
            <a:off x="6913778" y="1123798"/>
            <a:ext cx="1160374" cy="185623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381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74743" y="1362456"/>
            <a:ext cx="133502" cy="133502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4908499" y="1200607"/>
            <a:ext cx="17903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2안: 부분 헤지</a:t>
            </a:r>
            <a:endParaRPr lang="en-US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4908499" y="1429207"/>
            <a:ext cx="19723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Partial Hedging (50%)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4489704" y="1772107"/>
            <a:ext cx="3219602" cy="485546"/>
          </a:xfrm>
          <a:prstGeom prst="roundRect">
            <a:avLst>
              <a:gd name="adj" fmla="val 29541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0"/>
          <p:cNvSpPr txBox="1"/>
          <p:nvPr/>
        </p:nvSpPr>
        <p:spPr>
          <a:xfrm>
            <a:off x="4574743" y="1857146"/>
            <a:ext cx="31245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국채선물/IRS</a:t>
            </a: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활용하여 포지션의 </a:t>
            </a:r>
            <a:r>
              <a:rPr lang="en-US" sz="9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50%를 헤지</a:t>
            </a: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추가 손실 방어. </a:t>
            </a:r>
            <a:endParaRPr lang="en-US" sz="900" dirty="0"/>
          </a:p>
        </p:txBody>
      </p:sp>
      <p:sp>
        <p:nvSpPr>
          <p:cNvPr id="37" name="Text 31"/>
          <p:cNvSpPr txBox="1"/>
          <p:nvPr/>
        </p:nvSpPr>
        <p:spPr>
          <a:xfrm>
            <a:off x="4489704" y="2371954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Pros</a:t>
            </a:r>
            <a:endParaRPr lang="en-US" sz="1200" dirty="0"/>
          </a:p>
        </p:txBody>
      </p:sp>
      <p:sp>
        <p:nvSpPr>
          <p:cNvPr id="38" name="Text 32"/>
          <p:cNvSpPr txBox="1"/>
          <p:nvPr/>
        </p:nvSpPr>
        <p:spPr>
          <a:xfrm>
            <a:off x="4641494" y="2609698"/>
            <a:ext cx="1955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손실 위험 대폭 축소</a:t>
            </a:r>
            <a:endParaRPr lang="en-US" sz="1200" dirty="0"/>
          </a:p>
        </p:txBody>
      </p:sp>
      <p:sp>
        <p:nvSpPr>
          <p:cNvPr id="39" name="Text 33"/>
          <p:cNvSpPr txBox="1"/>
          <p:nvPr/>
        </p:nvSpPr>
        <p:spPr>
          <a:xfrm>
            <a:off x="4641494" y="2830982"/>
            <a:ext cx="27752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금리 하락 시 원금 회복 가능성 유지</a:t>
            </a:r>
            <a:endParaRPr lang="en-US" sz="1200" dirty="0"/>
          </a:p>
        </p:txBody>
      </p:sp>
      <p:sp>
        <p:nvSpPr>
          <p:cNvPr id="40" name="Text 34"/>
          <p:cNvSpPr txBox="1"/>
          <p:nvPr/>
        </p:nvSpPr>
        <p:spPr>
          <a:xfrm>
            <a:off x="4641494" y="3052267"/>
            <a:ext cx="22704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당장의 대규모 손실 인식 이연</a:t>
            </a:r>
            <a:endParaRPr lang="en-US" sz="1200" dirty="0"/>
          </a:p>
        </p:txBody>
      </p:sp>
      <p:sp>
        <p:nvSpPr>
          <p:cNvPr id="41" name="Text 35"/>
          <p:cNvSpPr txBox="1"/>
          <p:nvPr/>
        </p:nvSpPr>
        <p:spPr>
          <a:xfrm>
            <a:off x="4489704" y="3377794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Cons</a:t>
            </a:r>
            <a:endParaRPr lang="en-US" sz="1200" dirty="0"/>
          </a:p>
        </p:txBody>
      </p:sp>
      <p:sp>
        <p:nvSpPr>
          <p:cNvPr id="42" name="Text 36"/>
          <p:cNvSpPr txBox="1"/>
          <p:nvPr/>
        </p:nvSpPr>
        <p:spPr>
          <a:xfrm>
            <a:off x="4641494" y="3615538"/>
            <a:ext cx="2335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헤지 비용(Cost of Carry) 발생</a:t>
            </a:r>
            <a:endParaRPr lang="en-US" sz="1200" dirty="0"/>
          </a:p>
        </p:txBody>
      </p:sp>
      <p:sp>
        <p:nvSpPr>
          <p:cNvPr id="43" name="Text 37"/>
          <p:cNvSpPr txBox="1"/>
          <p:nvPr/>
        </p:nvSpPr>
        <p:spPr>
          <a:xfrm>
            <a:off x="4641494" y="3836822"/>
            <a:ext cx="1860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파생상품 운용 관리 필요</a:t>
            </a:r>
            <a:endParaRPr lang="en-US" sz="1200" dirty="0"/>
          </a:p>
        </p:txBody>
      </p:sp>
      <p:sp>
        <p:nvSpPr>
          <p:cNvPr id="44" name="Shape 38"/>
          <p:cNvSpPr/>
          <p:nvPr/>
        </p:nvSpPr>
        <p:spPr>
          <a:xfrm>
            <a:off x="8026603" y="1028700"/>
            <a:ext cx="3562502" cy="3134411"/>
          </a:xfrm>
          <a:prstGeom prst="roundRect">
            <a:avLst>
              <a:gd name="adj" fmla="val 996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5" name="Image 3" descr="preencoded.png"/>
          <p:cNvPicPr>
            <a:picLocks noChangeAspect="1"/>
          </p:cNvPicPr>
          <p:nvPr/>
        </p:nvPicPr>
        <p:blipFill>
          <a:blip r:embed="rId6"/>
          <a:srcRect l="-2512" r="-2512"/>
          <a:stretch/>
        </p:blipFill>
        <p:spPr>
          <a:xfrm>
            <a:off x="8288122" y="1352398"/>
            <a:ext cx="105156" cy="133502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8607247" y="1190549"/>
            <a:ext cx="12655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3안: 만기 보유</a:t>
            </a:r>
            <a:endParaRPr lang="en-US" sz="1200" dirty="0"/>
          </a:p>
        </p:txBody>
      </p:sp>
      <p:sp>
        <p:nvSpPr>
          <p:cNvPr id="47" name="Text 40"/>
          <p:cNvSpPr txBox="1"/>
          <p:nvPr/>
        </p:nvSpPr>
        <p:spPr>
          <a:xfrm>
            <a:off x="8607247" y="1419149"/>
            <a:ext cx="13944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Hold to Maturity</a:t>
            </a:r>
            <a:endParaRPr lang="en-US" sz="1200" dirty="0"/>
          </a:p>
        </p:txBody>
      </p:sp>
      <p:sp>
        <p:nvSpPr>
          <p:cNvPr id="48" name="Text 41"/>
          <p:cNvSpPr txBox="1"/>
          <p:nvPr/>
        </p:nvSpPr>
        <p:spPr>
          <a:xfrm>
            <a:off x="8264347" y="1837944"/>
            <a:ext cx="356524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매각 없이 </a:t>
            </a: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만기(27년 이상)</a:t>
            </a: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까지 보유하여 원금 및 이자 수취. </a:t>
            </a:r>
            <a:endParaRPr lang="en-US" sz="900" dirty="0"/>
          </a:p>
        </p:txBody>
      </p:sp>
      <p:sp>
        <p:nvSpPr>
          <p:cNvPr id="49" name="Text 42"/>
          <p:cNvSpPr txBox="1"/>
          <p:nvPr/>
        </p:nvSpPr>
        <p:spPr>
          <a:xfrm>
            <a:off x="8188452" y="2186330"/>
            <a:ext cx="3353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Pros</a:t>
            </a:r>
            <a:endParaRPr lang="en-US" sz="1200" dirty="0"/>
          </a:p>
        </p:txBody>
      </p:sp>
      <p:sp>
        <p:nvSpPr>
          <p:cNvPr id="50" name="Text 43"/>
          <p:cNvSpPr txBox="1"/>
          <p:nvPr/>
        </p:nvSpPr>
        <p:spPr>
          <a:xfrm>
            <a:off x="8340242" y="2424074"/>
            <a:ext cx="154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확정 손실 인식 지연</a:t>
            </a:r>
            <a:endParaRPr lang="en-US" sz="1200" dirty="0"/>
          </a:p>
        </p:txBody>
      </p:sp>
      <p:sp>
        <p:nvSpPr>
          <p:cNvPr id="51" name="Text 44"/>
          <p:cNvSpPr txBox="1"/>
          <p:nvPr/>
        </p:nvSpPr>
        <p:spPr>
          <a:xfrm>
            <a:off x="8340242" y="2645359"/>
            <a:ext cx="26499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고정 이자 수익(Coupon) 지속 발생</a:t>
            </a:r>
            <a:endParaRPr lang="en-US" sz="1200" dirty="0"/>
          </a:p>
        </p:txBody>
      </p:sp>
      <p:sp>
        <p:nvSpPr>
          <p:cNvPr id="52" name="Text 45"/>
          <p:cNvSpPr txBox="1"/>
          <p:nvPr/>
        </p:nvSpPr>
        <p:spPr>
          <a:xfrm>
            <a:off x="8188452" y="2970886"/>
            <a:ext cx="3353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Cons</a:t>
            </a:r>
            <a:endParaRPr lang="en-US" sz="1200" dirty="0"/>
          </a:p>
        </p:txBody>
      </p:sp>
      <p:sp>
        <p:nvSpPr>
          <p:cNvPr id="53" name="Text 46"/>
          <p:cNvSpPr txBox="1"/>
          <p:nvPr/>
        </p:nvSpPr>
        <p:spPr>
          <a:xfrm>
            <a:off x="8340242" y="3208630"/>
            <a:ext cx="24615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초장기 자금 묶임 (유동성 제로)</a:t>
            </a:r>
            <a:endParaRPr lang="en-US" sz="1200" dirty="0"/>
          </a:p>
        </p:txBody>
      </p:sp>
      <p:sp>
        <p:nvSpPr>
          <p:cNvPr id="54" name="Text 47"/>
          <p:cNvSpPr txBox="1"/>
          <p:nvPr/>
        </p:nvSpPr>
        <p:spPr>
          <a:xfrm>
            <a:off x="8340242" y="3429914"/>
            <a:ext cx="23326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지속적인 평가손익 변동성 노출</a:t>
            </a:r>
            <a:endParaRPr lang="en-US" sz="1200" dirty="0"/>
          </a:p>
        </p:txBody>
      </p:sp>
      <p:sp>
        <p:nvSpPr>
          <p:cNvPr id="55" name="Text 15">
            <a:extLst>
              <a:ext uri="{FF2B5EF4-FFF2-40B4-BE49-F238E27FC236}">
                <a16:creationId xmlns:a16="http://schemas.microsoft.com/office/drawing/2014/main" id="{7156CCA5-8BE4-FA91-B3CD-DA7874FA5C4D}"/>
              </a:ext>
            </a:extLst>
          </p:cNvPr>
          <p:cNvSpPr txBox="1"/>
          <p:nvPr/>
        </p:nvSpPr>
        <p:spPr>
          <a:xfrm>
            <a:off x="9417362" y="6610121"/>
            <a:ext cx="211759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Selvas Group Treasury Committee</a:t>
            </a:r>
            <a:endParaRPr lang="en-US" sz="900" dirty="0"/>
          </a:p>
        </p:txBody>
      </p:sp>
      <p:sp>
        <p:nvSpPr>
          <p:cNvPr id="56" name="Shape 45">
            <a:extLst>
              <a:ext uri="{FF2B5EF4-FFF2-40B4-BE49-F238E27FC236}">
                <a16:creationId xmlns:a16="http://schemas.microsoft.com/office/drawing/2014/main" id="{41FBAF70-CF61-8B29-37A8-F68434DBF5DF}"/>
              </a:ext>
            </a:extLst>
          </p:cNvPr>
          <p:cNvSpPr/>
          <p:nvPr/>
        </p:nvSpPr>
        <p:spPr>
          <a:xfrm>
            <a:off x="516786" y="6549561"/>
            <a:ext cx="10972800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25805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09905" y="457200"/>
            <a:ext cx="57031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56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지분매각(108만주) 실행전략 및 가드레일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09905" y="952805"/>
            <a:ext cx="457200" cy="38405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81405" y="875995"/>
            <a:ext cx="327538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5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Divestment Strategy &amp; Risk Control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221163" y="514807"/>
            <a:ext cx="124724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SELVAS Healthcare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14" b="-14"/>
          <a:stretch/>
        </p:blipFill>
        <p:spPr>
          <a:xfrm>
            <a:off x="609905" y="1218895"/>
            <a:ext cx="2704795" cy="280080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09244" y="1419149"/>
            <a:ext cx="239755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Deal Overview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9244" y="1762049"/>
            <a:ext cx="248991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매각 대상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09244" y="1914754"/>
            <a:ext cx="248991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메디아나 108만주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09244" y="2180844"/>
            <a:ext cx="24899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보유 지분 전량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9244" y="2562149"/>
            <a:ext cx="248991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가격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09244" y="2714854"/>
            <a:ext cx="92994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15,000원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99439" y="3019349"/>
            <a:ext cx="22997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하한선 절대 준수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9244" y="3400654"/>
            <a:ext cx="248991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규모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809244" y="3552444"/>
            <a:ext cx="239755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162억 원</a:t>
            </a:r>
            <a:endParaRPr lang="en-US" sz="13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 l="-11" r="-11"/>
          <a:stretch/>
        </p:blipFill>
        <p:spPr>
          <a:xfrm>
            <a:off x="609905" y="4209898"/>
            <a:ext cx="5391302" cy="167609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037844" y="4410151"/>
            <a:ext cx="4877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Trading Guardrails (시장 보호 조치) </a:t>
            </a:r>
            <a:endParaRPr lang="en-US" sz="12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9244" y="4448556"/>
            <a:ext cx="152705" cy="152705"/>
          </a:xfrm>
          <a:prstGeom prst="rect">
            <a:avLst/>
          </a:prstGeom>
        </p:spPr>
      </p:pic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 t="-5" b="-5"/>
          <a:stretch/>
        </p:blipFill>
        <p:spPr>
          <a:xfrm>
            <a:off x="809244" y="4753051"/>
            <a:ext cx="2419502" cy="933602"/>
          </a:xfrm>
          <a:prstGeom prst="rect">
            <a:avLst/>
          </a:prstGeom>
        </p:spPr>
      </p:pic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t="-180" b="-180"/>
          <a:stretch/>
        </p:blipFill>
        <p:spPr>
          <a:xfrm>
            <a:off x="933602" y="4895698"/>
            <a:ext cx="190195" cy="15270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33602" y="5086807"/>
            <a:ext cx="225856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일일 거래량(ADV)의 </a:t>
            </a: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10~20%</a:t>
            </a: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이내</a:t>
            </a:r>
            <a:endParaRPr lang="en-US" sz="1000" dirty="0"/>
          </a:p>
        </p:txBody>
      </p:sp>
      <p:sp>
        <p:nvSpPr>
          <p:cNvPr id="23" name="Text 16"/>
          <p:cNvSpPr txBox="1"/>
          <p:nvPr/>
        </p:nvSpPr>
        <p:spPr>
          <a:xfrm>
            <a:off x="933602" y="5315407"/>
            <a:ext cx="2345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 가격 왜곡 방지</a:t>
            </a:r>
            <a:endParaRPr lang="en-US" sz="12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rcRect t="-5" b="-5"/>
          <a:stretch/>
        </p:blipFill>
        <p:spPr>
          <a:xfrm>
            <a:off x="3381451" y="4753051"/>
            <a:ext cx="2419502" cy="933602"/>
          </a:xfrm>
          <a:prstGeom prst="rect">
            <a:avLst/>
          </a:prstGeom>
        </p:spPr>
      </p:pic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504895" y="4895698"/>
            <a:ext cx="152705" cy="152705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3504895" y="5086807"/>
            <a:ext cx="225856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15,000원</a:t>
            </a: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하회 시 즉시 중단</a:t>
            </a:r>
            <a:endParaRPr lang="en-US" sz="1000" dirty="0"/>
          </a:p>
        </p:txBody>
      </p:sp>
      <p:sp>
        <p:nvSpPr>
          <p:cNvPr id="27" name="Text 18"/>
          <p:cNvSpPr txBox="1"/>
          <p:nvPr/>
        </p:nvSpPr>
        <p:spPr>
          <a:xfrm>
            <a:off x="3504895" y="5315407"/>
            <a:ext cx="2258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Cooling-off 기간 부여</a:t>
            </a:r>
            <a:endParaRPr lang="en-US" sz="12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4"/>
          <a:srcRect l="-11" r="-11"/>
          <a:stretch/>
        </p:blipFill>
        <p:spPr>
          <a:xfrm>
            <a:off x="6191402" y="4209898"/>
            <a:ext cx="5391302" cy="1676095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6581851" y="4410151"/>
            <a:ext cx="49158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Compliance Checklist </a:t>
            </a:r>
            <a:endParaRPr lang="en-US" sz="120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10"/>
          <a:srcRect t="-100" b="-100"/>
          <a:stretch/>
        </p:blipFill>
        <p:spPr>
          <a:xfrm>
            <a:off x="6391656" y="4448556"/>
            <a:ext cx="114300" cy="152705"/>
          </a:xfrm>
          <a:prstGeom prst="rect">
            <a:avLst/>
          </a:prstGeom>
        </p:spPr>
      </p:pic>
      <p:sp>
        <p:nvSpPr>
          <p:cNvPr id="31" name="Shape 20"/>
          <p:cNvSpPr/>
          <p:nvPr/>
        </p:nvSpPr>
        <p:spPr>
          <a:xfrm>
            <a:off x="6391656" y="5134356"/>
            <a:ext cx="2381098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11"/>
          <a:srcRect l="-2571" r="-2571"/>
          <a:stretch/>
        </p:blipFill>
        <p:spPr>
          <a:xfrm>
            <a:off x="6391656" y="4848149"/>
            <a:ext cx="105156" cy="114300"/>
          </a:xfrm>
          <a:prstGeom prst="rect">
            <a:avLst/>
          </a:prstGeom>
        </p:spPr>
      </p:pic>
      <p:sp>
        <p:nvSpPr>
          <p:cNvPr id="33" name="Shape 21"/>
          <p:cNvSpPr/>
          <p:nvPr/>
        </p:nvSpPr>
        <p:spPr>
          <a:xfrm>
            <a:off x="9001354" y="5134356"/>
            <a:ext cx="2381098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10" descr="preencoded.png"/>
          <p:cNvPicPr>
            <a:picLocks noChangeAspect="1"/>
          </p:cNvPicPr>
          <p:nvPr/>
        </p:nvPicPr>
        <p:blipFill>
          <a:blip r:embed="rId11"/>
          <a:srcRect l="-2571" r="-2571"/>
          <a:stretch/>
        </p:blipFill>
        <p:spPr>
          <a:xfrm>
            <a:off x="9001354" y="4848149"/>
            <a:ext cx="105156" cy="114300"/>
          </a:xfrm>
          <a:prstGeom prst="rect">
            <a:avLst/>
          </a:prstGeom>
        </p:spPr>
      </p:pic>
      <p:sp>
        <p:nvSpPr>
          <p:cNvPr id="35" name="Shape 22"/>
          <p:cNvSpPr/>
          <p:nvPr/>
        </p:nvSpPr>
        <p:spPr>
          <a:xfrm>
            <a:off x="6391656" y="5447995"/>
            <a:ext cx="2381098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11" descr="preencoded.png"/>
          <p:cNvPicPr>
            <a:picLocks noChangeAspect="1"/>
          </p:cNvPicPr>
          <p:nvPr/>
        </p:nvPicPr>
        <p:blipFill>
          <a:blip r:embed="rId11"/>
          <a:srcRect l="-2571" r="-2571"/>
          <a:stretch/>
        </p:blipFill>
        <p:spPr>
          <a:xfrm>
            <a:off x="6391656" y="5238598"/>
            <a:ext cx="105156" cy="114300"/>
          </a:xfrm>
          <a:prstGeom prst="rect">
            <a:avLst/>
          </a:prstGeom>
        </p:spPr>
      </p:pic>
      <p:sp>
        <p:nvSpPr>
          <p:cNvPr id="37" name="Shape 23"/>
          <p:cNvSpPr/>
          <p:nvPr/>
        </p:nvSpPr>
        <p:spPr>
          <a:xfrm>
            <a:off x="9001354" y="5447995"/>
            <a:ext cx="2381098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11"/>
          <a:srcRect l="-2571" r="-2571"/>
          <a:stretch/>
        </p:blipFill>
        <p:spPr>
          <a:xfrm>
            <a:off x="9001354" y="5238598"/>
            <a:ext cx="105156" cy="114300"/>
          </a:xfrm>
          <a:prstGeom prst="rect">
            <a:avLst/>
          </a:prstGeom>
        </p:spPr>
      </p:pic>
      <p:pic>
        <p:nvPicPr>
          <p:cNvPr id="39" name="Image 13" descr="preencoded.png"/>
          <p:cNvPicPr>
            <a:picLocks noChangeAspect="1"/>
          </p:cNvPicPr>
          <p:nvPr/>
        </p:nvPicPr>
        <p:blipFill>
          <a:blip r:embed="rId12"/>
          <a:srcRect l="-10" r="-10"/>
          <a:stretch/>
        </p:blipFill>
        <p:spPr>
          <a:xfrm>
            <a:off x="609905" y="6077102"/>
            <a:ext cx="10972800" cy="780898"/>
          </a:xfrm>
          <a:prstGeom prst="rect">
            <a:avLst/>
          </a:prstGeom>
        </p:spPr>
      </p:pic>
      <p:sp>
        <p:nvSpPr>
          <p:cNvPr id="40" name="Text 24"/>
          <p:cNvSpPr txBox="1"/>
          <p:nvPr/>
        </p:nvSpPr>
        <p:spPr>
          <a:xfrm>
            <a:off x="809244" y="6277356"/>
            <a:ext cx="106875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Execution Timeline</a:t>
            </a:r>
            <a:endParaRPr lang="en-US" sz="1000" dirty="0"/>
          </a:p>
        </p:txBody>
      </p:sp>
      <p:sp>
        <p:nvSpPr>
          <p:cNvPr id="41" name="Shape 25"/>
          <p:cNvSpPr/>
          <p:nvPr/>
        </p:nvSpPr>
        <p:spPr>
          <a:xfrm>
            <a:off x="609905" y="7315200"/>
            <a:ext cx="10972800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26"/>
          <p:cNvSpPr txBox="1"/>
          <p:nvPr/>
        </p:nvSpPr>
        <p:spPr>
          <a:xfrm>
            <a:off x="495605" y="7401154"/>
            <a:ext cx="110871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Selvas Group Treasury Policy 2026</a:t>
            </a:r>
            <a:endParaRPr lang="en-US" sz="900" dirty="0"/>
          </a:p>
        </p:txBody>
      </p:sp>
      <p:sp>
        <p:nvSpPr>
          <p:cNvPr id="43" name="Shape 27"/>
          <p:cNvSpPr/>
          <p:nvPr/>
        </p:nvSpPr>
        <p:spPr>
          <a:xfrm>
            <a:off x="10297058" y="476402"/>
            <a:ext cx="1285646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28"/>
          <p:cNvSpPr txBox="1"/>
          <p:nvPr/>
        </p:nvSpPr>
        <p:spPr>
          <a:xfrm>
            <a:off x="1685239" y="2781605"/>
            <a:ext cx="61264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 (Min)</a:t>
            </a:r>
            <a:endParaRPr lang="en-US" sz="900" dirty="0"/>
          </a:p>
        </p:txBody>
      </p:sp>
      <p:pic>
        <p:nvPicPr>
          <p:cNvPr id="45" name="Image 14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09244" y="3066898"/>
            <a:ext cx="152705" cy="152705"/>
          </a:xfrm>
          <a:prstGeom prst="rect">
            <a:avLst/>
          </a:prstGeom>
        </p:spPr>
      </p:pic>
      <p:sp>
        <p:nvSpPr>
          <p:cNvPr id="46" name="Text 29"/>
          <p:cNvSpPr txBox="1"/>
          <p:nvPr/>
        </p:nvSpPr>
        <p:spPr>
          <a:xfrm>
            <a:off x="1200607" y="4886554"/>
            <a:ext cx="17007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참여율 제한 (Volume Limit)</a:t>
            </a:r>
            <a:endParaRPr lang="en-US" sz="900" dirty="0"/>
          </a:p>
        </p:txBody>
      </p:sp>
      <p:sp>
        <p:nvSpPr>
          <p:cNvPr id="47" name="Text 30"/>
          <p:cNvSpPr txBox="1"/>
          <p:nvPr/>
        </p:nvSpPr>
        <p:spPr>
          <a:xfrm>
            <a:off x="3733495" y="4886554"/>
            <a:ext cx="141732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 하한 (Price Floor)</a:t>
            </a:r>
            <a:endParaRPr lang="en-US" sz="900" dirty="0"/>
          </a:p>
        </p:txBody>
      </p:sp>
      <p:sp>
        <p:nvSpPr>
          <p:cNvPr id="48" name="Text 31"/>
          <p:cNvSpPr txBox="1"/>
          <p:nvPr/>
        </p:nvSpPr>
        <p:spPr>
          <a:xfrm>
            <a:off x="6572707" y="4819802"/>
            <a:ext cx="22101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지분 변동 공시 (5% 룰 등) 사전 준비</a:t>
            </a:r>
            <a:endParaRPr lang="en-US" sz="900" dirty="0"/>
          </a:p>
        </p:txBody>
      </p:sp>
      <p:sp>
        <p:nvSpPr>
          <p:cNvPr id="49" name="Text 32"/>
          <p:cNvSpPr txBox="1"/>
          <p:nvPr/>
        </p:nvSpPr>
        <p:spPr>
          <a:xfrm>
            <a:off x="9182405" y="4743907"/>
            <a:ext cx="222930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미공개 중요정보(Material Non-Public Info) 점검</a:t>
            </a:r>
            <a:endParaRPr lang="en-US" sz="900" dirty="0"/>
          </a:p>
        </p:txBody>
      </p:sp>
      <p:sp>
        <p:nvSpPr>
          <p:cNvPr id="50" name="Text 33"/>
          <p:cNvSpPr txBox="1"/>
          <p:nvPr/>
        </p:nvSpPr>
        <p:spPr>
          <a:xfrm>
            <a:off x="6572707" y="5210251"/>
            <a:ext cx="231251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매매 제한 기간 (Black-out Period) 확인</a:t>
            </a:r>
            <a:endParaRPr lang="en-US" sz="900" dirty="0"/>
          </a:p>
        </p:txBody>
      </p:sp>
      <p:sp>
        <p:nvSpPr>
          <p:cNvPr id="51" name="Text 34"/>
          <p:cNvSpPr txBox="1"/>
          <p:nvPr/>
        </p:nvSpPr>
        <p:spPr>
          <a:xfrm>
            <a:off x="9182405" y="5210251"/>
            <a:ext cx="163220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시장질서 교란행위 방지 교육</a:t>
            </a:r>
            <a:endParaRPr lang="en-US" sz="900" dirty="0"/>
          </a:p>
        </p:txBody>
      </p:sp>
      <p:pic>
        <p:nvPicPr>
          <p:cNvPr id="52" name="Image 15" descr="preencoded.png"/>
          <p:cNvPicPr>
            <a:picLocks noChangeAspect="1"/>
          </p:cNvPicPr>
          <p:nvPr/>
        </p:nvPicPr>
        <p:blipFill>
          <a:blip r:embed="rId14"/>
          <a:srcRect t="-43" b="-43"/>
          <a:stretch/>
        </p:blipFill>
        <p:spPr>
          <a:xfrm>
            <a:off x="9458554" y="5505602"/>
            <a:ext cx="133502" cy="152705"/>
          </a:xfrm>
          <a:prstGeom prst="rect">
            <a:avLst/>
          </a:prstGeom>
        </p:spPr>
      </p:pic>
      <p:sp>
        <p:nvSpPr>
          <p:cNvPr id="53" name="Text 35"/>
          <p:cNvSpPr txBox="1"/>
          <p:nvPr/>
        </p:nvSpPr>
        <p:spPr>
          <a:xfrm>
            <a:off x="9301277" y="5458054"/>
            <a:ext cx="20820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Legal Review Completed</a:t>
            </a:r>
            <a:endParaRPr lang="en-US" sz="1200" dirty="0"/>
          </a:p>
        </p:txBody>
      </p:sp>
      <p:pic>
        <p:nvPicPr>
          <p:cNvPr id="54" name="Image 16" descr="preencoded.png"/>
          <p:cNvPicPr>
            <a:picLocks noChangeAspect="1"/>
          </p:cNvPicPr>
          <p:nvPr/>
        </p:nvPicPr>
        <p:blipFill>
          <a:blip r:embed="rId15"/>
          <a:srcRect t="-4" b="-4"/>
          <a:stretch/>
        </p:blipFill>
        <p:spPr>
          <a:xfrm>
            <a:off x="3501238" y="1218895"/>
            <a:ext cx="2600554" cy="2800807"/>
          </a:xfrm>
          <a:prstGeom prst="rect">
            <a:avLst/>
          </a:prstGeom>
        </p:spPr>
      </p:pic>
      <p:sp>
        <p:nvSpPr>
          <p:cNvPr id="55" name="Text 36"/>
          <p:cNvSpPr txBox="1"/>
          <p:nvPr/>
        </p:nvSpPr>
        <p:spPr>
          <a:xfrm>
            <a:off x="3663086" y="1380744"/>
            <a:ext cx="14100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ABB (대량매매)</a:t>
            </a:r>
            <a:endParaRPr lang="en-US" sz="1200" dirty="0"/>
          </a:p>
        </p:txBody>
      </p:sp>
      <p:pic>
        <p:nvPicPr>
          <p:cNvPr id="56" name="Image 17" descr="preencoded.png"/>
          <p:cNvPicPr>
            <a:picLocks noChangeAspect="1"/>
          </p:cNvPicPr>
          <p:nvPr/>
        </p:nvPicPr>
        <p:blipFill>
          <a:blip r:embed="rId16"/>
          <a:srcRect t="-43" b="-43"/>
          <a:stretch/>
        </p:blipFill>
        <p:spPr>
          <a:xfrm>
            <a:off x="5798210" y="1380744"/>
            <a:ext cx="133502" cy="152705"/>
          </a:xfrm>
          <a:prstGeom prst="rect">
            <a:avLst/>
          </a:prstGeom>
        </p:spPr>
      </p:pic>
      <p:pic>
        <p:nvPicPr>
          <p:cNvPr id="57" name="Image 18" descr="preencoded.png"/>
          <p:cNvPicPr>
            <a:picLocks noChangeAspect="1"/>
          </p:cNvPicPr>
          <p:nvPr/>
        </p:nvPicPr>
        <p:blipFill>
          <a:blip r:embed="rId17"/>
          <a:srcRect l="-2571" r="-2571"/>
          <a:stretch/>
        </p:blipFill>
        <p:spPr>
          <a:xfrm>
            <a:off x="3663086" y="1742846"/>
            <a:ext cx="105156" cy="114300"/>
          </a:xfrm>
          <a:prstGeom prst="rect">
            <a:avLst/>
          </a:prstGeom>
        </p:spPr>
      </p:pic>
      <p:sp>
        <p:nvSpPr>
          <p:cNvPr id="58" name="Text 37"/>
          <p:cNvSpPr txBox="1"/>
          <p:nvPr/>
        </p:nvSpPr>
        <p:spPr>
          <a:xfrm>
            <a:off x="3844138" y="1714500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속도:</a:t>
            </a:r>
            <a:endParaRPr lang="en-US" sz="900" dirty="0"/>
          </a:p>
        </p:txBody>
      </p:sp>
      <p:sp>
        <p:nvSpPr>
          <p:cNvPr id="59" name="Text 38"/>
          <p:cNvSpPr txBox="1"/>
          <p:nvPr/>
        </p:nvSpPr>
        <p:spPr>
          <a:xfrm>
            <a:off x="4091940" y="1714500"/>
            <a:ext cx="12335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 종료 후 즉시 완료</a:t>
            </a:r>
            <a:endParaRPr lang="en-US" sz="900" dirty="0"/>
          </a:p>
        </p:txBody>
      </p:sp>
      <p:pic>
        <p:nvPicPr>
          <p:cNvPr id="60" name="Image 19" descr="preencoded.png"/>
          <p:cNvPicPr>
            <a:picLocks noChangeAspect="1"/>
          </p:cNvPicPr>
          <p:nvPr/>
        </p:nvPicPr>
        <p:blipFill>
          <a:blip r:embed="rId18"/>
          <a:srcRect l="-133" r="-133"/>
          <a:stretch/>
        </p:blipFill>
        <p:spPr>
          <a:xfrm>
            <a:off x="3663086" y="1971446"/>
            <a:ext cx="85954" cy="114300"/>
          </a:xfrm>
          <a:prstGeom prst="rect">
            <a:avLst/>
          </a:prstGeom>
        </p:spPr>
      </p:pic>
      <p:sp>
        <p:nvSpPr>
          <p:cNvPr id="61" name="Text 39"/>
          <p:cNvSpPr txBox="1"/>
          <p:nvPr/>
        </p:nvSpPr>
        <p:spPr>
          <a:xfrm>
            <a:off x="3824935" y="1943100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가격:</a:t>
            </a:r>
            <a:endParaRPr lang="en-US" sz="900" dirty="0"/>
          </a:p>
        </p:txBody>
      </p:sp>
      <p:sp>
        <p:nvSpPr>
          <p:cNvPr id="62" name="Text 40"/>
          <p:cNvSpPr txBox="1"/>
          <p:nvPr/>
        </p:nvSpPr>
        <p:spPr>
          <a:xfrm>
            <a:off x="4072738" y="1943100"/>
            <a:ext cx="155082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높은 할인율(5~10%) 요구됨</a:t>
            </a:r>
            <a:endParaRPr lang="en-US" sz="900" dirty="0"/>
          </a:p>
        </p:txBody>
      </p:sp>
      <p:pic>
        <p:nvPicPr>
          <p:cNvPr id="63" name="Image 20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3663086" y="2200046"/>
            <a:ext cx="114300" cy="114300"/>
          </a:xfrm>
          <a:prstGeom prst="rect">
            <a:avLst/>
          </a:prstGeom>
        </p:spPr>
      </p:pic>
      <p:sp>
        <p:nvSpPr>
          <p:cNvPr id="64" name="Text 41"/>
          <p:cNvSpPr txBox="1"/>
          <p:nvPr/>
        </p:nvSpPr>
        <p:spPr>
          <a:xfrm>
            <a:off x="3853282" y="2171700"/>
            <a:ext cx="13953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 예측 불확실성 존재</a:t>
            </a:r>
            <a:endParaRPr lang="en-US" sz="900" dirty="0"/>
          </a:p>
        </p:txBody>
      </p:sp>
      <p:sp>
        <p:nvSpPr>
          <p:cNvPr id="65" name="Shape 42"/>
          <p:cNvSpPr/>
          <p:nvPr/>
        </p:nvSpPr>
        <p:spPr>
          <a:xfrm>
            <a:off x="3663086" y="3504895"/>
            <a:ext cx="2276856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43"/>
          <p:cNvSpPr txBox="1"/>
          <p:nvPr/>
        </p:nvSpPr>
        <p:spPr>
          <a:xfrm>
            <a:off x="3663086" y="3629254"/>
            <a:ext cx="24588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적합성: 낮음 (할인율 부담)</a:t>
            </a:r>
            <a:endParaRPr lang="en-US" sz="1200" dirty="0"/>
          </a:p>
        </p:txBody>
      </p:sp>
      <p:pic>
        <p:nvPicPr>
          <p:cNvPr id="67" name="Image 21" descr="preencoded.png"/>
          <p:cNvPicPr>
            <a:picLocks noChangeAspect="1"/>
          </p:cNvPicPr>
          <p:nvPr/>
        </p:nvPicPr>
        <p:blipFill>
          <a:blip r:embed="rId20"/>
          <a:srcRect t="-4" b="-4"/>
          <a:stretch/>
        </p:blipFill>
        <p:spPr>
          <a:xfrm>
            <a:off x="6245352" y="1218895"/>
            <a:ext cx="2600554" cy="2800807"/>
          </a:xfrm>
          <a:prstGeom prst="rect">
            <a:avLst/>
          </a:prstGeom>
        </p:spPr>
      </p:pic>
      <p:sp>
        <p:nvSpPr>
          <p:cNvPr id="68" name="Shape 44"/>
          <p:cNvSpPr/>
          <p:nvPr/>
        </p:nvSpPr>
        <p:spPr>
          <a:xfrm>
            <a:off x="8073238" y="1123798"/>
            <a:ext cx="630936" cy="181051"/>
          </a:xfrm>
          <a:prstGeom prst="roundRect">
            <a:avLst>
              <a:gd name="adj" fmla="val 106327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45"/>
          <p:cNvSpPr txBox="1"/>
          <p:nvPr/>
        </p:nvSpPr>
        <p:spPr>
          <a:xfrm>
            <a:off x="6417259" y="1390802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블록딜 + VWAP</a:t>
            </a:r>
            <a:endParaRPr lang="en-US" sz="1200" dirty="0"/>
          </a:p>
        </p:txBody>
      </p:sp>
      <p:pic>
        <p:nvPicPr>
          <p:cNvPr id="70" name="Image 22" descr="preencoded.png"/>
          <p:cNvPicPr>
            <a:picLocks noChangeAspect="1"/>
          </p:cNvPicPr>
          <p:nvPr/>
        </p:nvPicPr>
        <p:blipFill>
          <a:blip r:embed="rId21"/>
          <a:srcRect t="-180" b="-180"/>
          <a:stretch/>
        </p:blipFill>
        <p:spPr>
          <a:xfrm>
            <a:off x="8475574" y="1390802"/>
            <a:ext cx="190195" cy="152705"/>
          </a:xfrm>
          <a:prstGeom prst="rect">
            <a:avLst/>
          </a:prstGeom>
        </p:spPr>
      </p:pic>
      <p:pic>
        <p:nvPicPr>
          <p:cNvPr id="71" name="Image 23" descr="preencoded.png"/>
          <p:cNvPicPr>
            <a:picLocks noChangeAspect="1"/>
          </p:cNvPicPr>
          <p:nvPr/>
        </p:nvPicPr>
        <p:blipFill>
          <a:blip r:embed="rId17"/>
          <a:srcRect l="-2571" r="-2571"/>
          <a:stretch/>
        </p:blipFill>
        <p:spPr>
          <a:xfrm>
            <a:off x="6417259" y="1752905"/>
            <a:ext cx="105156" cy="114300"/>
          </a:xfrm>
          <a:prstGeom prst="rect">
            <a:avLst/>
          </a:prstGeom>
        </p:spPr>
      </p:pic>
      <p:sp>
        <p:nvSpPr>
          <p:cNvPr id="72" name="Text 46"/>
          <p:cNvSpPr txBox="1"/>
          <p:nvPr/>
        </p:nvSpPr>
        <p:spPr>
          <a:xfrm>
            <a:off x="6598310" y="1723644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가격:</a:t>
            </a:r>
            <a:endParaRPr lang="en-US" sz="900" dirty="0"/>
          </a:p>
        </p:txBody>
      </p:sp>
      <p:sp>
        <p:nvSpPr>
          <p:cNvPr id="73" name="Text 47"/>
          <p:cNvSpPr txBox="1"/>
          <p:nvPr/>
        </p:nvSpPr>
        <p:spPr>
          <a:xfrm>
            <a:off x="6845198" y="1723644"/>
            <a:ext cx="17337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시장가(VWAP) 연동, 할인 축소</a:t>
            </a:r>
            <a:endParaRPr lang="en-US" sz="900" dirty="0"/>
          </a:p>
        </p:txBody>
      </p:sp>
      <p:pic>
        <p:nvPicPr>
          <p:cNvPr id="74" name="Image 24" descr="preencoded.png"/>
          <p:cNvPicPr>
            <a:picLocks noChangeAspect="1"/>
          </p:cNvPicPr>
          <p:nvPr/>
        </p:nvPicPr>
        <p:blipFill>
          <a:blip r:embed="rId17"/>
          <a:srcRect l="-2571" r="-2571"/>
          <a:stretch/>
        </p:blipFill>
        <p:spPr>
          <a:xfrm>
            <a:off x="6417259" y="1981505"/>
            <a:ext cx="105156" cy="114300"/>
          </a:xfrm>
          <a:prstGeom prst="rect">
            <a:avLst/>
          </a:prstGeom>
        </p:spPr>
      </p:pic>
      <p:sp>
        <p:nvSpPr>
          <p:cNvPr id="75" name="Text 48"/>
          <p:cNvSpPr txBox="1"/>
          <p:nvPr/>
        </p:nvSpPr>
        <p:spPr>
          <a:xfrm>
            <a:off x="6598310" y="1952244"/>
            <a:ext cx="44074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안정성:</a:t>
            </a:r>
            <a:endParaRPr lang="en-US" sz="900" dirty="0"/>
          </a:p>
        </p:txBody>
      </p:sp>
      <p:sp>
        <p:nvSpPr>
          <p:cNvPr id="76" name="Text 49"/>
          <p:cNvSpPr txBox="1"/>
          <p:nvPr/>
        </p:nvSpPr>
        <p:spPr>
          <a:xfrm>
            <a:off x="6951269" y="1952244"/>
            <a:ext cx="128016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기관 투자자 사전 확보</a:t>
            </a:r>
            <a:endParaRPr lang="en-US" sz="900" dirty="0"/>
          </a:p>
        </p:txBody>
      </p:sp>
      <p:pic>
        <p:nvPicPr>
          <p:cNvPr id="77" name="Image 25" descr="preencoded.png"/>
          <p:cNvPicPr>
            <a:picLocks noChangeAspect="1"/>
          </p:cNvPicPr>
          <p:nvPr/>
        </p:nvPicPr>
        <p:blipFill>
          <a:blip r:embed="rId17"/>
          <a:srcRect l="-2571" r="-2571"/>
          <a:stretch/>
        </p:blipFill>
        <p:spPr>
          <a:xfrm>
            <a:off x="6417259" y="2210105"/>
            <a:ext cx="105156" cy="114300"/>
          </a:xfrm>
          <a:prstGeom prst="rect">
            <a:avLst/>
          </a:prstGeom>
        </p:spPr>
      </p:pic>
      <p:sp>
        <p:nvSpPr>
          <p:cNvPr id="78" name="Text 50"/>
          <p:cNvSpPr txBox="1"/>
          <p:nvPr/>
        </p:nvSpPr>
        <p:spPr>
          <a:xfrm>
            <a:off x="6598310" y="2180844"/>
            <a:ext cx="127741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오버행 이슈 일부 해소</a:t>
            </a:r>
            <a:endParaRPr lang="en-US" sz="900" dirty="0"/>
          </a:p>
        </p:txBody>
      </p:sp>
      <p:sp>
        <p:nvSpPr>
          <p:cNvPr id="79" name="Shape 51"/>
          <p:cNvSpPr/>
          <p:nvPr/>
        </p:nvSpPr>
        <p:spPr>
          <a:xfrm>
            <a:off x="6417259" y="3495751"/>
            <a:ext cx="2257654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Text 52"/>
          <p:cNvSpPr txBox="1"/>
          <p:nvPr/>
        </p:nvSpPr>
        <p:spPr>
          <a:xfrm>
            <a:off x="6417259" y="3619195"/>
            <a:ext cx="250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적합성: 높음 (가격/속도 균형)</a:t>
            </a:r>
            <a:endParaRPr lang="en-US" sz="1200" dirty="0"/>
          </a:p>
        </p:txBody>
      </p:sp>
      <p:pic>
        <p:nvPicPr>
          <p:cNvPr id="81" name="Image 26" descr="preencoded.png"/>
          <p:cNvPicPr>
            <a:picLocks noChangeAspect="1"/>
          </p:cNvPicPr>
          <p:nvPr/>
        </p:nvPicPr>
        <p:blipFill>
          <a:blip r:embed="rId15"/>
          <a:srcRect t="-4" b="-4"/>
          <a:stretch/>
        </p:blipFill>
        <p:spPr>
          <a:xfrm>
            <a:off x="8990381" y="1218895"/>
            <a:ext cx="2600554" cy="2800807"/>
          </a:xfrm>
          <a:prstGeom prst="rect">
            <a:avLst/>
          </a:prstGeom>
        </p:spPr>
      </p:pic>
      <p:sp>
        <p:nvSpPr>
          <p:cNvPr id="82" name="Text 53"/>
          <p:cNvSpPr txBox="1"/>
          <p:nvPr/>
        </p:nvSpPr>
        <p:spPr>
          <a:xfrm>
            <a:off x="9152230" y="1380744"/>
            <a:ext cx="15096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TWAP (장내매도)</a:t>
            </a:r>
            <a:endParaRPr lang="en-US" sz="1200" dirty="0"/>
          </a:p>
        </p:txBody>
      </p:sp>
      <p:pic>
        <p:nvPicPr>
          <p:cNvPr id="83" name="Image 27" descr="preencoded.png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11268151" y="1380744"/>
            <a:ext cx="152705" cy="152705"/>
          </a:xfrm>
          <a:prstGeom prst="rect">
            <a:avLst/>
          </a:prstGeom>
        </p:spPr>
      </p:pic>
      <p:pic>
        <p:nvPicPr>
          <p:cNvPr id="84" name="Image 28" descr="preencoded.png"/>
          <p:cNvPicPr>
            <a:picLocks noChangeAspect="1"/>
          </p:cNvPicPr>
          <p:nvPr/>
        </p:nvPicPr>
        <p:blipFill>
          <a:blip r:embed="rId17"/>
          <a:srcRect l="-2571" r="-2571"/>
          <a:stretch/>
        </p:blipFill>
        <p:spPr>
          <a:xfrm>
            <a:off x="9152230" y="1742846"/>
            <a:ext cx="105156" cy="114300"/>
          </a:xfrm>
          <a:prstGeom prst="rect">
            <a:avLst/>
          </a:prstGeom>
        </p:spPr>
      </p:pic>
      <p:sp>
        <p:nvSpPr>
          <p:cNvPr id="85" name="Text 54"/>
          <p:cNvSpPr txBox="1"/>
          <p:nvPr/>
        </p:nvSpPr>
        <p:spPr>
          <a:xfrm>
            <a:off x="9333281" y="1714500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충격:</a:t>
            </a:r>
            <a:endParaRPr lang="en-US" sz="900" dirty="0"/>
          </a:p>
        </p:txBody>
      </p:sp>
      <p:sp>
        <p:nvSpPr>
          <p:cNvPr id="86" name="Text 55"/>
          <p:cNvSpPr txBox="1"/>
          <p:nvPr/>
        </p:nvSpPr>
        <p:spPr>
          <a:xfrm>
            <a:off x="9581083" y="1714500"/>
            <a:ext cx="173095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 충격 최소화 (시간 분산)</a:t>
            </a:r>
            <a:endParaRPr lang="en-US" sz="900" dirty="0"/>
          </a:p>
        </p:txBody>
      </p:sp>
      <p:pic>
        <p:nvPicPr>
          <p:cNvPr id="87" name="Image 29" descr="preencoded.png"/>
          <p:cNvPicPr>
            <a:picLocks noChangeAspect="1"/>
          </p:cNvPicPr>
          <p:nvPr/>
        </p:nvPicPr>
        <p:blipFill>
          <a:blip r:embed="rId18"/>
          <a:srcRect l="-133" r="-133"/>
          <a:stretch/>
        </p:blipFill>
        <p:spPr>
          <a:xfrm>
            <a:off x="9152230" y="1971446"/>
            <a:ext cx="85954" cy="114300"/>
          </a:xfrm>
          <a:prstGeom prst="rect">
            <a:avLst/>
          </a:prstGeom>
        </p:spPr>
      </p:pic>
      <p:sp>
        <p:nvSpPr>
          <p:cNvPr id="88" name="Text 56"/>
          <p:cNvSpPr txBox="1"/>
          <p:nvPr/>
        </p:nvSpPr>
        <p:spPr>
          <a:xfrm>
            <a:off x="9314078" y="1943100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기간:</a:t>
            </a:r>
            <a:endParaRPr lang="en-US" sz="900" dirty="0"/>
          </a:p>
        </p:txBody>
      </p:sp>
      <p:sp>
        <p:nvSpPr>
          <p:cNvPr id="89" name="Text 57"/>
          <p:cNvSpPr txBox="1"/>
          <p:nvPr/>
        </p:nvSpPr>
        <p:spPr>
          <a:xfrm>
            <a:off x="9561881" y="1943100"/>
            <a:ext cx="126644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장기간(1~2개월) 소요</a:t>
            </a:r>
            <a:endParaRPr lang="en-US" sz="900" dirty="0"/>
          </a:p>
        </p:txBody>
      </p:sp>
      <p:pic>
        <p:nvPicPr>
          <p:cNvPr id="90" name="Image 30" descr="preencoded.png"/>
          <p:cNvPicPr>
            <a:picLocks noChangeAspect="1"/>
          </p:cNvPicPr>
          <p:nvPr/>
        </p:nvPicPr>
        <p:blipFill>
          <a:blip r:embed="rId18"/>
          <a:srcRect l="-133" r="-133"/>
          <a:stretch/>
        </p:blipFill>
        <p:spPr>
          <a:xfrm>
            <a:off x="9152230" y="2200046"/>
            <a:ext cx="85954" cy="114300"/>
          </a:xfrm>
          <a:prstGeom prst="rect">
            <a:avLst/>
          </a:prstGeom>
        </p:spPr>
      </p:pic>
      <p:sp>
        <p:nvSpPr>
          <p:cNvPr id="91" name="Text 58"/>
          <p:cNvSpPr txBox="1"/>
          <p:nvPr/>
        </p:nvSpPr>
        <p:spPr>
          <a:xfrm>
            <a:off x="9314078" y="2171700"/>
            <a:ext cx="165597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 유출 시 주가 하락 위험</a:t>
            </a:r>
            <a:endParaRPr lang="en-US" sz="900" dirty="0"/>
          </a:p>
        </p:txBody>
      </p:sp>
      <p:sp>
        <p:nvSpPr>
          <p:cNvPr id="92" name="Shape 59"/>
          <p:cNvSpPr/>
          <p:nvPr/>
        </p:nvSpPr>
        <p:spPr>
          <a:xfrm>
            <a:off x="9152230" y="3504895"/>
            <a:ext cx="2276856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Text 60"/>
          <p:cNvSpPr txBox="1"/>
          <p:nvPr/>
        </p:nvSpPr>
        <p:spPr>
          <a:xfrm>
            <a:off x="9152230" y="3629254"/>
            <a:ext cx="24588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적합성: 중간 (보완적 수단)</a:t>
            </a:r>
            <a:endParaRPr lang="en-US" sz="1200" dirty="0"/>
          </a:p>
        </p:txBody>
      </p:sp>
      <p:sp>
        <p:nvSpPr>
          <p:cNvPr id="94" name="Shape 61"/>
          <p:cNvSpPr/>
          <p:nvPr/>
        </p:nvSpPr>
        <p:spPr>
          <a:xfrm>
            <a:off x="1190549" y="6734556"/>
            <a:ext cx="9810598" cy="38405"/>
          </a:xfrm>
          <a:prstGeom prst="roundRect">
            <a:avLst>
              <a:gd name="adj" fmla="val 1190470"/>
            </a:avLst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5" name="Text 62"/>
          <p:cNvSpPr txBox="1"/>
          <p:nvPr/>
        </p:nvSpPr>
        <p:spPr>
          <a:xfrm>
            <a:off x="1582826" y="6655918"/>
            <a:ext cx="5532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Week 1-2</a:t>
            </a:r>
            <a:endParaRPr lang="en-US" sz="800" dirty="0"/>
          </a:p>
        </p:txBody>
      </p:sp>
      <p:sp>
        <p:nvSpPr>
          <p:cNvPr id="96" name="Text 63"/>
          <p:cNvSpPr txBox="1"/>
          <p:nvPr/>
        </p:nvSpPr>
        <p:spPr>
          <a:xfrm>
            <a:off x="1374343" y="6831482"/>
            <a:ext cx="96560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준비 및 주관사 선정</a:t>
            </a:r>
            <a:endParaRPr lang="en-US" sz="800" dirty="0"/>
          </a:p>
        </p:txBody>
      </p:sp>
      <p:sp>
        <p:nvSpPr>
          <p:cNvPr id="97" name="Text 64"/>
          <p:cNvSpPr txBox="1"/>
          <p:nvPr/>
        </p:nvSpPr>
        <p:spPr>
          <a:xfrm>
            <a:off x="1593799" y="6945782"/>
            <a:ext cx="5340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(Mandate)</a:t>
            </a:r>
            <a:endParaRPr lang="en-US" sz="800" dirty="0"/>
          </a:p>
        </p:txBody>
      </p:sp>
      <p:pic>
        <p:nvPicPr>
          <p:cNvPr id="98" name="Image 31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1800454" y="6427318"/>
            <a:ext cx="114300" cy="114300"/>
          </a:xfrm>
          <a:prstGeom prst="rect">
            <a:avLst/>
          </a:prstGeom>
        </p:spPr>
      </p:pic>
      <p:sp>
        <p:nvSpPr>
          <p:cNvPr id="99" name="Text 65"/>
          <p:cNvSpPr txBox="1"/>
          <p:nvPr/>
        </p:nvSpPr>
        <p:spPr>
          <a:xfrm>
            <a:off x="4871009" y="6655918"/>
            <a:ext cx="4572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Week 3</a:t>
            </a:r>
            <a:endParaRPr lang="en-US" sz="800" dirty="0"/>
          </a:p>
        </p:txBody>
      </p:sp>
      <p:sp>
        <p:nvSpPr>
          <p:cNvPr id="100" name="Text 66"/>
          <p:cNvSpPr txBox="1"/>
          <p:nvPr/>
        </p:nvSpPr>
        <p:spPr>
          <a:xfrm>
            <a:off x="4769510" y="6831482"/>
            <a:ext cx="65013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투자자 마케팅</a:t>
            </a:r>
            <a:endParaRPr lang="en-US" sz="800" dirty="0"/>
          </a:p>
        </p:txBody>
      </p:sp>
      <p:sp>
        <p:nvSpPr>
          <p:cNvPr id="101" name="Text 67"/>
          <p:cNvSpPr txBox="1"/>
          <p:nvPr/>
        </p:nvSpPr>
        <p:spPr>
          <a:xfrm>
            <a:off x="4704588" y="6945782"/>
            <a:ext cx="78272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(Wall-crossing)</a:t>
            </a:r>
            <a:endParaRPr lang="en-US" sz="800" dirty="0"/>
          </a:p>
        </p:txBody>
      </p:sp>
      <p:pic>
        <p:nvPicPr>
          <p:cNvPr id="102" name="Image 32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5037430" y="6427318"/>
            <a:ext cx="114300" cy="114300"/>
          </a:xfrm>
          <a:prstGeom prst="rect">
            <a:avLst/>
          </a:prstGeom>
        </p:spPr>
      </p:pic>
      <p:sp>
        <p:nvSpPr>
          <p:cNvPr id="103" name="Text 68"/>
          <p:cNvSpPr txBox="1"/>
          <p:nvPr/>
        </p:nvSpPr>
        <p:spPr>
          <a:xfrm>
            <a:off x="8057693" y="6655918"/>
            <a:ext cx="5532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Week 4-8</a:t>
            </a:r>
            <a:endParaRPr lang="en-US" sz="800" dirty="0"/>
          </a:p>
        </p:txBody>
      </p:sp>
      <p:sp>
        <p:nvSpPr>
          <p:cNvPr id="104" name="Text 69"/>
          <p:cNvSpPr txBox="1"/>
          <p:nvPr/>
        </p:nvSpPr>
        <p:spPr>
          <a:xfrm>
            <a:off x="8105242" y="6831482"/>
            <a:ext cx="4572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매각 실행</a:t>
            </a:r>
            <a:endParaRPr lang="en-US" sz="800" dirty="0"/>
          </a:p>
        </p:txBody>
      </p:sp>
      <p:sp>
        <p:nvSpPr>
          <p:cNvPr id="105" name="Text 70"/>
          <p:cNvSpPr txBox="1"/>
          <p:nvPr/>
        </p:nvSpPr>
        <p:spPr>
          <a:xfrm>
            <a:off x="7846466" y="6945782"/>
            <a:ext cx="97566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(Execution Period)</a:t>
            </a:r>
            <a:endParaRPr lang="en-US" sz="800" dirty="0"/>
          </a:p>
        </p:txBody>
      </p:sp>
      <p:pic>
        <p:nvPicPr>
          <p:cNvPr id="106" name="Image 33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8275320" y="6427318"/>
            <a:ext cx="114300" cy="114300"/>
          </a:xfrm>
          <a:prstGeom prst="rect">
            <a:avLst/>
          </a:prstGeom>
        </p:spPr>
      </p:pic>
      <p:sp>
        <p:nvSpPr>
          <p:cNvPr id="107" name="Text 71"/>
          <p:cNvSpPr txBox="1"/>
          <p:nvPr/>
        </p:nvSpPr>
        <p:spPr>
          <a:xfrm>
            <a:off x="11443716" y="6655918"/>
            <a:ext cx="4572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Week 9</a:t>
            </a:r>
            <a:endParaRPr lang="en-US" sz="800" dirty="0"/>
          </a:p>
        </p:txBody>
      </p:sp>
      <p:sp>
        <p:nvSpPr>
          <p:cNvPr id="108" name="Text 72"/>
          <p:cNvSpPr txBox="1"/>
          <p:nvPr/>
        </p:nvSpPr>
        <p:spPr>
          <a:xfrm>
            <a:off x="11364163" y="6831482"/>
            <a:ext cx="61173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 및 정산</a:t>
            </a:r>
            <a:endParaRPr lang="en-US" sz="800" dirty="0"/>
          </a:p>
        </p:txBody>
      </p:sp>
      <p:sp>
        <p:nvSpPr>
          <p:cNvPr id="109" name="Text 73"/>
          <p:cNvSpPr txBox="1"/>
          <p:nvPr/>
        </p:nvSpPr>
        <p:spPr>
          <a:xfrm>
            <a:off x="11433658" y="6945782"/>
            <a:ext cx="4764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(Closing)</a:t>
            </a:r>
            <a:endParaRPr lang="en-US" sz="800" dirty="0"/>
          </a:p>
        </p:txBody>
      </p:sp>
      <p:pic>
        <p:nvPicPr>
          <p:cNvPr id="110" name="Image 34" descr="preencoded.png"/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11611051" y="6427318"/>
            <a:ext cx="114300" cy="114300"/>
          </a:xfrm>
          <a:prstGeom prst="rect">
            <a:avLst/>
          </a:prstGeom>
        </p:spPr>
      </p:pic>
      <p:sp>
        <p:nvSpPr>
          <p:cNvPr id="111" name="Shape 74"/>
          <p:cNvSpPr/>
          <p:nvPr/>
        </p:nvSpPr>
        <p:spPr>
          <a:xfrm>
            <a:off x="1190549" y="6734556"/>
            <a:ext cx="6867144" cy="38405"/>
          </a:xfrm>
          <a:prstGeom prst="roundRect">
            <a:avLst>
              <a:gd name="adj" fmla="val 2380940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54603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09905" y="457200"/>
            <a:ext cx="46387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56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Decision Table 및 후속조치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09905" y="952805"/>
            <a:ext cx="457200" cy="38405"/>
          </a:xfrm>
          <a:prstGeom prst="rect">
            <a:avLst/>
          </a:prstGeom>
          <a:solidFill>
            <a:srgbClr val="6366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81405" y="875995"/>
            <a:ext cx="3368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5" dirty="0">
                <a:solidFill>
                  <a:srgbClr val="818C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Summary of Resolutions &amp; Next Steps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711842" y="514807"/>
            <a:ext cx="17629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Group Treasury Committee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5" b="-5"/>
          <a:stretch/>
        </p:blipFill>
        <p:spPr>
          <a:xfrm>
            <a:off x="609905" y="1295705"/>
            <a:ext cx="10972800" cy="474390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9049" y="1876349"/>
            <a:ext cx="10953598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1095451" y="1457554"/>
            <a:ext cx="25722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의결 안건 종합 (Resolutions) </a:t>
            </a:r>
            <a:endParaRPr lang="en-US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7649" y="1505102"/>
            <a:ext cx="171907" cy="171907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31" b="-31"/>
          <a:stretch/>
        </p:blipFill>
        <p:spPr>
          <a:xfrm>
            <a:off x="619049" y="1886407"/>
            <a:ext cx="2743200" cy="495605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-31" b="-31"/>
          <a:stretch/>
        </p:blipFill>
        <p:spPr>
          <a:xfrm>
            <a:off x="3357677" y="1886407"/>
            <a:ext cx="2743200" cy="495605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 t="-31" b="-31"/>
          <a:stretch/>
        </p:blipFill>
        <p:spPr>
          <a:xfrm>
            <a:off x="6096305" y="1886407"/>
            <a:ext cx="2743200" cy="49560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7"/>
          <a:srcRect t="-33" b="-33"/>
          <a:stretch/>
        </p:blipFill>
        <p:spPr>
          <a:xfrm>
            <a:off x="8834018" y="1886407"/>
            <a:ext cx="1647749" cy="495605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8"/>
          <a:srcRect t="-27" b="-27"/>
          <a:stretch/>
        </p:blipFill>
        <p:spPr>
          <a:xfrm>
            <a:off x="10477195" y="1886407"/>
            <a:ext cx="1095451" cy="495605"/>
          </a:xfrm>
          <a:prstGeom prst="rect">
            <a:avLst/>
          </a:prstGeom>
        </p:spPr>
      </p:pic>
      <p:sp>
        <p:nvSpPr>
          <p:cNvPr id="16" name="Shape 7"/>
          <p:cNvSpPr/>
          <p:nvPr/>
        </p:nvSpPr>
        <p:spPr>
          <a:xfrm>
            <a:off x="619049" y="3286354"/>
            <a:ext cx="27432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8"/>
          <p:cNvSpPr/>
          <p:nvPr/>
        </p:nvSpPr>
        <p:spPr>
          <a:xfrm>
            <a:off x="771754" y="2681021"/>
            <a:ext cx="38405" cy="304495"/>
          </a:xfrm>
          <a:prstGeom prst="roundRect">
            <a:avLst>
              <a:gd name="adj" fmla="val 2380940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9"/>
          <p:cNvSpPr txBox="1"/>
          <p:nvPr/>
        </p:nvSpPr>
        <p:spPr>
          <a:xfrm>
            <a:off x="923544" y="2638044"/>
            <a:ext cx="126461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셀바스AI 자금지원</a:t>
            </a:r>
            <a:endParaRPr lang="en-US" sz="1000" dirty="0"/>
          </a:p>
        </p:txBody>
      </p:sp>
      <p:sp>
        <p:nvSpPr>
          <p:cNvPr id="19" name="Text 10"/>
          <p:cNvSpPr txBox="1"/>
          <p:nvPr/>
        </p:nvSpPr>
        <p:spPr>
          <a:xfrm>
            <a:off x="923544" y="2876702"/>
            <a:ext cx="13249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차입금 리파이낸싱 구조</a:t>
            </a:r>
            <a:endParaRPr lang="en-US" sz="900" dirty="0"/>
          </a:p>
        </p:txBody>
      </p:sp>
      <p:sp>
        <p:nvSpPr>
          <p:cNvPr id="20" name="Shape 11"/>
          <p:cNvSpPr/>
          <p:nvPr/>
        </p:nvSpPr>
        <p:spPr>
          <a:xfrm>
            <a:off x="3357677" y="3286354"/>
            <a:ext cx="27432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2"/>
          <p:cNvSpPr txBox="1"/>
          <p:nvPr/>
        </p:nvSpPr>
        <p:spPr>
          <a:xfrm>
            <a:off x="3510382" y="2533802"/>
            <a:ext cx="26289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A안: 담보대출</a:t>
            </a:r>
            <a:endParaRPr lang="en-US" sz="1000" dirty="0"/>
          </a:p>
        </p:txBody>
      </p:sp>
      <p:sp>
        <p:nvSpPr>
          <p:cNvPr id="22" name="Text 13"/>
          <p:cNvSpPr txBox="1"/>
          <p:nvPr/>
        </p:nvSpPr>
        <p:spPr>
          <a:xfrm>
            <a:off x="3510382" y="2734056"/>
            <a:ext cx="26289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B안: 직접대환</a:t>
            </a:r>
            <a:endParaRPr lang="en-US" sz="1000" dirty="0"/>
          </a:p>
        </p:txBody>
      </p:sp>
      <p:sp>
        <p:nvSpPr>
          <p:cNvPr id="23" name="Text 14"/>
          <p:cNvSpPr txBox="1"/>
          <p:nvPr/>
        </p:nvSpPr>
        <p:spPr>
          <a:xfrm>
            <a:off x="3510382" y="2933395"/>
            <a:ext cx="26289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C안: 단계적 혼합</a:t>
            </a:r>
            <a:endParaRPr lang="en-US" sz="1000" dirty="0"/>
          </a:p>
        </p:txBody>
      </p:sp>
      <p:sp>
        <p:nvSpPr>
          <p:cNvPr id="24" name="Shape 15"/>
          <p:cNvSpPr/>
          <p:nvPr/>
        </p:nvSpPr>
        <p:spPr>
          <a:xfrm>
            <a:off x="6096305" y="3286354"/>
            <a:ext cx="27432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9"/>
          <a:srcRect t="-1359" b="-1359"/>
          <a:stretch/>
        </p:blipFill>
        <p:spPr>
          <a:xfrm>
            <a:off x="6372454" y="2657246"/>
            <a:ext cx="105156" cy="123444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6534302" y="2559406"/>
            <a:ext cx="52395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ADE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C안 승인</a:t>
            </a:r>
            <a:endParaRPr lang="en-US" sz="900" dirty="0"/>
          </a:p>
        </p:txBody>
      </p:sp>
      <p:sp>
        <p:nvSpPr>
          <p:cNvPr id="27" name="Text 17"/>
          <p:cNvSpPr txBox="1"/>
          <p:nvPr/>
        </p:nvSpPr>
        <p:spPr>
          <a:xfrm>
            <a:off x="6248095" y="2955341"/>
            <a:ext cx="26289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만기 임박분 우선 지원 후 단계적 실행</a:t>
            </a:r>
            <a:endParaRPr lang="en-US" sz="900" dirty="0"/>
          </a:p>
        </p:txBody>
      </p:sp>
      <p:sp>
        <p:nvSpPr>
          <p:cNvPr id="28" name="Shape 18"/>
          <p:cNvSpPr/>
          <p:nvPr/>
        </p:nvSpPr>
        <p:spPr>
          <a:xfrm>
            <a:off x="8834018" y="3286354"/>
            <a:ext cx="1647749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19"/>
          <p:cNvSpPr txBox="1"/>
          <p:nvPr/>
        </p:nvSpPr>
        <p:spPr>
          <a:xfrm>
            <a:off x="8948318" y="2657246"/>
            <a:ext cx="14200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그룹 CFO</a:t>
            </a:r>
            <a:endParaRPr lang="en-US" sz="1000" dirty="0"/>
          </a:p>
        </p:txBody>
      </p:sp>
      <p:sp>
        <p:nvSpPr>
          <p:cNvPr id="30" name="Text 20"/>
          <p:cNvSpPr txBox="1"/>
          <p:nvPr/>
        </p:nvSpPr>
        <p:spPr>
          <a:xfrm>
            <a:off x="8932774" y="2857500"/>
            <a:ext cx="145115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재무팀</a:t>
            </a:r>
            <a:endParaRPr lang="en-US" sz="900" dirty="0"/>
          </a:p>
        </p:txBody>
      </p:sp>
      <p:sp>
        <p:nvSpPr>
          <p:cNvPr id="31" name="Shape 21"/>
          <p:cNvSpPr/>
          <p:nvPr/>
        </p:nvSpPr>
        <p:spPr>
          <a:xfrm>
            <a:off x="10477195" y="3286354"/>
            <a:ext cx="1095451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2"/>
          <p:cNvSpPr txBox="1"/>
          <p:nvPr/>
        </p:nvSpPr>
        <p:spPr>
          <a:xfrm>
            <a:off x="10591495" y="2738628"/>
            <a:ext cx="8668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2026-02</a:t>
            </a:r>
            <a:endParaRPr lang="en-US" sz="1000" dirty="0"/>
          </a:p>
        </p:txBody>
      </p:sp>
      <p:sp>
        <p:nvSpPr>
          <p:cNvPr id="33" name="Shape 23"/>
          <p:cNvSpPr/>
          <p:nvPr/>
        </p:nvSpPr>
        <p:spPr>
          <a:xfrm>
            <a:off x="619049" y="4200754"/>
            <a:ext cx="27432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4"/>
          <p:cNvSpPr/>
          <p:nvPr/>
        </p:nvSpPr>
        <p:spPr>
          <a:xfrm>
            <a:off x="771754" y="3595421"/>
            <a:ext cx="38405" cy="304495"/>
          </a:xfrm>
          <a:prstGeom prst="roundRect">
            <a:avLst>
              <a:gd name="adj" fmla="val 2380940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5"/>
          <p:cNvSpPr txBox="1"/>
          <p:nvPr/>
        </p:nvSpPr>
        <p:spPr>
          <a:xfrm>
            <a:off x="923544" y="3552444"/>
            <a:ext cx="120243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메디아나 FX 정책</a:t>
            </a:r>
            <a:endParaRPr lang="en-US" sz="1000" dirty="0"/>
          </a:p>
        </p:txBody>
      </p:sp>
      <p:sp>
        <p:nvSpPr>
          <p:cNvPr id="36" name="Text 26"/>
          <p:cNvSpPr txBox="1"/>
          <p:nvPr/>
        </p:nvSpPr>
        <p:spPr>
          <a:xfrm>
            <a:off x="923544" y="3791102"/>
            <a:ext cx="10817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Band 설정</a:t>
            </a:r>
            <a:endParaRPr lang="en-US" sz="900" dirty="0"/>
          </a:p>
        </p:txBody>
      </p:sp>
      <p:sp>
        <p:nvSpPr>
          <p:cNvPr id="37" name="Shape 27"/>
          <p:cNvSpPr/>
          <p:nvPr/>
        </p:nvSpPr>
        <p:spPr>
          <a:xfrm>
            <a:off x="3357677" y="4200754"/>
            <a:ext cx="27432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28"/>
          <p:cNvSpPr txBox="1"/>
          <p:nvPr/>
        </p:nvSpPr>
        <p:spPr>
          <a:xfrm>
            <a:off x="3510382" y="3448202"/>
            <a:ext cx="25365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15 ~ 20%</a:t>
            </a:r>
            <a:endParaRPr lang="en-US" sz="1000" dirty="0"/>
          </a:p>
        </p:txBody>
      </p:sp>
      <p:sp>
        <p:nvSpPr>
          <p:cNvPr id="39" name="Text 29"/>
          <p:cNvSpPr txBox="1"/>
          <p:nvPr/>
        </p:nvSpPr>
        <p:spPr>
          <a:xfrm>
            <a:off x="3510382" y="3648456"/>
            <a:ext cx="25365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20 ~ 25%</a:t>
            </a:r>
            <a:endParaRPr lang="en-US" sz="1000" dirty="0"/>
          </a:p>
        </p:txBody>
      </p:sp>
      <p:sp>
        <p:nvSpPr>
          <p:cNvPr id="40" name="Text 30"/>
          <p:cNvSpPr txBox="1"/>
          <p:nvPr/>
        </p:nvSpPr>
        <p:spPr>
          <a:xfrm>
            <a:off x="3510382" y="3847795"/>
            <a:ext cx="25365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25 ~ 30%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6096305" y="4200754"/>
            <a:ext cx="27432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9"/>
          <a:srcRect t="-1359" b="-1359"/>
          <a:stretch/>
        </p:blipFill>
        <p:spPr>
          <a:xfrm>
            <a:off x="6372454" y="3571646"/>
            <a:ext cx="105156" cy="123444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6534302" y="3473806"/>
            <a:ext cx="8769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ADE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 ~ 25% 확정</a:t>
            </a:r>
            <a:endParaRPr lang="en-US" sz="900" dirty="0"/>
          </a:p>
        </p:txBody>
      </p:sp>
      <p:sp>
        <p:nvSpPr>
          <p:cNvPr id="44" name="Text 33"/>
          <p:cNvSpPr txBox="1"/>
          <p:nvPr/>
        </p:nvSpPr>
        <p:spPr>
          <a:xfrm>
            <a:off x="6248095" y="3869741"/>
            <a:ext cx="26289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초과분 월 분할환전 원칙 수립</a:t>
            </a:r>
            <a:endParaRPr lang="en-US" sz="900" dirty="0"/>
          </a:p>
        </p:txBody>
      </p:sp>
      <p:sp>
        <p:nvSpPr>
          <p:cNvPr id="45" name="Shape 34"/>
          <p:cNvSpPr/>
          <p:nvPr/>
        </p:nvSpPr>
        <p:spPr>
          <a:xfrm>
            <a:off x="8834018" y="4200754"/>
            <a:ext cx="1647749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35"/>
          <p:cNvSpPr txBox="1"/>
          <p:nvPr/>
        </p:nvSpPr>
        <p:spPr>
          <a:xfrm>
            <a:off x="8948318" y="3648456"/>
            <a:ext cx="14200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메디아나 CFO</a:t>
            </a:r>
            <a:endParaRPr lang="en-US" sz="1000" dirty="0"/>
          </a:p>
        </p:txBody>
      </p:sp>
      <p:sp>
        <p:nvSpPr>
          <p:cNvPr id="47" name="Shape 36"/>
          <p:cNvSpPr/>
          <p:nvPr/>
        </p:nvSpPr>
        <p:spPr>
          <a:xfrm>
            <a:off x="10477195" y="4200754"/>
            <a:ext cx="1095451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37"/>
          <p:cNvSpPr txBox="1"/>
          <p:nvPr/>
        </p:nvSpPr>
        <p:spPr>
          <a:xfrm>
            <a:off x="10591495" y="3653028"/>
            <a:ext cx="8668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2026-02</a:t>
            </a:r>
            <a:endParaRPr lang="en-US" sz="1000" dirty="0"/>
          </a:p>
        </p:txBody>
      </p:sp>
      <p:sp>
        <p:nvSpPr>
          <p:cNvPr id="49" name="Shape 38"/>
          <p:cNvSpPr/>
          <p:nvPr/>
        </p:nvSpPr>
        <p:spPr>
          <a:xfrm>
            <a:off x="619049" y="5115154"/>
            <a:ext cx="27432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39"/>
          <p:cNvSpPr/>
          <p:nvPr/>
        </p:nvSpPr>
        <p:spPr>
          <a:xfrm>
            <a:off x="771754" y="4509821"/>
            <a:ext cx="38405" cy="304495"/>
          </a:xfrm>
          <a:prstGeom prst="roundRect">
            <a:avLst>
              <a:gd name="adj" fmla="val 2380940"/>
            </a:avLst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0"/>
          <p:cNvSpPr txBox="1"/>
          <p:nvPr/>
        </p:nvSpPr>
        <p:spPr>
          <a:xfrm>
            <a:off x="923544" y="4466844"/>
            <a:ext cx="15243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국채 FVPL 리스크관리</a:t>
            </a:r>
            <a:endParaRPr lang="en-US" sz="1000" dirty="0"/>
          </a:p>
        </p:txBody>
      </p:sp>
      <p:sp>
        <p:nvSpPr>
          <p:cNvPr id="52" name="Text 41"/>
          <p:cNvSpPr txBox="1"/>
          <p:nvPr/>
        </p:nvSpPr>
        <p:spPr>
          <a:xfrm>
            <a:off x="923544" y="4705502"/>
            <a:ext cx="13432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Exit 전략 수립</a:t>
            </a:r>
            <a:endParaRPr lang="en-US" sz="900" dirty="0"/>
          </a:p>
        </p:txBody>
      </p:sp>
      <p:sp>
        <p:nvSpPr>
          <p:cNvPr id="53" name="Shape 42"/>
          <p:cNvSpPr/>
          <p:nvPr/>
        </p:nvSpPr>
        <p:spPr>
          <a:xfrm>
            <a:off x="3357677" y="5115154"/>
            <a:ext cx="27432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43"/>
          <p:cNvSpPr txBox="1"/>
          <p:nvPr/>
        </p:nvSpPr>
        <p:spPr>
          <a:xfrm>
            <a:off x="3510382" y="4362602"/>
            <a:ext cx="26289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1안: 분할 청산</a:t>
            </a:r>
            <a:endParaRPr lang="en-US" sz="1000" dirty="0"/>
          </a:p>
        </p:txBody>
      </p:sp>
      <p:sp>
        <p:nvSpPr>
          <p:cNvPr id="55" name="Text 44"/>
          <p:cNvSpPr txBox="1"/>
          <p:nvPr/>
        </p:nvSpPr>
        <p:spPr>
          <a:xfrm>
            <a:off x="3510382" y="4562856"/>
            <a:ext cx="26289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2안: 부분 헤지</a:t>
            </a:r>
            <a:endParaRPr lang="en-US" sz="1000" dirty="0"/>
          </a:p>
        </p:txBody>
      </p:sp>
      <p:sp>
        <p:nvSpPr>
          <p:cNvPr id="56" name="Text 45"/>
          <p:cNvSpPr txBox="1"/>
          <p:nvPr/>
        </p:nvSpPr>
        <p:spPr>
          <a:xfrm>
            <a:off x="3510382" y="4762195"/>
            <a:ext cx="26289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3안: 만기 보유</a:t>
            </a:r>
            <a:endParaRPr lang="en-US" sz="1000" dirty="0"/>
          </a:p>
        </p:txBody>
      </p:sp>
      <p:sp>
        <p:nvSpPr>
          <p:cNvPr id="57" name="Shape 46"/>
          <p:cNvSpPr/>
          <p:nvPr/>
        </p:nvSpPr>
        <p:spPr>
          <a:xfrm>
            <a:off x="6096305" y="5115154"/>
            <a:ext cx="27432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9" descr="preencoded.png"/>
          <p:cNvPicPr>
            <a:picLocks noChangeAspect="1"/>
          </p:cNvPicPr>
          <p:nvPr/>
        </p:nvPicPr>
        <p:blipFill>
          <a:blip r:embed="rId10"/>
          <a:srcRect t="-1359" b="-1359"/>
          <a:stretch/>
        </p:blipFill>
        <p:spPr>
          <a:xfrm>
            <a:off x="6372454" y="4486046"/>
            <a:ext cx="105156" cy="123444"/>
          </a:xfrm>
          <a:prstGeom prst="rect">
            <a:avLst/>
          </a:prstGeom>
        </p:spPr>
      </p:pic>
      <p:sp>
        <p:nvSpPr>
          <p:cNvPr id="59" name="Text 47"/>
          <p:cNvSpPr txBox="1"/>
          <p:nvPr/>
        </p:nvSpPr>
        <p:spPr>
          <a:xfrm>
            <a:off x="6534302" y="4388206"/>
            <a:ext cx="86685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2안 (부분 헤지)</a:t>
            </a:r>
            <a:endParaRPr lang="en-US" sz="900" dirty="0"/>
          </a:p>
        </p:txBody>
      </p:sp>
      <p:sp>
        <p:nvSpPr>
          <p:cNvPr id="60" name="Text 48"/>
          <p:cNvSpPr txBox="1"/>
          <p:nvPr/>
        </p:nvSpPr>
        <p:spPr>
          <a:xfrm>
            <a:off x="6248095" y="4784141"/>
            <a:ext cx="26289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50% 헤지 포지션 즉시 구축 권고</a:t>
            </a:r>
            <a:endParaRPr lang="en-US" sz="900" dirty="0"/>
          </a:p>
        </p:txBody>
      </p:sp>
      <p:sp>
        <p:nvSpPr>
          <p:cNvPr id="61" name="Shape 49"/>
          <p:cNvSpPr/>
          <p:nvPr/>
        </p:nvSpPr>
        <p:spPr>
          <a:xfrm>
            <a:off x="8834018" y="5115154"/>
            <a:ext cx="1647749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0"/>
          <p:cNvSpPr txBox="1"/>
          <p:nvPr/>
        </p:nvSpPr>
        <p:spPr>
          <a:xfrm>
            <a:off x="8948318" y="4562856"/>
            <a:ext cx="14200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메디아나 CFO</a:t>
            </a:r>
            <a:endParaRPr lang="en-US" sz="1000" dirty="0"/>
          </a:p>
        </p:txBody>
      </p:sp>
      <p:sp>
        <p:nvSpPr>
          <p:cNvPr id="63" name="Shape 51"/>
          <p:cNvSpPr/>
          <p:nvPr/>
        </p:nvSpPr>
        <p:spPr>
          <a:xfrm>
            <a:off x="10477195" y="5115154"/>
            <a:ext cx="1095451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52"/>
          <p:cNvSpPr txBox="1"/>
          <p:nvPr/>
        </p:nvSpPr>
        <p:spPr>
          <a:xfrm>
            <a:off x="10591495" y="4567428"/>
            <a:ext cx="8668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2026-03</a:t>
            </a:r>
            <a:endParaRPr lang="en-US" sz="1000" dirty="0"/>
          </a:p>
        </p:txBody>
      </p:sp>
      <p:sp>
        <p:nvSpPr>
          <p:cNvPr id="65" name="Shape 53"/>
          <p:cNvSpPr/>
          <p:nvPr/>
        </p:nvSpPr>
        <p:spPr>
          <a:xfrm>
            <a:off x="771754" y="5424221"/>
            <a:ext cx="38405" cy="304495"/>
          </a:xfrm>
          <a:prstGeom prst="roundRect">
            <a:avLst>
              <a:gd name="adj" fmla="val 2380940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54"/>
          <p:cNvSpPr txBox="1"/>
          <p:nvPr/>
        </p:nvSpPr>
        <p:spPr>
          <a:xfrm>
            <a:off x="923544" y="5381244"/>
            <a:ext cx="1371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지분 매각 (108만주)</a:t>
            </a:r>
            <a:endParaRPr lang="en-US" sz="1000" dirty="0"/>
          </a:p>
        </p:txBody>
      </p:sp>
      <p:sp>
        <p:nvSpPr>
          <p:cNvPr id="67" name="Text 55"/>
          <p:cNvSpPr txBox="1"/>
          <p:nvPr/>
        </p:nvSpPr>
        <p:spPr>
          <a:xfrm>
            <a:off x="923544" y="5619902"/>
            <a:ext cx="124541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방식 결정</a:t>
            </a:r>
            <a:endParaRPr lang="en-US" sz="900" dirty="0"/>
          </a:p>
        </p:txBody>
      </p:sp>
      <p:sp>
        <p:nvSpPr>
          <p:cNvPr id="68" name="Text 56"/>
          <p:cNvSpPr txBox="1"/>
          <p:nvPr/>
        </p:nvSpPr>
        <p:spPr>
          <a:xfrm>
            <a:off x="3510382" y="5277002"/>
            <a:ext cx="25365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ABB</a:t>
            </a:r>
            <a:endParaRPr lang="en-US" sz="1000" dirty="0"/>
          </a:p>
        </p:txBody>
      </p:sp>
      <p:sp>
        <p:nvSpPr>
          <p:cNvPr id="69" name="Text 57"/>
          <p:cNvSpPr txBox="1"/>
          <p:nvPr/>
        </p:nvSpPr>
        <p:spPr>
          <a:xfrm>
            <a:off x="3510382" y="5477256"/>
            <a:ext cx="25365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블록딜 + VWAP</a:t>
            </a:r>
            <a:endParaRPr lang="en-US" sz="1000" dirty="0"/>
          </a:p>
        </p:txBody>
      </p:sp>
      <p:sp>
        <p:nvSpPr>
          <p:cNvPr id="70" name="Text 58"/>
          <p:cNvSpPr txBox="1"/>
          <p:nvPr/>
        </p:nvSpPr>
        <p:spPr>
          <a:xfrm>
            <a:off x="3510382" y="5676595"/>
            <a:ext cx="25365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TWAP (장내)</a:t>
            </a:r>
            <a:endParaRPr lang="en-US" sz="1000" dirty="0"/>
          </a:p>
        </p:txBody>
      </p:sp>
      <p:pic>
        <p:nvPicPr>
          <p:cNvPr id="71" name="Image 10" descr="preencoded.png"/>
          <p:cNvPicPr>
            <a:picLocks noChangeAspect="1"/>
          </p:cNvPicPr>
          <p:nvPr/>
        </p:nvPicPr>
        <p:blipFill>
          <a:blip r:embed="rId9"/>
          <a:srcRect t="-1359" b="-1359"/>
          <a:stretch/>
        </p:blipFill>
        <p:spPr>
          <a:xfrm>
            <a:off x="6372454" y="5400446"/>
            <a:ext cx="105156" cy="123444"/>
          </a:xfrm>
          <a:prstGeom prst="rect">
            <a:avLst/>
          </a:prstGeom>
        </p:spPr>
      </p:pic>
      <p:sp>
        <p:nvSpPr>
          <p:cNvPr id="72" name="Text 59"/>
          <p:cNvSpPr txBox="1"/>
          <p:nvPr/>
        </p:nvSpPr>
        <p:spPr>
          <a:xfrm>
            <a:off x="6534302" y="5302606"/>
            <a:ext cx="89611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ADE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블록딜 + VWAP</a:t>
            </a:r>
            <a:endParaRPr lang="en-US" sz="900" dirty="0"/>
          </a:p>
        </p:txBody>
      </p:sp>
      <p:sp>
        <p:nvSpPr>
          <p:cNvPr id="73" name="Text 60"/>
          <p:cNvSpPr txBox="1"/>
          <p:nvPr/>
        </p:nvSpPr>
        <p:spPr>
          <a:xfrm>
            <a:off x="6248095" y="5698541"/>
            <a:ext cx="253654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 하한 15,000원 준수 조건</a:t>
            </a:r>
            <a:endParaRPr lang="en-US" sz="900" dirty="0"/>
          </a:p>
        </p:txBody>
      </p:sp>
      <p:sp>
        <p:nvSpPr>
          <p:cNvPr id="74" name="Text 61"/>
          <p:cNvSpPr txBox="1"/>
          <p:nvPr/>
        </p:nvSpPr>
        <p:spPr>
          <a:xfrm>
            <a:off x="8948318" y="5477256"/>
            <a:ext cx="14200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헬스케어 CFO</a:t>
            </a:r>
            <a:endParaRPr lang="en-US" sz="1000" dirty="0"/>
          </a:p>
        </p:txBody>
      </p:sp>
      <p:sp>
        <p:nvSpPr>
          <p:cNvPr id="75" name="Text 62"/>
          <p:cNvSpPr txBox="1"/>
          <p:nvPr/>
        </p:nvSpPr>
        <p:spPr>
          <a:xfrm>
            <a:off x="10591495" y="5481828"/>
            <a:ext cx="8668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2026-02</a:t>
            </a:r>
            <a:endParaRPr lang="en-US" sz="1000" dirty="0"/>
          </a:p>
        </p:txBody>
      </p:sp>
      <p:pic>
        <p:nvPicPr>
          <p:cNvPr id="76" name="Image 11" descr="preencoded.png"/>
          <p:cNvPicPr>
            <a:picLocks noChangeAspect="1"/>
          </p:cNvPicPr>
          <p:nvPr/>
        </p:nvPicPr>
        <p:blipFill>
          <a:blip r:embed="rId11"/>
          <a:srcRect t="-15" b="-15"/>
          <a:stretch/>
        </p:blipFill>
        <p:spPr>
          <a:xfrm>
            <a:off x="609905" y="6267298"/>
            <a:ext cx="8305495" cy="590702"/>
          </a:xfrm>
          <a:prstGeom prst="rect">
            <a:avLst/>
          </a:prstGeom>
        </p:spPr>
      </p:pic>
      <p:sp>
        <p:nvSpPr>
          <p:cNvPr id="77" name="Text 63"/>
          <p:cNvSpPr txBox="1"/>
          <p:nvPr/>
        </p:nvSpPr>
        <p:spPr>
          <a:xfrm>
            <a:off x="1028700" y="6391656"/>
            <a:ext cx="78007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후속 조치 프로세스 (Action Plan) </a:t>
            </a:r>
            <a:endParaRPr lang="en-US" sz="1000" dirty="0"/>
          </a:p>
        </p:txBody>
      </p:sp>
      <p:pic>
        <p:nvPicPr>
          <p:cNvPr id="78" name="Image 12" descr="preencoded.png"/>
          <p:cNvPicPr>
            <a:picLocks noChangeAspect="1"/>
          </p:cNvPicPr>
          <p:nvPr/>
        </p:nvPicPr>
        <p:blipFill>
          <a:blip r:embed="rId12"/>
          <a:srcRect l="-3425" r="-3425"/>
          <a:stretch/>
        </p:blipFill>
        <p:spPr>
          <a:xfrm>
            <a:off x="809244" y="6420002"/>
            <a:ext cx="142646" cy="133502"/>
          </a:xfrm>
          <a:prstGeom prst="rect">
            <a:avLst/>
          </a:prstGeom>
        </p:spPr>
      </p:pic>
      <p:pic>
        <p:nvPicPr>
          <p:cNvPr id="79" name="Image 13" descr="preencoded.png"/>
          <p:cNvPicPr>
            <a:picLocks noChangeAspect="1"/>
          </p:cNvPicPr>
          <p:nvPr/>
        </p:nvPicPr>
        <p:blipFill>
          <a:blip r:embed="rId13"/>
          <a:srcRect t="-1100" b="-1100"/>
          <a:stretch/>
        </p:blipFill>
        <p:spPr>
          <a:xfrm>
            <a:off x="2661818" y="7114946"/>
            <a:ext cx="114300" cy="133502"/>
          </a:xfrm>
          <a:prstGeom prst="rect">
            <a:avLst/>
          </a:prstGeom>
        </p:spPr>
      </p:pic>
      <p:pic>
        <p:nvPicPr>
          <p:cNvPr id="80" name="Image 14" descr="preencoded.png"/>
          <p:cNvPicPr>
            <a:picLocks noChangeAspect="1"/>
          </p:cNvPicPr>
          <p:nvPr/>
        </p:nvPicPr>
        <p:blipFill>
          <a:blip r:embed="rId13"/>
          <a:srcRect t="-1100" b="-1100"/>
          <a:stretch/>
        </p:blipFill>
        <p:spPr>
          <a:xfrm>
            <a:off x="4705502" y="7114946"/>
            <a:ext cx="114300" cy="133502"/>
          </a:xfrm>
          <a:prstGeom prst="rect">
            <a:avLst/>
          </a:prstGeom>
        </p:spPr>
      </p:pic>
      <p:pic>
        <p:nvPicPr>
          <p:cNvPr id="81" name="Image 15" descr="preencoded.png"/>
          <p:cNvPicPr>
            <a:picLocks noChangeAspect="1"/>
          </p:cNvPicPr>
          <p:nvPr/>
        </p:nvPicPr>
        <p:blipFill>
          <a:blip r:embed="rId13"/>
          <a:srcRect t="-1100" b="-1100"/>
          <a:stretch/>
        </p:blipFill>
        <p:spPr>
          <a:xfrm>
            <a:off x="6748272" y="7114946"/>
            <a:ext cx="114300" cy="133502"/>
          </a:xfrm>
          <a:prstGeom prst="rect">
            <a:avLst/>
          </a:prstGeom>
        </p:spPr>
      </p:pic>
      <p:pic>
        <p:nvPicPr>
          <p:cNvPr id="82" name="Image 16" descr="preencoded.png"/>
          <p:cNvPicPr>
            <a:picLocks noChangeAspect="1"/>
          </p:cNvPicPr>
          <p:nvPr/>
        </p:nvPicPr>
        <p:blipFill>
          <a:blip r:embed="rId14"/>
          <a:srcRect t="-7" b="-7"/>
          <a:stretch/>
        </p:blipFill>
        <p:spPr>
          <a:xfrm>
            <a:off x="9144000" y="6267298"/>
            <a:ext cx="2438705" cy="590702"/>
          </a:xfrm>
          <a:prstGeom prst="rect">
            <a:avLst/>
          </a:prstGeom>
        </p:spPr>
      </p:pic>
      <p:sp>
        <p:nvSpPr>
          <p:cNvPr id="83" name="Text 64"/>
          <p:cNvSpPr txBox="1"/>
          <p:nvPr/>
        </p:nvSpPr>
        <p:spPr>
          <a:xfrm>
            <a:off x="9550908" y="6553505"/>
            <a:ext cx="16294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5B4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 Committee Meeting</a:t>
            </a:r>
            <a:endParaRPr lang="en-US" sz="900" dirty="0"/>
          </a:p>
        </p:txBody>
      </p:sp>
      <p:sp>
        <p:nvSpPr>
          <p:cNvPr id="84" name="Text 65"/>
          <p:cNvSpPr txBox="1"/>
          <p:nvPr/>
        </p:nvSpPr>
        <p:spPr>
          <a:xfrm>
            <a:off x="9496044" y="7162495"/>
            <a:ext cx="174010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1Q Performance Review</a:t>
            </a:r>
            <a:endParaRPr lang="en-US" sz="1000" dirty="0"/>
          </a:p>
        </p:txBody>
      </p:sp>
      <p:sp>
        <p:nvSpPr>
          <p:cNvPr id="85" name="Shape 66"/>
          <p:cNvSpPr/>
          <p:nvPr/>
        </p:nvSpPr>
        <p:spPr>
          <a:xfrm>
            <a:off x="10211105" y="7467905"/>
            <a:ext cx="304495" cy="38405"/>
          </a:xfrm>
          <a:prstGeom prst="roundRect">
            <a:avLst>
              <a:gd name="adj" fmla="val 2380940"/>
            </a:avLst>
          </a:prstGeom>
          <a:solidFill>
            <a:srgbClr val="6366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Shape 67"/>
          <p:cNvSpPr/>
          <p:nvPr/>
        </p:nvSpPr>
        <p:spPr>
          <a:xfrm>
            <a:off x="609905" y="7944307"/>
            <a:ext cx="10972800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Text 68"/>
          <p:cNvSpPr txBox="1"/>
          <p:nvPr/>
        </p:nvSpPr>
        <p:spPr>
          <a:xfrm>
            <a:off x="495605" y="8029346"/>
            <a:ext cx="110871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Selvas Group Treasury Policy 2026 - Final Decision</a:t>
            </a:r>
            <a:endParaRPr lang="en-US" sz="900" dirty="0"/>
          </a:p>
        </p:txBody>
      </p:sp>
      <p:sp>
        <p:nvSpPr>
          <p:cNvPr id="88" name="Shape 69"/>
          <p:cNvSpPr/>
          <p:nvPr/>
        </p:nvSpPr>
        <p:spPr>
          <a:xfrm>
            <a:off x="9826142" y="476402"/>
            <a:ext cx="1762049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9" name="Image 17" descr="preencoded.png"/>
          <p:cNvPicPr>
            <a:picLocks noChangeAspect="1"/>
          </p:cNvPicPr>
          <p:nvPr/>
        </p:nvPicPr>
        <p:blipFill>
          <a:blip r:embed="rId15"/>
          <a:srcRect l="-2571" r="-2571"/>
          <a:stretch/>
        </p:blipFill>
        <p:spPr>
          <a:xfrm>
            <a:off x="10629900" y="1538021"/>
            <a:ext cx="105156" cy="114300"/>
          </a:xfrm>
          <a:prstGeom prst="rect">
            <a:avLst/>
          </a:prstGeom>
        </p:spPr>
      </p:pic>
      <p:sp>
        <p:nvSpPr>
          <p:cNvPr id="90" name="Text 70"/>
          <p:cNvSpPr txBox="1"/>
          <p:nvPr/>
        </p:nvSpPr>
        <p:spPr>
          <a:xfrm>
            <a:off x="10772546" y="1505102"/>
            <a:ext cx="68031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2026.01.27</a:t>
            </a:r>
            <a:endParaRPr lang="en-US" sz="900" dirty="0"/>
          </a:p>
        </p:txBody>
      </p:sp>
      <p:sp>
        <p:nvSpPr>
          <p:cNvPr id="91" name="Text 71"/>
          <p:cNvSpPr txBox="1"/>
          <p:nvPr/>
        </p:nvSpPr>
        <p:spPr>
          <a:xfrm>
            <a:off x="771754" y="2038198"/>
            <a:ext cx="5861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안건</a:t>
            </a:r>
            <a:endParaRPr lang="en-US" sz="900" dirty="0"/>
          </a:p>
        </p:txBody>
      </p:sp>
      <p:sp>
        <p:nvSpPr>
          <p:cNvPr id="92" name="Text 72"/>
          <p:cNvSpPr txBox="1"/>
          <p:nvPr/>
        </p:nvSpPr>
        <p:spPr>
          <a:xfrm>
            <a:off x="3510382" y="2038198"/>
            <a:ext cx="148407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검토 선택지 (OPTIONS)</a:t>
            </a:r>
            <a:endParaRPr lang="en-US" sz="900" dirty="0"/>
          </a:p>
        </p:txBody>
      </p:sp>
      <p:sp>
        <p:nvSpPr>
          <p:cNvPr id="93" name="Text 73"/>
          <p:cNvSpPr txBox="1"/>
          <p:nvPr/>
        </p:nvSpPr>
        <p:spPr>
          <a:xfrm>
            <a:off x="6248095" y="2038198"/>
            <a:ext cx="136062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결정사항 (DECISION)</a:t>
            </a:r>
            <a:endParaRPr lang="en-US" sz="900" dirty="0"/>
          </a:p>
        </p:txBody>
      </p:sp>
      <p:sp>
        <p:nvSpPr>
          <p:cNvPr id="94" name="Text 74"/>
          <p:cNvSpPr txBox="1"/>
          <p:nvPr/>
        </p:nvSpPr>
        <p:spPr>
          <a:xfrm>
            <a:off x="8986723" y="2038198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 (OWNER)</a:t>
            </a:r>
            <a:endParaRPr lang="en-US" sz="900" dirty="0"/>
          </a:p>
        </p:txBody>
      </p:sp>
      <p:sp>
        <p:nvSpPr>
          <p:cNvPr id="95" name="Text 75"/>
          <p:cNvSpPr txBox="1"/>
          <p:nvPr/>
        </p:nvSpPr>
        <p:spPr>
          <a:xfrm>
            <a:off x="10629900" y="2038198"/>
            <a:ext cx="71689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기한 (DUE)</a:t>
            </a:r>
            <a:endParaRPr lang="en-US" sz="900" dirty="0"/>
          </a:p>
        </p:txBody>
      </p:sp>
      <p:pic>
        <p:nvPicPr>
          <p:cNvPr id="96" name="Image 18" descr="preencoded.png"/>
          <p:cNvPicPr>
            <a:picLocks noChangeAspect="1"/>
          </p:cNvPicPr>
          <p:nvPr/>
        </p:nvPicPr>
        <p:blipFill>
          <a:blip r:embed="rId16"/>
          <a:srcRect l="-6" r="-6"/>
          <a:stretch/>
        </p:blipFill>
        <p:spPr>
          <a:xfrm>
            <a:off x="6248095" y="2559406"/>
            <a:ext cx="875995" cy="323698"/>
          </a:xfrm>
          <a:prstGeom prst="rect">
            <a:avLst/>
          </a:prstGeom>
        </p:spPr>
      </p:pic>
      <p:pic>
        <p:nvPicPr>
          <p:cNvPr id="97" name="Image 19" descr="preencoded.png"/>
          <p:cNvPicPr>
            <a:picLocks noChangeAspect="1"/>
          </p:cNvPicPr>
          <p:nvPr/>
        </p:nvPicPr>
        <p:blipFill>
          <a:blip r:embed="rId17"/>
          <a:srcRect l="-33" r="-33"/>
          <a:stretch/>
        </p:blipFill>
        <p:spPr>
          <a:xfrm>
            <a:off x="6248095" y="3473806"/>
            <a:ext cx="1228954" cy="323698"/>
          </a:xfrm>
          <a:prstGeom prst="rect">
            <a:avLst/>
          </a:prstGeom>
        </p:spPr>
      </p:pic>
      <p:pic>
        <p:nvPicPr>
          <p:cNvPr id="98" name="Image 20" descr="preencoded.png"/>
          <p:cNvPicPr>
            <a:picLocks noChangeAspect="1"/>
          </p:cNvPicPr>
          <p:nvPr/>
        </p:nvPicPr>
        <p:blipFill>
          <a:blip r:embed="rId18"/>
          <a:srcRect l="-11" r="-11"/>
          <a:stretch/>
        </p:blipFill>
        <p:spPr>
          <a:xfrm>
            <a:off x="6248095" y="4388206"/>
            <a:ext cx="1218895" cy="323698"/>
          </a:xfrm>
          <a:prstGeom prst="rect">
            <a:avLst/>
          </a:prstGeom>
        </p:spPr>
      </p:pic>
      <p:pic>
        <p:nvPicPr>
          <p:cNvPr id="99" name="Image 21" descr="preencoded.png"/>
          <p:cNvPicPr>
            <a:picLocks noChangeAspect="1"/>
          </p:cNvPicPr>
          <p:nvPr/>
        </p:nvPicPr>
        <p:blipFill>
          <a:blip r:embed="rId19"/>
          <a:srcRect l="-39" r="-39"/>
          <a:stretch/>
        </p:blipFill>
        <p:spPr>
          <a:xfrm>
            <a:off x="6248095" y="5302606"/>
            <a:ext cx="1248156" cy="323698"/>
          </a:xfrm>
          <a:prstGeom prst="rect">
            <a:avLst/>
          </a:prstGeom>
        </p:spPr>
      </p:pic>
      <p:sp>
        <p:nvSpPr>
          <p:cNvPr id="100" name="Text 76"/>
          <p:cNvSpPr txBox="1"/>
          <p:nvPr/>
        </p:nvSpPr>
        <p:spPr>
          <a:xfrm>
            <a:off x="9720986" y="6743700"/>
            <a:ext cx="128473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2026.04</a:t>
            </a:r>
            <a:endParaRPr lang="en-US" sz="2200" dirty="0"/>
          </a:p>
        </p:txBody>
      </p:sp>
      <p:pic>
        <p:nvPicPr>
          <p:cNvPr id="101" name="Image 22" descr="preencoded.png"/>
          <p:cNvPicPr>
            <a:picLocks noChangeAspect="1"/>
          </p:cNvPicPr>
          <p:nvPr/>
        </p:nvPicPr>
        <p:blipFill>
          <a:blip r:embed="rId20"/>
          <a:srcRect l="-31" r="-31"/>
          <a:stretch/>
        </p:blipFill>
        <p:spPr>
          <a:xfrm>
            <a:off x="809244" y="6696151"/>
            <a:ext cx="1776679" cy="161849"/>
          </a:xfrm>
          <a:prstGeom prst="rect">
            <a:avLst/>
          </a:prstGeom>
        </p:spPr>
      </p:pic>
      <p:sp>
        <p:nvSpPr>
          <p:cNvPr id="102" name="Shape 77"/>
          <p:cNvSpPr/>
          <p:nvPr/>
        </p:nvSpPr>
        <p:spPr>
          <a:xfrm>
            <a:off x="972007" y="7029907"/>
            <a:ext cx="267005" cy="304495"/>
          </a:xfrm>
          <a:prstGeom prst="roundRect">
            <a:avLst>
              <a:gd name="adj" fmla="val 97847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3" name="Image 23" descr="preencoded.png"/>
          <p:cNvPicPr>
            <a:picLocks noChangeAspect="1"/>
          </p:cNvPicPr>
          <p:nvPr/>
        </p:nvPicPr>
        <p:blipFill>
          <a:blip r:embed="rId21"/>
          <a:srcRect l="-837" r="-837"/>
          <a:stretch/>
        </p:blipFill>
        <p:spPr>
          <a:xfrm>
            <a:off x="1026871" y="7114946"/>
            <a:ext cx="152705" cy="133502"/>
          </a:xfrm>
          <a:prstGeom prst="rect">
            <a:avLst/>
          </a:prstGeom>
        </p:spPr>
      </p:pic>
      <p:sp>
        <p:nvSpPr>
          <p:cNvPr id="104" name="Text 78"/>
          <p:cNvSpPr txBox="1"/>
          <p:nvPr/>
        </p:nvSpPr>
        <p:spPr>
          <a:xfrm>
            <a:off x="1347826" y="6858000"/>
            <a:ext cx="116311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의결 문서화</a:t>
            </a:r>
            <a:endParaRPr lang="en-US" sz="1000" dirty="0"/>
          </a:p>
        </p:txBody>
      </p:sp>
      <p:sp>
        <p:nvSpPr>
          <p:cNvPr id="105" name="Text 79"/>
          <p:cNvSpPr txBox="1"/>
          <p:nvPr/>
        </p:nvSpPr>
        <p:spPr>
          <a:xfrm>
            <a:off x="1347826" y="7048195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의사록 작성 및 승인</a:t>
            </a:r>
            <a:endParaRPr lang="en-US" sz="1200" dirty="0"/>
          </a:p>
        </p:txBody>
      </p:sp>
      <p:pic>
        <p:nvPicPr>
          <p:cNvPr id="106" name="Image 24" descr="preencoded.png"/>
          <p:cNvPicPr>
            <a:picLocks noChangeAspect="1"/>
          </p:cNvPicPr>
          <p:nvPr/>
        </p:nvPicPr>
        <p:blipFill>
          <a:blip r:embed="rId22"/>
          <a:srcRect l="-31" r="-31"/>
          <a:stretch/>
        </p:blipFill>
        <p:spPr>
          <a:xfrm>
            <a:off x="2852928" y="6696151"/>
            <a:ext cx="1776679" cy="161849"/>
          </a:xfrm>
          <a:prstGeom prst="rect">
            <a:avLst/>
          </a:prstGeom>
        </p:spPr>
      </p:pic>
      <p:sp>
        <p:nvSpPr>
          <p:cNvPr id="107" name="Shape 80"/>
          <p:cNvSpPr/>
          <p:nvPr/>
        </p:nvSpPr>
        <p:spPr>
          <a:xfrm>
            <a:off x="3014777" y="7029907"/>
            <a:ext cx="219456" cy="304495"/>
          </a:xfrm>
          <a:prstGeom prst="roundRect">
            <a:avLst>
              <a:gd name="adj" fmla="val 144928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8" name="Image 25" descr="preencoded.png"/>
          <p:cNvPicPr>
            <a:picLocks noChangeAspect="1"/>
          </p:cNvPicPr>
          <p:nvPr/>
        </p:nvPicPr>
        <p:blipFill>
          <a:blip r:embed="rId23"/>
          <a:srcRect l="-837" r="-837"/>
          <a:stretch/>
        </p:blipFill>
        <p:spPr>
          <a:xfrm>
            <a:off x="3046781" y="7114946"/>
            <a:ext cx="152705" cy="133502"/>
          </a:xfrm>
          <a:prstGeom prst="rect">
            <a:avLst/>
          </a:prstGeom>
        </p:spPr>
      </p:pic>
      <p:sp>
        <p:nvSpPr>
          <p:cNvPr id="109" name="Text 81"/>
          <p:cNvSpPr txBox="1"/>
          <p:nvPr/>
        </p:nvSpPr>
        <p:spPr>
          <a:xfrm>
            <a:off x="3346704" y="6858000"/>
            <a:ext cx="12143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실행계획 수립</a:t>
            </a:r>
            <a:endParaRPr lang="en-US" sz="1000" dirty="0"/>
          </a:p>
        </p:txBody>
      </p:sp>
      <p:sp>
        <p:nvSpPr>
          <p:cNvPr id="110" name="Text 82"/>
          <p:cNvSpPr txBox="1"/>
          <p:nvPr/>
        </p:nvSpPr>
        <p:spPr>
          <a:xfrm>
            <a:off x="3346704" y="7048195"/>
            <a:ext cx="11814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세부 일정 및 담당자 배정</a:t>
            </a:r>
            <a:endParaRPr lang="en-US" sz="1200" dirty="0"/>
          </a:p>
        </p:txBody>
      </p:sp>
      <p:pic>
        <p:nvPicPr>
          <p:cNvPr id="111" name="Image 26" descr="preencoded.png"/>
          <p:cNvPicPr>
            <a:picLocks noChangeAspect="1"/>
          </p:cNvPicPr>
          <p:nvPr/>
        </p:nvPicPr>
        <p:blipFill>
          <a:blip r:embed="rId20"/>
          <a:srcRect l="-31" r="-31"/>
          <a:stretch/>
        </p:blipFill>
        <p:spPr>
          <a:xfrm>
            <a:off x="4895698" y="6696151"/>
            <a:ext cx="1776679" cy="161849"/>
          </a:xfrm>
          <a:prstGeom prst="rect">
            <a:avLst/>
          </a:prstGeom>
        </p:spPr>
      </p:pic>
      <p:sp>
        <p:nvSpPr>
          <p:cNvPr id="112" name="Shape 83"/>
          <p:cNvSpPr/>
          <p:nvPr/>
        </p:nvSpPr>
        <p:spPr>
          <a:xfrm>
            <a:off x="5057546" y="7029907"/>
            <a:ext cx="276149" cy="304495"/>
          </a:xfrm>
          <a:prstGeom prst="roundRect">
            <a:avLst>
              <a:gd name="adj" fmla="val 91345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3" name="Image 27" descr="preencoded.png"/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5126126" y="7114946"/>
            <a:ext cx="133502" cy="133502"/>
          </a:xfrm>
          <a:prstGeom prst="rect">
            <a:avLst/>
          </a:prstGeom>
        </p:spPr>
      </p:pic>
      <p:sp>
        <p:nvSpPr>
          <p:cNvPr id="114" name="Text 84"/>
          <p:cNvSpPr txBox="1"/>
          <p:nvPr/>
        </p:nvSpPr>
        <p:spPr>
          <a:xfrm>
            <a:off x="5441594" y="6858000"/>
            <a:ext cx="116311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월간 모니터링</a:t>
            </a:r>
            <a:endParaRPr lang="en-US" sz="1000" dirty="0"/>
          </a:p>
        </p:txBody>
      </p:sp>
      <p:sp>
        <p:nvSpPr>
          <p:cNvPr id="115" name="Text 85"/>
          <p:cNvSpPr txBox="1"/>
          <p:nvPr/>
        </p:nvSpPr>
        <p:spPr>
          <a:xfrm>
            <a:off x="5441594" y="7048195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진척도 및 KPI 점검</a:t>
            </a:r>
            <a:endParaRPr lang="en-US" sz="1200" dirty="0"/>
          </a:p>
        </p:txBody>
      </p:sp>
      <p:pic>
        <p:nvPicPr>
          <p:cNvPr id="116" name="Image 28" descr="preencoded.png"/>
          <p:cNvPicPr>
            <a:picLocks noChangeAspect="1"/>
          </p:cNvPicPr>
          <p:nvPr/>
        </p:nvPicPr>
        <p:blipFill>
          <a:blip r:embed="rId22"/>
          <a:srcRect l="-31" r="-31"/>
          <a:stretch/>
        </p:blipFill>
        <p:spPr>
          <a:xfrm>
            <a:off x="6939382" y="6696151"/>
            <a:ext cx="1776679" cy="161849"/>
          </a:xfrm>
          <a:prstGeom prst="rect">
            <a:avLst/>
          </a:prstGeom>
        </p:spPr>
      </p:pic>
      <p:sp>
        <p:nvSpPr>
          <p:cNvPr id="117" name="Shape 86"/>
          <p:cNvSpPr/>
          <p:nvPr/>
        </p:nvSpPr>
        <p:spPr>
          <a:xfrm>
            <a:off x="7101230" y="7029907"/>
            <a:ext cx="267005" cy="304495"/>
          </a:xfrm>
          <a:prstGeom prst="roundRect">
            <a:avLst>
              <a:gd name="adj" fmla="val 97847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8" name="Image 29" descr="preencoded.png"/>
          <p:cNvPicPr>
            <a:picLocks noChangeAspect="1"/>
          </p:cNvPicPr>
          <p:nvPr/>
        </p:nvPicPr>
        <p:blipFill>
          <a:blip r:embed="rId25"/>
          <a:srcRect l="-837" r="-837"/>
          <a:stretch/>
        </p:blipFill>
        <p:spPr>
          <a:xfrm>
            <a:off x="7156094" y="7114946"/>
            <a:ext cx="152705" cy="133502"/>
          </a:xfrm>
          <a:prstGeom prst="rect">
            <a:avLst/>
          </a:prstGeom>
        </p:spPr>
      </p:pic>
      <p:sp>
        <p:nvSpPr>
          <p:cNvPr id="119" name="Text 87"/>
          <p:cNvSpPr txBox="1"/>
          <p:nvPr/>
        </p:nvSpPr>
        <p:spPr>
          <a:xfrm>
            <a:off x="7477963" y="6858000"/>
            <a:ext cx="116311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 리뷰</a:t>
            </a:r>
            <a:endParaRPr lang="en-US" sz="1000" dirty="0"/>
          </a:p>
        </p:txBody>
      </p:sp>
      <p:sp>
        <p:nvSpPr>
          <p:cNvPr id="120" name="Text 88"/>
          <p:cNvSpPr txBox="1"/>
          <p:nvPr/>
        </p:nvSpPr>
        <p:spPr>
          <a:xfrm>
            <a:off x="7477963" y="7048195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평가 및 재조정</a:t>
            </a:r>
            <a:endParaRPr lang="en-US" sz="1200" dirty="0"/>
          </a:p>
        </p:txBody>
      </p:sp>
      <p:sp>
        <p:nvSpPr>
          <p:cNvPr id="121" name="Text 15">
            <a:extLst>
              <a:ext uri="{FF2B5EF4-FFF2-40B4-BE49-F238E27FC236}">
                <a16:creationId xmlns:a16="http://schemas.microsoft.com/office/drawing/2014/main" id="{C0C48879-B031-8E64-0827-891FFA5CC86B}"/>
              </a:ext>
            </a:extLst>
          </p:cNvPr>
          <p:cNvSpPr txBox="1"/>
          <p:nvPr/>
        </p:nvSpPr>
        <p:spPr>
          <a:xfrm>
            <a:off x="9417362" y="6610121"/>
            <a:ext cx="211759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Selvas Group Treasury Committee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17861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2230</TotalTime>
  <Words>5291</Words>
  <Application>Microsoft Office PowerPoint</Application>
  <PresentationFormat>와이드스크린</PresentationFormat>
  <Paragraphs>1085</Paragraphs>
  <Slides>21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31" baseType="lpstr">
      <vt:lpstr>Noto Sans KR</vt:lpstr>
      <vt:lpstr>Pretendard Medium</vt:lpstr>
      <vt:lpstr>ui-monospace</vt:lpstr>
      <vt:lpstr>맑은 고딕</vt:lpstr>
      <vt:lpstr>Freesentation 4 Regular</vt:lpstr>
      <vt:lpstr>프리젠테이션 5 Medium</vt:lpstr>
      <vt:lpstr>Freesentation 6 SemiBold</vt:lpstr>
      <vt:lpstr>Freesentation 7 Bold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외화자금 보유 비중 추이</vt:lpstr>
      <vt:lpstr>자산 구성 – 환율 – 기준금리 추이</vt:lpstr>
      <vt:lpstr>외화 자산 비중별 리스크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외화 자산 운용 전략안</vt:lpstr>
      <vt:lpstr>외화 자산 운영 구조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Matthew Yeansoo Jeong</cp:lastModifiedBy>
  <cp:revision>22</cp:revision>
  <cp:lastPrinted>2026-01-28T23:48:36Z</cp:lastPrinted>
  <dcterms:created xsi:type="dcterms:W3CDTF">2026-01-27T01:47:16Z</dcterms:created>
  <dcterms:modified xsi:type="dcterms:W3CDTF">2026-01-30T05:52:17Z</dcterms:modified>
</cp:coreProperties>
</file>